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comments/modernComment_105_0.xml" ContentType="application/vnd.ms-powerpoint.comments+xml"/>
  <Override PartName="/ppt/notesSlides/notesSlide7.xml" ContentType="application/vnd.openxmlformats-officedocument.presentationml.notesSlide+xml"/>
  <Override PartName="/ppt/comments/modernComment_106_0.xml" ContentType="application/vnd.ms-powerpoint.comments+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comments/modernComment_108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129BC2-92AC-BCAD-C16B-B750529E6C13}" name="Henry El-Jawhari" initials="HEJ" userId="S::henry.el-jawhari@pairfinance.com::026c65cc-3dbb-4746-b65d-cc1798b9588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97"/>
    <p:restoredTop sz="94610"/>
  </p:normalViewPr>
  <p:slideViewPr>
    <p:cSldViewPr snapToGrid="0" snapToObjects="1">
      <p:cViewPr varScale="1">
        <p:scale>
          <a:sx n="167" d="100"/>
          <a:sy n="167" d="100"/>
        </p:scale>
        <p:origin x="168"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stacked"/>
        <c:varyColors val="0"/>
        <c:ser>
          <c:idx val="0"/>
          <c:order val="0"/>
          <c:tx>
            <c:strRef>
              <c:f>Sheet1!$B$1</c:f>
              <c:strCache>
                <c:ptCount val="1"/>
                <c:pt idx="0">
                  <c:v>Fully correct</c:v>
                </c:pt>
              </c:strCache>
            </c:strRef>
          </c:tx>
          <c:spPr>
            <a:solidFill>
              <a:srgbClr val="127475"/>
            </a:solidFill>
            <a:effectLst/>
          </c:spPr>
          <c:invertIfNegative val="0"/>
          <c:dLbls>
            <c:numFmt formatCode="0;;" sourceLinked="0"/>
            <c:spPr>
              <a:noFill/>
              <a:ln>
                <a:noFill/>
              </a:ln>
              <a:effectLst/>
            </c:spPr>
            <c:txPr>
              <a:bodyPr/>
              <a:lstStyle/>
              <a:p>
                <a:pPr>
                  <a:defRPr sz="900" b="1" i="0" u="none" strike="noStrike">
                    <a:solidFill>
                      <a:srgbClr val="FFFFFF"/>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 5.2</c:v>
                </c:pt>
                <c:pt idx="1">
                  <c:v>Claude Opus 4.6</c:v>
                </c:pt>
                <c:pt idx="2">
                  <c:v>Gemini 3 Pro</c:v>
                </c:pt>
              </c:strCache>
            </c:strRef>
          </c:cat>
          <c:val>
            <c:numRef>
              <c:f>Sheet1!$B$2:$B$4</c:f>
              <c:numCache>
                <c:formatCode>General</c:formatCode>
                <c:ptCount val="3"/>
                <c:pt idx="0">
                  <c:v>28</c:v>
                </c:pt>
                <c:pt idx="1">
                  <c:v>26</c:v>
                </c:pt>
                <c:pt idx="2">
                  <c:v>23</c:v>
                </c:pt>
              </c:numCache>
            </c:numRef>
          </c:val>
          <c:extLst>
            <c:ext xmlns:c16="http://schemas.microsoft.com/office/drawing/2014/chart" uri="{C3380CC4-5D6E-409C-BE32-E72D297353CC}">
              <c16:uniqueId val="{00000000-D59D-3547-BAFC-279A32DAF161}"/>
            </c:ext>
          </c:extLst>
        </c:ser>
        <c:ser>
          <c:idx val="1"/>
          <c:order val="1"/>
          <c:tx>
            <c:strRef>
              <c:f>Sheet1!$C$1</c:f>
              <c:strCache>
                <c:ptCount val="1"/>
                <c:pt idx="0">
                  <c:v>Partially correct</c:v>
                </c:pt>
              </c:strCache>
            </c:strRef>
          </c:tx>
          <c:spPr>
            <a:solidFill>
              <a:srgbClr val="E9B44C"/>
            </a:solidFill>
            <a:effectLst/>
          </c:spPr>
          <c:invertIfNegative val="0"/>
          <c:dLbls>
            <c:numFmt formatCode="0;;" sourceLinked="0"/>
            <c:spPr>
              <a:noFill/>
              <a:ln>
                <a:noFill/>
              </a:ln>
              <a:effectLst/>
            </c:spPr>
            <c:txPr>
              <a:bodyPr/>
              <a:lstStyle/>
              <a:p>
                <a:pPr>
                  <a:defRPr sz="900" b="1" i="0" u="none" strike="noStrike">
                    <a:solidFill>
                      <a:srgbClr val="FFFFFF"/>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 5.2</c:v>
                </c:pt>
                <c:pt idx="1">
                  <c:v>Claude Opus 4.6</c:v>
                </c:pt>
                <c:pt idx="2">
                  <c:v>Gemini 3 Pro</c:v>
                </c:pt>
              </c:strCache>
            </c:strRef>
          </c:cat>
          <c:val>
            <c:numRef>
              <c:f>Sheet1!$C$2:$C$4</c:f>
              <c:numCache>
                <c:formatCode>General</c:formatCode>
                <c:ptCount val="3"/>
                <c:pt idx="0">
                  <c:v>8</c:v>
                </c:pt>
                <c:pt idx="1">
                  <c:v>8</c:v>
                </c:pt>
                <c:pt idx="2">
                  <c:v>12</c:v>
                </c:pt>
              </c:numCache>
            </c:numRef>
          </c:val>
          <c:extLst>
            <c:ext xmlns:c16="http://schemas.microsoft.com/office/drawing/2014/chart" uri="{C3380CC4-5D6E-409C-BE32-E72D297353CC}">
              <c16:uniqueId val="{00000001-D59D-3547-BAFC-279A32DAF161}"/>
            </c:ext>
          </c:extLst>
        </c:ser>
        <c:ser>
          <c:idx val="2"/>
          <c:order val="2"/>
          <c:tx>
            <c:strRef>
              <c:f>Sheet1!$D$1</c:f>
              <c:strCache>
                <c:ptCount val="1"/>
                <c:pt idx="0">
                  <c:v>Incorrect</c:v>
                </c:pt>
              </c:strCache>
            </c:strRef>
          </c:tx>
          <c:spPr>
            <a:solidFill>
              <a:srgbClr val="E07A5F"/>
            </a:solidFill>
            <a:effectLst/>
          </c:spPr>
          <c:invertIfNegative val="0"/>
          <c:dLbls>
            <c:numFmt formatCode="0;;" sourceLinked="0"/>
            <c:spPr>
              <a:noFill/>
              <a:ln>
                <a:noFill/>
              </a:ln>
              <a:effectLst/>
            </c:spPr>
            <c:txPr>
              <a:bodyPr/>
              <a:lstStyle/>
              <a:p>
                <a:pPr>
                  <a:defRPr sz="900" b="1" i="0" u="none" strike="noStrike">
                    <a:solidFill>
                      <a:srgbClr val="FFFFFF"/>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 5.2</c:v>
                </c:pt>
                <c:pt idx="1">
                  <c:v>Claude Opus 4.6</c:v>
                </c:pt>
                <c:pt idx="2">
                  <c:v>Gemini 3 Pro</c:v>
                </c:pt>
              </c:strCache>
            </c:strRef>
          </c:cat>
          <c:val>
            <c:numRef>
              <c:f>Sheet1!$D$2:$D$4</c:f>
              <c:numCache>
                <c:formatCode>General</c:formatCode>
                <c:ptCount val="3"/>
                <c:pt idx="0">
                  <c:v>0</c:v>
                </c:pt>
                <c:pt idx="1">
                  <c:v>2</c:v>
                </c:pt>
                <c:pt idx="2">
                  <c:v>1</c:v>
                </c:pt>
              </c:numCache>
            </c:numRef>
          </c:val>
          <c:extLst>
            <c:ext xmlns:c16="http://schemas.microsoft.com/office/drawing/2014/chart" uri="{C3380CC4-5D6E-409C-BE32-E72D297353CC}">
              <c16:uniqueId val="{00000002-D59D-3547-BAFC-279A32DAF161}"/>
            </c:ext>
          </c:extLst>
        </c:ser>
        <c:dLbls>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86B"/>
                </a:solidFill>
                <a:latin typeface="Arial"/>
              </a:defRPr>
            </a:pPr>
            <a:endParaRPr lang="en-US"/>
          </a:p>
        </c:txPr>
        <c:crossAx val="2094734552"/>
        <c:crosses val="autoZero"/>
        <c:auto val="1"/>
        <c:lblAlgn val="ctr"/>
        <c:lblOffset val="100"/>
        <c:noMultiLvlLbl val="1"/>
      </c:catAx>
      <c:valAx>
        <c:axId val="2094734552"/>
        <c:scaling>
          <c:orientation val="minMax"/>
          <c:max val="36"/>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86B"/>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ChatGPT 5.2</c:v>
                </c:pt>
              </c:strCache>
            </c:strRef>
          </c:tx>
          <c:spPr>
            <a:solidFill>
              <a:srgbClr val="127475"/>
            </a:solidFill>
            <a:effectLst/>
          </c:spPr>
          <c:invertIfNegative val="0"/>
          <c:dLbls>
            <c:numFmt formatCode="0.00" sourceLinked="0"/>
            <c:spPr>
              <a:noFill/>
              <a:ln>
                <a:noFill/>
              </a:ln>
              <a:effectLst/>
            </c:spPr>
            <c:txPr>
              <a:bodyPr/>
              <a:lstStyle/>
              <a:p>
                <a:pPr>
                  <a:defRPr sz="75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Completeness</c:v>
                </c:pt>
                <c:pt idx="2">
                  <c:v>Faithfulness</c:v>
                </c:pt>
                <c:pt idx="3">
                  <c:v>ACF score</c:v>
                </c:pt>
              </c:strCache>
            </c:strRef>
          </c:cat>
          <c:val>
            <c:numRef>
              <c:f>Sheet1!$B$2:$B$5</c:f>
              <c:numCache>
                <c:formatCode>General</c:formatCode>
                <c:ptCount val="4"/>
                <c:pt idx="0">
                  <c:v>0.88900000000000001</c:v>
                </c:pt>
                <c:pt idx="1">
                  <c:v>0.66</c:v>
                </c:pt>
                <c:pt idx="2">
                  <c:v>0.61099999999999999</c:v>
                </c:pt>
                <c:pt idx="3">
                  <c:v>0.72</c:v>
                </c:pt>
              </c:numCache>
            </c:numRef>
          </c:val>
          <c:extLst>
            <c:ext xmlns:c16="http://schemas.microsoft.com/office/drawing/2014/chart" uri="{C3380CC4-5D6E-409C-BE32-E72D297353CC}">
              <c16:uniqueId val="{00000000-CC12-654B-872B-C369143D089A}"/>
            </c:ext>
          </c:extLst>
        </c:ser>
        <c:ser>
          <c:idx val="1"/>
          <c:order val="1"/>
          <c:tx>
            <c:strRef>
              <c:f>Sheet1!$C$1</c:f>
              <c:strCache>
                <c:ptCount val="1"/>
                <c:pt idx="0">
                  <c:v>Claude Opus 4.6</c:v>
                </c:pt>
              </c:strCache>
            </c:strRef>
          </c:tx>
          <c:spPr>
            <a:solidFill>
              <a:srgbClr val="E07A5F"/>
            </a:solidFill>
            <a:effectLst/>
          </c:spPr>
          <c:invertIfNegative val="0"/>
          <c:dLbls>
            <c:numFmt formatCode="0.00" sourceLinked="0"/>
            <c:spPr>
              <a:noFill/>
              <a:ln>
                <a:noFill/>
              </a:ln>
              <a:effectLst/>
            </c:spPr>
            <c:txPr>
              <a:bodyPr/>
              <a:lstStyle/>
              <a:p>
                <a:pPr>
                  <a:defRPr sz="75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Completeness</c:v>
                </c:pt>
                <c:pt idx="2">
                  <c:v>Faithfulness</c:v>
                </c:pt>
                <c:pt idx="3">
                  <c:v>ACF score</c:v>
                </c:pt>
              </c:strCache>
            </c:strRef>
          </c:cat>
          <c:val>
            <c:numRef>
              <c:f>Sheet1!$C$2:$C$5</c:f>
              <c:numCache>
                <c:formatCode>General</c:formatCode>
                <c:ptCount val="4"/>
                <c:pt idx="0">
                  <c:v>0.83299999999999996</c:v>
                </c:pt>
                <c:pt idx="1">
                  <c:v>0.69399999999999995</c:v>
                </c:pt>
                <c:pt idx="2">
                  <c:v>0.59299999999999997</c:v>
                </c:pt>
                <c:pt idx="3">
                  <c:v>0.70599999999999996</c:v>
                </c:pt>
              </c:numCache>
            </c:numRef>
          </c:val>
          <c:extLst>
            <c:ext xmlns:c16="http://schemas.microsoft.com/office/drawing/2014/chart" uri="{C3380CC4-5D6E-409C-BE32-E72D297353CC}">
              <c16:uniqueId val="{00000001-CC12-654B-872B-C369143D089A}"/>
            </c:ext>
          </c:extLst>
        </c:ser>
        <c:ser>
          <c:idx val="2"/>
          <c:order val="2"/>
          <c:tx>
            <c:strRef>
              <c:f>Sheet1!$D$1</c:f>
              <c:strCache>
                <c:ptCount val="1"/>
                <c:pt idx="0">
                  <c:v>Gemini 3 Pro</c:v>
                </c:pt>
              </c:strCache>
            </c:strRef>
          </c:tx>
          <c:spPr>
            <a:solidFill>
              <a:srgbClr val="3D5A80"/>
            </a:solidFill>
            <a:effectLst/>
          </c:spPr>
          <c:invertIfNegative val="0"/>
          <c:dLbls>
            <c:numFmt formatCode="0.00" sourceLinked="0"/>
            <c:spPr>
              <a:noFill/>
              <a:ln>
                <a:noFill/>
              </a:ln>
              <a:effectLst/>
            </c:spPr>
            <c:txPr>
              <a:bodyPr/>
              <a:lstStyle/>
              <a:p>
                <a:pPr>
                  <a:defRPr sz="75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Completeness</c:v>
                </c:pt>
                <c:pt idx="2">
                  <c:v>Faithfulness</c:v>
                </c:pt>
                <c:pt idx="3">
                  <c:v>ACF score</c:v>
                </c:pt>
              </c:strCache>
            </c:strRef>
          </c:cat>
          <c:val>
            <c:numRef>
              <c:f>Sheet1!$D$2:$D$5</c:f>
              <c:numCache>
                <c:formatCode>General</c:formatCode>
                <c:ptCount val="4"/>
                <c:pt idx="0">
                  <c:v>0.80600000000000005</c:v>
                </c:pt>
                <c:pt idx="1">
                  <c:v>0.63800000000000001</c:v>
                </c:pt>
                <c:pt idx="2">
                  <c:v>0.58599999999999997</c:v>
                </c:pt>
                <c:pt idx="3">
                  <c:v>0.67600000000000005</c:v>
                </c:pt>
              </c:numCache>
            </c:numRef>
          </c:val>
          <c:extLst>
            <c:ext xmlns:c16="http://schemas.microsoft.com/office/drawing/2014/chart" uri="{C3380CC4-5D6E-409C-BE32-E72D297353CC}">
              <c16:uniqueId val="{00000002-CC12-654B-872B-C369143D089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86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86B"/>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ChatGPT 5.2</c:v>
                </c:pt>
              </c:strCache>
            </c:strRef>
          </c:tx>
          <c:spPr>
            <a:solidFill>
              <a:srgbClr val="127475"/>
            </a:solidFill>
            <a:effectLst/>
          </c:spPr>
          <c:invertIfNegative val="0"/>
          <c:cat>
            <c:strRef>
              <c:f>Sheet1!$A$2:$A$5</c:f>
              <c:strCache>
                <c:ptCount val="4"/>
                <c:pt idx="0">
                  <c:v>Flesch–Kincaid</c:v>
                </c:pt>
                <c:pt idx="1">
                  <c:v>SMOG</c:v>
                </c:pt>
                <c:pt idx="2">
                  <c:v>Coleman–Liau</c:v>
                </c:pt>
                <c:pt idx="3">
                  <c:v>Dale–Chall</c:v>
                </c:pt>
              </c:strCache>
            </c:strRef>
          </c:cat>
          <c:val>
            <c:numRef>
              <c:f>Sheet1!$B$2:$B$5</c:f>
              <c:numCache>
                <c:formatCode>General</c:formatCode>
                <c:ptCount val="4"/>
                <c:pt idx="0">
                  <c:v>14.74</c:v>
                </c:pt>
                <c:pt idx="1">
                  <c:v>15.3</c:v>
                </c:pt>
                <c:pt idx="2">
                  <c:v>16.100000000000001</c:v>
                </c:pt>
                <c:pt idx="3">
                  <c:v>13.05</c:v>
                </c:pt>
              </c:numCache>
            </c:numRef>
          </c:val>
          <c:extLst>
            <c:ext xmlns:c16="http://schemas.microsoft.com/office/drawing/2014/chart" uri="{C3380CC4-5D6E-409C-BE32-E72D297353CC}">
              <c16:uniqueId val="{00000000-5A4B-8341-AA30-1731A5A60BFB}"/>
            </c:ext>
          </c:extLst>
        </c:ser>
        <c:ser>
          <c:idx val="1"/>
          <c:order val="1"/>
          <c:tx>
            <c:strRef>
              <c:f>Sheet1!$C$1</c:f>
              <c:strCache>
                <c:ptCount val="1"/>
                <c:pt idx="0">
                  <c:v>Claude Opus 4.6</c:v>
                </c:pt>
              </c:strCache>
            </c:strRef>
          </c:tx>
          <c:spPr>
            <a:solidFill>
              <a:srgbClr val="E07A5F"/>
            </a:solidFill>
            <a:effectLst/>
          </c:spPr>
          <c:invertIfNegative val="0"/>
          <c:cat>
            <c:strRef>
              <c:f>Sheet1!$A$2:$A$5</c:f>
              <c:strCache>
                <c:ptCount val="4"/>
                <c:pt idx="0">
                  <c:v>Flesch–Kincaid</c:v>
                </c:pt>
                <c:pt idx="1">
                  <c:v>SMOG</c:v>
                </c:pt>
                <c:pt idx="2">
                  <c:v>Coleman–Liau</c:v>
                </c:pt>
                <c:pt idx="3">
                  <c:v>Dale–Chall</c:v>
                </c:pt>
              </c:strCache>
            </c:strRef>
          </c:cat>
          <c:val>
            <c:numRef>
              <c:f>Sheet1!$C$2:$C$5</c:f>
              <c:numCache>
                <c:formatCode>General</c:formatCode>
                <c:ptCount val="4"/>
                <c:pt idx="0">
                  <c:v>18.010000000000002</c:v>
                </c:pt>
                <c:pt idx="1">
                  <c:v>17.61</c:v>
                </c:pt>
                <c:pt idx="2">
                  <c:v>17.59</c:v>
                </c:pt>
                <c:pt idx="3">
                  <c:v>13.65</c:v>
                </c:pt>
              </c:numCache>
            </c:numRef>
          </c:val>
          <c:extLst>
            <c:ext xmlns:c16="http://schemas.microsoft.com/office/drawing/2014/chart" uri="{C3380CC4-5D6E-409C-BE32-E72D297353CC}">
              <c16:uniqueId val="{00000001-5A4B-8341-AA30-1731A5A60BFB}"/>
            </c:ext>
          </c:extLst>
        </c:ser>
        <c:ser>
          <c:idx val="2"/>
          <c:order val="2"/>
          <c:tx>
            <c:strRef>
              <c:f>Sheet1!$D$1</c:f>
              <c:strCache>
                <c:ptCount val="1"/>
                <c:pt idx="0">
                  <c:v>Gemini 3 Pro</c:v>
                </c:pt>
              </c:strCache>
            </c:strRef>
          </c:tx>
          <c:spPr>
            <a:solidFill>
              <a:srgbClr val="3D5A80"/>
            </a:solidFill>
            <a:effectLst/>
          </c:spPr>
          <c:invertIfNegative val="0"/>
          <c:cat>
            <c:strRef>
              <c:f>Sheet1!$A$2:$A$5</c:f>
              <c:strCache>
                <c:ptCount val="4"/>
                <c:pt idx="0">
                  <c:v>Flesch–Kincaid</c:v>
                </c:pt>
                <c:pt idx="1">
                  <c:v>SMOG</c:v>
                </c:pt>
                <c:pt idx="2">
                  <c:v>Coleman–Liau</c:v>
                </c:pt>
                <c:pt idx="3">
                  <c:v>Dale–Chall</c:v>
                </c:pt>
              </c:strCache>
            </c:strRef>
          </c:cat>
          <c:val>
            <c:numRef>
              <c:f>Sheet1!$D$2:$D$5</c:f>
              <c:numCache>
                <c:formatCode>General</c:formatCode>
                <c:ptCount val="4"/>
                <c:pt idx="0">
                  <c:v>13.27</c:v>
                </c:pt>
                <c:pt idx="1">
                  <c:v>13.91</c:v>
                </c:pt>
                <c:pt idx="2">
                  <c:v>15.01</c:v>
                </c:pt>
                <c:pt idx="3">
                  <c:v>12.84</c:v>
                </c:pt>
              </c:numCache>
            </c:numRef>
          </c:val>
          <c:extLst>
            <c:ext xmlns:c16="http://schemas.microsoft.com/office/drawing/2014/chart" uri="{C3380CC4-5D6E-409C-BE32-E72D297353CC}">
              <c16:uniqueId val="{00000002-5A4B-8341-AA30-1731A5A60BFB}"/>
            </c:ext>
          </c:extLst>
        </c:ser>
        <c:ser>
          <c:idx val="3"/>
          <c:order val="3"/>
          <c:tx>
            <c:strRef>
              <c:f>Sheet1!$E$1</c:f>
              <c:strCache>
                <c:ptCount val="1"/>
                <c:pt idx="0">
                  <c:v>Human</c:v>
                </c:pt>
              </c:strCache>
            </c:strRef>
          </c:tx>
          <c:spPr>
            <a:solidFill>
              <a:srgbClr val="81B29A"/>
            </a:solidFill>
            <a:effectLst/>
          </c:spPr>
          <c:invertIfNegative val="0"/>
          <c:cat>
            <c:strRef>
              <c:f>Sheet1!$A$2:$A$5</c:f>
              <c:strCache>
                <c:ptCount val="4"/>
                <c:pt idx="0">
                  <c:v>Flesch–Kincaid</c:v>
                </c:pt>
                <c:pt idx="1">
                  <c:v>SMOG</c:v>
                </c:pt>
                <c:pt idx="2">
                  <c:v>Coleman–Liau</c:v>
                </c:pt>
                <c:pt idx="3">
                  <c:v>Dale–Chall</c:v>
                </c:pt>
              </c:strCache>
            </c:strRef>
          </c:cat>
          <c:val>
            <c:numRef>
              <c:f>Sheet1!$E$2:$E$5</c:f>
              <c:numCache>
                <c:formatCode>General</c:formatCode>
                <c:ptCount val="4"/>
                <c:pt idx="0">
                  <c:v>12.22</c:v>
                </c:pt>
                <c:pt idx="1">
                  <c:v>13.73</c:v>
                </c:pt>
                <c:pt idx="2">
                  <c:v>13.84</c:v>
                </c:pt>
                <c:pt idx="3">
                  <c:v>12.79</c:v>
                </c:pt>
              </c:numCache>
            </c:numRef>
          </c:val>
          <c:extLst>
            <c:ext xmlns:c16="http://schemas.microsoft.com/office/drawing/2014/chart" uri="{C3380CC4-5D6E-409C-BE32-E72D297353CC}">
              <c16:uniqueId val="{00000003-5A4B-8341-AA30-1731A5A60BF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5686B"/>
                </a:solidFill>
                <a:latin typeface="Arial"/>
              </a:defRPr>
            </a:pPr>
            <a:endParaRPr lang="en-US"/>
          </a:p>
        </c:txPr>
        <c:crossAx val="2094734552"/>
        <c:crosses val="autoZero"/>
        <c:auto val="1"/>
        <c:lblAlgn val="ctr"/>
        <c:lblOffset val="100"/>
        <c:noMultiLvlLbl val="1"/>
      </c:catAx>
      <c:valAx>
        <c:axId val="2094734552"/>
        <c:scaling>
          <c:orientation val="minMax"/>
          <c:max val="19"/>
          <c:min val="10"/>
        </c:scaling>
        <c:delete val="0"/>
        <c:axPos val="l"/>
        <c:majorGridlines>
          <c:spPr>
            <a:ln w="6350" cap="flat">
              <a:solidFill>
                <a:srgbClr val="E6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A0A3"/>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900">
              <a:solidFill>
                <a:srgbClr val="55686B"/>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Avg ACF</c:v>
                </c:pt>
              </c:strCache>
            </c:strRef>
          </c:tx>
          <c:spPr>
            <a:solidFill>
              <a:srgbClr val="127475"/>
            </a:solidFill>
            <a:effectLst/>
          </c:spPr>
          <c:invertIfNegative val="0"/>
          <c:dLbls>
            <c:numFmt formatCode="0.00" sourceLinked="0"/>
            <c:spPr>
              <a:noFill/>
              <a:ln>
                <a:noFill/>
              </a:ln>
              <a:effectLst/>
            </c:spPr>
            <c:txPr>
              <a:bodyPr/>
              <a:lstStyle/>
              <a:p>
                <a:pPr>
                  <a:defRPr sz="90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Others</c:v>
                </c:pt>
                <c:pt idx="1">
                  <c:v>Data</c:v>
                </c:pt>
                <c:pt idx="2">
                  <c:v>UI</c:v>
                </c:pt>
                <c:pt idx="3">
                  <c:v>Performance</c:v>
                </c:pt>
                <c:pt idx="4">
                  <c:v>How (global)</c:v>
                </c:pt>
                <c:pt idx="5">
                  <c:v>Output</c:v>
                </c:pt>
              </c:strCache>
            </c:strRef>
          </c:cat>
          <c:val>
            <c:numRef>
              <c:f>Sheet1!$B$2:$B$7</c:f>
              <c:numCache>
                <c:formatCode>General</c:formatCode>
                <c:ptCount val="6"/>
                <c:pt idx="0">
                  <c:v>0.76700000000000002</c:v>
                </c:pt>
                <c:pt idx="1">
                  <c:v>0.75900000000000001</c:v>
                </c:pt>
                <c:pt idx="2">
                  <c:v>0.745</c:v>
                </c:pt>
                <c:pt idx="3">
                  <c:v>0.70199999999999996</c:v>
                </c:pt>
                <c:pt idx="4">
                  <c:v>0.69</c:v>
                </c:pt>
                <c:pt idx="5">
                  <c:v>0.63100000000000001</c:v>
                </c:pt>
              </c:numCache>
            </c:numRef>
          </c:val>
          <c:extLst>
            <c:ext xmlns:c16="http://schemas.microsoft.com/office/drawing/2014/chart" uri="{C3380CC4-5D6E-409C-BE32-E72D297353CC}">
              <c16:uniqueId val="{00000000-4D05-674D-AD1C-FDF1DB9CE3D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5686B"/>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00_0.xml><?xml version="1.0" encoding="utf-8"?>
<p188:cmLst xmlns:a="http://schemas.openxmlformats.org/drawingml/2006/main" xmlns:r="http://schemas.openxmlformats.org/officeDocument/2006/relationships" xmlns:p188="http://schemas.microsoft.com/office/powerpoint/2018/8/main">
  <p188:cm id="{793E07D7-7DA5-D74A-987E-A1CAE9507CCC}" authorId="{0D129BC2-92AC-BCAD-C16B-B750529E6C13}" created="2026-06-09T20:54:49.665">
    <pc:sldMkLst xmlns:pc="http://schemas.microsoft.com/office/powerpoint/2013/main/command">
      <pc:docMk/>
      <pc:sldMk cId="0" sldId="256"/>
    </pc:sldMkLst>
    <p188:replyLst>
      <p188:reply id="{4A1E5AA1-CE1B-5140-A2DC-E81D455CA306}" authorId="{0D129BC2-92AC-BCAD-C16B-B750529E6C13}" created="2026-06-09T20:55:00.132">
        <p188:txBody>
          <a:bodyPr/>
          <a:lstStyle/>
          <a:p>
            <a:r>
              <a:rPr lang="en-DE"/>
              <a:t>Add agenda slide below</a:t>
            </a:r>
          </a:p>
        </p188:txBody>
      </p188:reply>
    </p188:replyLst>
    <p188:txBody>
      <a:bodyPr/>
      <a:lstStyle/>
      <a:p>
        <a:r>
          <a:rPr lang="en-DE"/>
          <a:t>Introduce yourself, thesis defence</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652A8F93-AC96-5D41-B207-AE8D88880AFA}" authorId="{0D129BC2-92AC-BCAD-C16B-B750529E6C13}" created="2026-06-09T20:55:13.779">
    <pc:sldMkLst xmlns:pc="http://schemas.microsoft.com/office/powerpoint/2013/main/command">
      <pc:docMk/>
      <pc:sldMk cId="0" sldId="257"/>
    </pc:sldMkLst>
    <p188:txBody>
      <a:bodyPr/>
      <a:lstStyle/>
      <a:p>
        <a:r>
          <a:rPr lang="en-DE"/>
          <a:t>Why does explainability matter?</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8748E27F-141F-9843-BBF3-AD8ADB7864DF}" authorId="{0D129BC2-92AC-BCAD-C16B-B750529E6C13}" created="2026-06-09T20:56:02.607">
    <ac:deMkLst xmlns:ac="http://schemas.microsoft.com/office/drawing/2013/main/command">
      <pc:docMk xmlns:pc="http://schemas.microsoft.com/office/powerpoint/2013/main/command"/>
      <pc:sldMk xmlns:pc="http://schemas.microsoft.com/office/powerpoint/2013/main/command" cId="0" sldId="260"/>
      <ac:spMk id="16" creationId="{00000000-0000-0000-0000-000000000000}"/>
    </ac:deMkLst>
    <p188:txBody>
      <a:bodyPr/>
      <a:lstStyle/>
      <a:p>
        <a:r>
          <a:rPr lang="en-DE"/>
          <a:t>Repetitive. Already stated some of this above</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60DA8C0F-DF93-1F4E-8372-F3599A6E7F40}" authorId="{0D129BC2-92AC-BCAD-C16B-B750529E6C13}" created="2026-06-09T21:00:44.702">
    <pc:sldMkLst xmlns:pc="http://schemas.microsoft.com/office/powerpoint/2013/main/command">
      <pc:docMk/>
      <pc:sldMk cId="0" sldId="261"/>
    </pc:sldMkLst>
    <p188:replyLst>
      <p188:reply id="{3052A315-B297-0644-9BEC-CF830DEA9934}" authorId="{0D129BC2-92AC-BCAD-C16B-B750529E6C13}" created="2026-06-09T21:13:09.211">
        <p188:txBody>
          <a:bodyPr/>
          <a:lstStyle/>
          <a:p>
            <a:r>
              <a:rPr lang="en-DE"/>
              <a:t>A bit redundant</a:t>
            </a:r>
          </a:p>
        </p188:txBody>
      </p188:reply>
    </p188:replyLst>
    <p188:txBody>
      <a:bodyPr/>
      <a:lstStyle/>
      <a:p>
        <a:r>
          <a:rPr lang="en-DE"/>
          <a:t>Move this to be with explainability?</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0D1732DE-49C5-B941-B43F-D40A8C18D13B}" authorId="{0D129BC2-92AC-BCAD-C16B-B750529E6C13}" created="2026-06-09T21:06:27.132">
    <pc:sldMkLst xmlns:pc="http://schemas.microsoft.com/office/powerpoint/2013/main/command">
      <pc:docMk/>
      <pc:sldMk cId="0" sldId="262"/>
    </pc:sldMkLst>
    <p188:replyLst>
      <p188:reply id="{232B2AFA-448D-D048-B7D3-B429552BA404}" authorId="{0D129BC2-92AC-BCAD-C16B-B750529E6C13}" created="2026-06-09T21:25:30.217">
        <p188:txBody>
          <a:bodyPr/>
          <a:lstStyle/>
          <a:p>
            <a:r>
              <a:rPr lang="en-DE"/>
              <a:t>Explain how and why we filtered questions...</a:t>
            </a:r>
          </a:p>
        </p188:txBody>
      </p188:reply>
    </p188:replyLst>
    <p188:txBody>
      <a:bodyPr/>
      <a:lstStyle/>
      <a:p>
        <a:r>
          <a:rPr lang="en-DE"/>
          <a:t>XAIQB use of HCAI and XAI</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EB28DC33-95D5-3544-995A-9FBD6D35D1F2}" authorId="{0D129BC2-92AC-BCAD-C16B-B750529E6C13}" created="2026-06-09T21:09:55.219">
    <pc:sldMkLst xmlns:pc="http://schemas.microsoft.com/office/powerpoint/2013/main/command">
      <pc:docMk/>
      <pc:sldMk cId="0" sldId="263"/>
    </pc:sldMkLst>
    <p188:txBody>
      <a:bodyPr/>
      <a:lstStyle/>
      <a:p>
        <a:r>
          <a:rPr lang="en-DE"/>
          <a:t>Explain each step (e.g where the data cones from...)</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792A6DD5-8E8C-084F-B88A-72465B2DB5EE}" authorId="{0D129BC2-92AC-BCAD-C16B-B750529E6C13}" created="2026-06-09T21:24:02.525">
    <pc:sldMkLst xmlns:pc="http://schemas.microsoft.com/office/powerpoint/2013/main/command">
      <pc:docMk/>
      <pc:sldMk cId="0" sldId="264"/>
    </pc:sldMkLst>
    <p188:txBody>
      <a:bodyPr/>
      <a:lstStyle/>
      <a:p>
        <a:r>
          <a:rPr lang="en-DE"/>
          <a:t>Link to XAIQB more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430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title. One-line hook: can large language models reliably explain an AI system to non-experts, and how would we measure that? This thesis builds an evaluation framework to answer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stakes. AI decisions are frequent, consequential and opaque. In high-risk domains and under new regulation, we need explanations. XAI is the field that provides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are attractive explanatory agents. But existing work either constrains them to templates or evaluates only subjective satisfaction. There is no agreed, rigorous way to measure explanation quality. That is the gap this thesis targets.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research goal as a question. The proposed answer has three moving parts: the ACF composite metric, readability benchmarking against human answers, and using the extended XAI Question Bank as the evaluation schema covering the entire AI system.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contributions quickly. Emphasise that together they form a framework transferable across LLMs, AI systems, domains and use-cases — not a one-off study.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grounding. HC-AI keeps humans in control; XAI opens the black box. Note the accuracy–explainability trade-off, and the three technique families — the AI system in this work uses post-hoc methods on a black-box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XAI-QB is the backbone of the evaluation. Explain the primary question types and the nine needs categories spanning data, output, performance, model behaviour and UI. The UI category and several questions come from the extensions used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data feeds a four-part AI system; its full source code is given to the LLMs via a JSON instructional template; human and LLM answers to the same questions are then evaluated. The dashed arrow is the iterative fine-tuning of the template.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system has four documented components feeding into one another. The data is a real public-health dataset on H1N1 vaccine uptake. Only H1N1 was modelled (seasonal features dropped to avoid leakage).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spanning complexity were tuned and compared on ROC-AUC. The tuned XGBoost won and was exported for explanation. Note this is a deliberately simplified selection process — real clinical deployment needs more rigorous validation.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artefacts the LLMs see. All are global, post-hoc explanations of the black-box XGBoost. The most important features identified here are what populate the What-If dashboard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the UI category in action. Users change the six most important features and a decision threshold, then see updated predictions with SHAP and ceteris-paribus explanations. This is what the UI questions in the XAI-QB probe.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forces a structured, repeatable output and makes evaluation tractable. The persona primes clinically relevant language; instructions ban heavy maths/code. The template went through three iterations.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of the study: three frontier models, 36 global questions, three runs each = 324 answers. Each run used a fresh instance to test output stability without conversational carry-over. Local prediction-level questions were out of scope.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metric. Accuracy is manual (0/0.5/1) against human answers. Completeness checks whether atomised information units appear, blending exact-match ROUGE-L with semantic BERTScore. Faithfulness is SBERT sentence similarity. Equal weights give the ACF score. Readability is the separate fourth axis.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strong across the board. ChatGPT leads at 88.9%, then Claude and Gemini. Out of 324 answers only three were incorrect — and crucially those were misinterpretations or missed code sections, not fabricated facts. That matters for high-stakes use.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score in a tight band on the composite ACF. The story is specialisation: ChatGPT is most accurate and faithful and wins overall; Claude is the most complete; Gemini matches on semantic similarity and is the most concise. Model choice can therefore follow the communication need.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Readability is a grade level — lower is easier. Humans are the most readable. Gemini comes closest and is the easiest LLM; ChatGPT is the most consistent; Claude is hardest and most verbose (about three times as many difficult words as Gemini). The goal is to match the human baseline, not minimise.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ACF score doubles as a diagnostic. Concrete categories (Data, Others, UI) score highest; the open-ended Output category lowest. The lowest question — ‘how does it weigh features’ — is ambiguous, so the LLMs answered a different, valid question. That flags questions and unclear system design to refine.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Synthesise the benchmarking. ChatGPT is the balanced choice for high-stakes use. Claude trades readability for completeness and depth — good for technical readers. Gemini trades accuracy for accessibility — good for quick summaries. One caveat: Claude’s completeness may be partly inflated by verbosity.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safety point — readable wrong answers are the real risk, so the metrics must work together with human oversight. Then be candid about limitations (single domain, one human reference, verbosity bias) and map each to concrete future work, including LLM-as-a-judge to scale accuracy scoring.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headline averages — ACF of 0.70 with accuracy above 0.84. Three takeaways: strong despite a hard, subjective task; model strengths are distinct so choice should follow the use-case; and the framework feeds back into refining both the questions and the AI system.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examiners and open the floor. Have the backup slides ready for the likely questions on metric weighting, verbosity bias, reproducibility, and generalisation.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detail. Note the inverse pattern: Claude tops ROUGE-L (exact terms) while Gemini tops BERTScore (semantic), and Claude’s verbosity — about 91 words and 24 difficult words per answer — helps it capture information units but hurts readability.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on readability: four complementary formulas, each capturing structural and lexical complexity differently, all on a grade-level scale. Using four guards against any single formula’s quirks — e.g. SMOG and Flesch-Kincaid inflated Claude’s longest answers.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illustration of how the ACF score functions as a feedback signal. The human meant the model’s internal split mechanics; the LLM described feature importance. Both are reasonable, so the low score reflects an ambiguous question, not a model failure.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18/10/relationships/comments" Target="../comments/modernComment_104_0.xml"/><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18/10/relationships/comments" Target="../comments/modernComment_105_0.xml"/><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microsoft.com/office/2018/10/relationships/comments" Target="../comments/modernComment_108_0.xml"/><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8.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7040880" y="-1463040"/>
            <a:ext cx="3840480" cy="3840480"/>
          </a:xfrm>
          <a:prstGeom prst="ellipse">
            <a:avLst/>
          </a:prstGeom>
          <a:solidFill>
            <a:srgbClr val="127475">
              <a:alpha val="22000"/>
            </a:srgbClr>
          </a:solidFill>
          <a:ln/>
        </p:spPr>
        <p:txBody>
          <a:bodyPr/>
          <a:lstStyle/>
          <a:p>
            <a:endParaRPr lang="en-DE"/>
          </a:p>
        </p:txBody>
      </p:sp>
      <p:sp>
        <p:nvSpPr>
          <p:cNvPr id="3" name="Shape 1"/>
          <p:cNvSpPr/>
          <p:nvPr/>
        </p:nvSpPr>
        <p:spPr>
          <a:xfrm>
            <a:off x="8138160" y="3108960"/>
            <a:ext cx="2743200" cy="2743200"/>
          </a:xfrm>
          <a:prstGeom prst="ellipse">
            <a:avLst/>
          </a:prstGeom>
          <a:solidFill>
            <a:srgbClr val="3E9D9B">
              <a:alpha val="18000"/>
            </a:srgbClr>
          </a:solidFill>
          <a:ln/>
        </p:spPr>
        <p:txBody>
          <a:bodyPr/>
          <a:lstStyle/>
          <a:p>
            <a:endParaRPr lang="en-DE"/>
          </a:p>
        </p:txBody>
      </p:sp>
      <p:sp>
        <p:nvSpPr>
          <p:cNvPr id="4" name="Shape 2"/>
          <p:cNvSpPr/>
          <p:nvPr/>
        </p:nvSpPr>
        <p:spPr>
          <a:xfrm>
            <a:off x="-1097280" y="3566160"/>
            <a:ext cx="2926080" cy="2926080"/>
          </a:xfrm>
          <a:prstGeom prst="ellipse">
            <a:avLst/>
          </a:prstGeom>
          <a:solidFill>
            <a:srgbClr val="127475">
              <a:alpha val="16000"/>
            </a:srgbClr>
          </a:solidFill>
          <a:ln/>
        </p:spPr>
        <p:txBody>
          <a:bodyPr/>
          <a:lstStyle/>
          <a:p>
            <a:endParaRPr lang="en-DE"/>
          </a:p>
        </p:txBody>
      </p:sp>
      <p:sp>
        <p:nvSpPr>
          <p:cNvPr id="5" name="Shape 3"/>
          <p:cNvSpPr/>
          <p:nvPr/>
        </p:nvSpPr>
        <p:spPr>
          <a:xfrm>
            <a:off x="640080" y="566928"/>
            <a:ext cx="713232" cy="713232"/>
          </a:xfrm>
          <a:prstGeom prst="ellipse">
            <a:avLst/>
          </a:prstGeom>
          <a:solidFill>
            <a:srgbClr val="127475"/>
          </a:solidFill>
          <a:ln/>
        </p:spPr>
        <p:txBody>
          <a:bodyPr/>
          <a:lstStyle/>
          <a:p>
            <a:endParaRPr lang="en-DE"/>
          </a:p>
        </p:txBody>
      </p:sp>
      <p:pic>
        <p:nvPicPr>
          <p:cNvPr id="6" name="Image 0" descr="preencoded.png"/>
          <p:cNvPicPr>
            <a:picLocks noChangeAspect="1"/>
          </p:cNvPicPr>
          <p:nvPr/>
        </p:nvPicPr>
        <p:blipFill>
          <a:blip r:embed="rId4"/>
          <a:stretch>
            <a:fillRect/>
          </a:stretch>
        </p:blipFill>
        <p:spPr>
          <a:xfrm>
            <a:off x="825520" y="752368"/>
            <a:ext cx="342351" cy="342351"/>
          </a:xfrm>
          <a:prstGeom prst="rect">
            <a:avLst/>
          </a:prstGeom>
        </p:spPr>
      </p:pic>
      <p:sp>
        <p:nvSpPr>
          <p:cNvPr id="7" name="Text 4"/>
          <p:cNvSpPr/>
          <p:nvPr/>
        </p:nvSpPr>
        <p:spPr>
          <a:xfrm>
            <a:off x="1481328" y="603504"/>
            <a:ext cx="6858000" cy="640080"/>
          </a:xfrm>
          <a:prstGeom prst="rect">
            <a:avLst/>
          </a:prstGeom>
          <a:noFill/>
          <a:ln/>
        </p:spPr>
        <p:txBody>
          <a:bodyPr wrap="square" lIns="0" tIns="0" rIns="0" bIns="0" rtlCol="0" anchor="ctr"/>
          <a:lstStyle/>
          <a:p>
            <a:pPr marL="0" indent="0">
              <a:buNone/>
            </a:pPr>
            <a:r>
              <a:rPr lang="en-US" sz="1300" b="1" kern="0" spc="200" dirty="0">
                <a:solidFill>
                  <a:srgbClr val="9AD1D4"/>
                </a:solidFill>
                <a:latin typeface="Calibri" pitchFamily="34" charset="0"/>
                <a:ea typeface="Calibri" pitchFamily="34" charset="-122"/>
                <a:cs typeface="Calibri" pitchFamily="34" charset="-120"/>
              </a:rPr>
              <a:t>MSc Data Science · Colloquium</a:t>
            </a:r>
            <a:endParaRPr lang="en-US" sz="1300" dirty="0"/>
          </a:p>
        </p:txBody>
      </p:sp>
      <p:sp>
        <p:nvSpPr>
          <p:cNvPr id="8" name="Text 5"/>
          <p:cNvSpPr/>
          <p:nvPr/>
        </p:nvSpPr>
        <p:spPr>
          <a:xfrm>
            <a:off x="640080" y="1481328"/>
            <a:ext cx="7955280" cy="1828800"/>
          </a:xfrm>
          <a:prstGeom prst="rect">
            <a:avLst/>
          </a:prstGeom>
          <a:noFill/>
          <a:ln/>
        </p:spPr>
        <p:txBody>
          <a:bodyPr wrap="square" lIns="0" tIns="0" rIns="0" bIns="0" rtlCol="0" anchor="t"/>
          <a:lstStyle/>
          <a:p>
            <a:pPr marL="0" indent="0">
              <a:lnSpc>
                <a:spcPct val="102000"/>
              </a:lnSpc>
              <a:buNone/>
            </a:pPr>
            <a:r>
              <a:rPr lang="en-US" sz="3100" b="1" dirty="0">
                <a:solidFill>
                  <a:srgbClr val="FFFFFF"/>
                </a:solidFill>
                <a:latin typeface="Cambria" pitchFamily="34" charset="0"/>
                <a:ea typeface="Cambria" pitchFamily="34" charset="-122"/>
                <a:cs typeface="Cambria" pitchFamily="34" charset="-120"/>
              </a:rPr>
              <a:t>Conversational Explanations using</a:t>
            </a:r>
            <a:endParaRPr lang="en-US" sz="3100" dirty="0"/>
          </a:p>
          <a:p>
            <a:pPr marL="0" indent="0">
              <a:lnSpc>
                <a:spcPct val="102000"/>
              </a:lnSpc>
              <a:buNone/>
            </a:pPr>
            <a:r>
              <a:rPr lang="en-US" sz="3100" b="1" dirty="0">
                <a:solidFill>
                  <a:srgbClr val="FFFFFF"/>
                </a:solidFill>
                <a:latin typeface="Cambria" pitchFamily="34" charset="0"/>
                <a:ea typeface="Cambria" pitchFamily="34" charset="-122"/>
                <a:cs typeface="Cambria" pitchFamily="34" charset="-120"/>
              </a:rPr>
              <a:t>Large Language Models on top of the</a:t>
            </a:r>
            <a:endParaRPr lang="en-US" sz="3100" dirty="0"/>
          </a:p>
          <a:p>
            <a:pPr marL="0" indent="0">
              <a:lnSpc>
                <a:spcPct val="102000"/>
              </a:lnSpc>
              <a:buNone/>
            </a:pPr>
            <a:r>
              <a:rPr lang="en-US" sz="3100" b="1" dirty="0">
                <a:solidFill>
                  <a:srgbClr val="FFFFFF"/>
                </a:solidFill>
                <a:latin typeface="Cambria" pitchFamily="34" charset="0"/>
                <a:ea typeface="Cambria" pitchFamily="34" charset="-122"/>
                <a:cs typeface="Cambria" pitchFamily="34" charset="-120"/>
              </a:rPr>
              <a:t>eXplainable AI Question Bank</a:t>
            </a:r>
            <a:endParaRPr lang="en-US" sz="3100" dirty="0"/>
          </a:p>
        </p:txBody>
      </p:sp>
      <p:sp>
        <p:nvSpPr>
          <p:cNvPr id="9" name="Text 6"/>
          <p:cNvSpPr/>
          <p:nvPr/>
        </p:nvSpPr>
        <p:spPr>
          <a:xfrm>
            <a:off x="640080" y="3584448"/>
            <a:ext cx="7863840" cy="365760"/>
          </a:xfrm>
          <a:prstGeom prst="rect">
            <a:avLst/>
          </a:prstGeom>
          <a:noFill/>
          <a:ln/>
        </p:spPr>
        <p:txBody>
          <a:bodyPr wrap="square" lIns="0" tIns="0" rIns="0" bIns="0" rtlCol="0" anchor="ctr"/>
          <a:lstStyle/>
          <a:p>
            <a:pPr marL="0" indent="0">
              <a:buNone/>
            </a:pPr>
            <a:r>
              <a:rPr lang="en-US" sz="1800" b="1" dirty="0">
                <a:solidFill>
                  <a:srgbClr val="E9B44C"/>
                </a:solidFill>
                <a:latin typeface="Calibri" pitchFamily="34" charset="0"/>
                <a:ea typeface="Calibri" pitchFamily="34" charset="-122"/>
                <a:cs typeface="Calibri" pitchFamily="34" charset="-120"/>
              </a:rPr>
              <a:t>Henry El-Jawhari</a:t>
            </a:r>
            <a:endParaRPr lang="en-US" sz="1800" dirty="0"/>
          </a:p>
        </p:txBody>
      </p:sp>
      <p:sp>
        <p:nvSpPr>
          <p:cNvPr id="11" name="Text 8"/>
          <p:cNvSpPr/>
          <p:nvPr/>
        </p:nvSpPr>
        <p:spPr>
          <a:xfrm>
            <a:off x="640080" y="4334256"/>
            <a:ext cx="7863840" cy="292608"/>
          </a:xfrm>
          <a:prstGeom prst="rect">
            <a:avLst/>
          </a:prstGeom>
          <a:noFill/>
          <a:ln/>
        </p:spPr>
        <p:txBody>
          <a:bodyPr wrap="square" lIns="0" tIns="0" rIns="0" bIns="0" rtlCol="0" anchor="ctr"/>
          <a:lstStyle/>
          <a:p>
            <a:pPr marL="0" indent="0">
              <a:buNone/>
            </a:pPr>
            <a:r>
              <a:rPr lang="en-US" sz="1100" dirty="0">
                <a:solidFill>
                  <a:srgbClr val="8AA0A3"/>
                </a:solidFill>
                <a:latin typeface="Calibri" pitchFamily="34" charset="0"/>
                <a:ea typeface="Calibri" pitchFamily="34" charset="-122"/>
                <a:cs typeface="Calibri" pitchFamily="34" charset="-120"/>
              </a:rPr>
              <a:t>Freie Universität Berlin  ·  Center for AI in Public Health Research (ZKI-PH), Robert Koch Institute  ·  February 2026</a:t>
            </a:r>
            <a:endParaRPr lang="en-US" sz="1100" dirty="0"/>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4"/>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Why explainability matters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AI is entering high-stakes domains faster than we can interpret it</a:t>
            </a:r>
            <a:endParaRPr lang="en-US" sz="1250" dirty="0"/>
          </a:p>
        </p:txBody>
      </p:sp>
      <p:sp>
        <p:nvSpPr>
          <p:cNvPr id="6" name="Shape 3"/>
          <p:cNvSpPr/>
          <p:nvPr/>
        </p:nvSpPr>
        <p:spPr>
          <a:xfrm>
            <a:off x="457200" y="1417320"/>
            <a:ext cx="8229600" cy="960120"/>
          </a:xfrm>
          <a:prstGeom prst="roundRect">
            <a:avLst>
              <a:gd name="adj" fmla="val 76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76656" y="1618488"/>
            <a:ext cx="566928" cy="566928"/>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5"/>
          <a:stretch>
            <a:fillRect/>
          </a:stretch>
        </p:blipFill>
        <p:spPr>
          <a:xfrm>
            <a:off x="824057" y="1765889"/>
            <a:ext cx="272125" cy="272125"/>
          </a:xfrm>
          <a:prstGeom prst="rect">
            <a:avLst/>
          </a:prstGeom>
        </p:spPr>
      </p:pic>
      <p:sp>
        <p:nvSpPr>
          <p:cNvPr id="9" name="Text 5"/>
          <p:cNvSpPr/>
          <p:nvPr/>
        </p:nvSpPr>
        <p:spPr>
          <a:xfrm>
            <a:off x="1463040" y="1545336"/>
            <a:ext cx="7040880" cy="329184"/>
          </a:xfrm>
          <a:prstGeom prst="rect">
            <a:avLst/>
          </a:prstGeom>
          <a:noFill/>
          <a:ln/>
        </p:spPr>
        <p:txBody>
          <a:bodyPr wrap="square" lIns="0" tIns="0" rIns="0" bIns="0" rtlCol="0" anchor="ctr"/>
          <a:lstStyle/>
          <a:p>
            <a:pPr marL="0" indent="0">
              <a:buNone/>
            </a:pPr>
            <a:r>
              <a:rPr lang="en-US" sz="1650" b="1" dirty="0">
                <a:solidFill>
                  <a:srgbClr val="0A2E36"/>
                </a:solidFill>
                <a:latin typeface="Cambria" pitchFamily="34" charset="0"/>
                <a:ea typeface="Cambria" pitchFamily="34" charset="-122"/>
                <a:cs typeface="Cambria" pitchFamily="34" charset="-120"/>
              </a:rPr>
              <a:t>Black boxes</a:t>
            </a:r>
            <a:endParaRPr lang="en-US" sz="1650" dirty="0"/>
          </a:p>
        </p:txBody>
      </p:sp>
      <p:sp>
        <p:nvSpPr>
          <p:cNvPr id="10" name="Text 6"/>
          <p:cNvSpPr/>
          <p:nvPr/>
        </p:nvSpPr>
        <p:spPr>
          <a:xfrm>
            <a:off x="1463040" y="1874520"/>
            <a:ext cx="7040880" cy="457200"/>
          </a:xfrm>
          <a:prstGeom prst="rect">
            <a:avLst/>
          </a:prstGeom>
          <a:noFill/>
          <a:ln/>
        </p:spPr>
        <p:txBody>
          <a:bodyPr wrap="square" lIns="0" tIns="0" rIns="0" bIns="0" rtlCol="0" anchor="ctr"/>
          <a:lstStyle/>
          <a:p>
            <a:pPr marL="0" indent="0">
              <a:buNone/>
            </a:pPr>
            <a:r>
              <a:rPr lang="en-US" sz="1250" dirty="0">
                <a:solidFill>
                  <a:srgbClr val="55686B"/>
                </a:solidFill>
                <a:latin typeface="Calibri" pitchFamily="34" charset="0"/>
                <a:ea typeface="Calibri" pitchFamily="34" charset="-122"/>
                <a:cs typeface="Calibri" pitchFamily="34" charset="-120"/>
              </a:rPr>
              <a:t>Decisions are often non-existent or hidden behind proprietary algorithms — yet increasingly frequent and consequential.</a:t>
            </a:r>
            <a:endParaRPr lang="en-US" sz="1250" dirty="0"/>
          </a:p>
        </p:txBody>
      </p:sp>
      <p:sp>
        <p:nvSpPr>
          <p:cNvPr id="11" name="Shape 7"/>
          <p:cNvSpPr/>
          <p:nvPr/>
        </p:nvSpPr>
        <p:spPr>
          <a:xfrm>
            <a:off x="457200" y="2532888"/>
            <a:ext cx="8229600" cy="960120"/>
          </a:xfrm>
          <a:prstGeom prst="roundRect">
            <a:avLst>
              <a:gd name="adj" fmla="val 76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676656" y="2734056"/>
            <a:ext cx="566928" cy="566928"/>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6"/>
          <a:stretch>
            <a:fillRect/>
          </a:stretch>
        </p:blipFill>
        <p:spPr>
          <a:xfrm>
            <a:off x="824057" y="2881457"/>
            <a:ext cx="272125" cy="272125"/>
          </a:xfrm>
          <a:prstGeom prst="rect">
            <a:avLst/>
          </a:prstGeom>
        </p:spPr>
      </p:pic>
      <p:sp>
        <p:nvSpPr>
          <p:cNvPr id="14" name="Text 9"/>
          <p:cNvSpPr/>
          <p:nvPr/>
        </p:nvSpPr>
        <p:spPr>
          <a:xfrm>
            <a:off x="1463040" y="2660904"/>
            <a:ext cx="7040880" cy="329184"/>
          </a:xfrm>
          <a:prstGeom prst="rect">
            <a:avLst/>
          </a:prstGeom>
          <a:noFill/>
          <a:ln/>
        </p:spPr>
        <p:txBody>
          <a:bodyPr wrap="square" lIns="0" tIns="0" rIns="0" bIns="0" rtlCol="0" anchor="ctr"/>
          <a:lstStyle/>
          <a:p>
            <a:pPr marL="0" indent="0">
              <a:buNone/>
            </a:pPr>
            <a:r>
              <a:rPr lang="en-US" sz="1650" b="1" dirty="0">
                <a:solidFill>
                  <a:srgbClr val="0A2E36"/>
                </a:solidFill>
                <a:latin typeface="Cambria" pitchFamily="34" charset="0"/>
                <a:ea typeface="Cambria" pitchFamily="34" charset="-122"/>
                <a:cs typeface="Cambria" pitchFamily="34" charset="-120"/>
              </a:rPr>
              <a:t>High-stakes use</a:t>
            </a:r>
            <a:endParaRPr lang="en-US" sz="1650" dirty="0"/>
          </a:p>
        </p:txBody>
      </p:sp>
      <p:sp>
        <p:nvSpPr>
          <p:cNvPr id="15" name="Text 10"/>
          <p:cNvSpPr/>
          <p:nvPr/>
        </p:nvSpPr>
        <p:spPr>
          <a:xfrm>
            <a:off x="1463040" y="2990088"/>
            <a:ext cx="7040880" cy="457200"/>
          </a:xfrm>
          <a:prstGeom prst="rect">
            <a:avLst/>
          </a:prstGeom>
          <a:noFill/>
          <a:ln/>
        </p:spPr>
        <p:txBody>
          <a:bodyPr wrap="square" lIns="0" tIns="0" rIns="0" bIns="0" rtlCol="0" anchor="ctr"/>
          <a:lstStyle/>
          <a:p>
            <a:pPr marL="0" indent="0">
              <a:buNone/>
            </a:pPr>
            <a:r>
              <a:rPr lang="en-US" sz="1250" dirty="0">
                <a:solidFill>
                  <a:srgbClr val="55686B"/>
                </a:solidFill>
                <a:latin typeface="Calibri" pitchFamily="34" charset="0"/>
                <a:ea typeface="Calibri" pitchFamily="34" charset="-122"/>
                <a:cs typeface="Calibri" pitchFamily="34" charset="-120"/>
              </a:rPr>
              <a:t>Healthcare, justice, and other high-risk domains demand transparency before AI can be trusted and adopted.</a:t>
            </a:r>
            <a:endParaRPr lang="en-US" sz="1250" dirty="0"/>
          </a:p>
        </p:txBody>
      </p:sp>
      <p:sp>
        <p:nvSpPr>
          <p:cNvPr id="16" name="Shape 11"/>
          <p:cNvSpPr/>
          <p:nvPr/>
        </p:nvSpPr>
        <p:spPr>
          <a:xfrm>
            <a:off x="457200" y="3648456"/>
            <a:ext cx="8229600" cy="960120"/>
          </a:xfrm>
          <a:prstGeom prst="roundRect">
            <a:avLst>
              <a:gd name="adj" fmla="val 76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676656" y="3849624"/>
            <a:ext cx="566928" cy="566928"/>
          </a:xfrm>
          <a:prstGeom prst="ellipse">
            <a:avLst/>
          </a:prstGeom>
          <a:solidFill>
            <a:srgbClr val="127475"/>
          </a:solidFill>
          <a:ln/>
        </p:spPr>
        <p:txBody>
          <a:bodyPr/>
          <a:lstStyle/>
          <a:p>
            <a:endParaRPr lang="en-DE"/>
          </a:p>
        </p:txBody>
      </p:sp>
      <p:pic>
        <p:nvPicPr>
          <p:cNvPr id="18" name="Image 3" descr="preencoded.png"/>
          <p:cNvPicPr>
            <a:picLocks noChangeAspect="1"/>
          </p:cNvPicPr>
          <p:nvPr/>
        </p:nvPicPr>
        <p:blipFill>
          <a:blip r:embed="rId7"/>
          <a:stretch>
            <a:fillRect/>
          </a:stretch>
        </p:blipFill>
        <p:spPr>
          <a:xfrm>
            <a:off x="824057" y="3997025"/>
            <a:ext cx="272125" cy="272125"/>
          </a:xfrm>
          <a:prstGeom prst="rect">
            <a:avLst/>
          </a:prstGeom>
        </p:spPr>
      </p:pic>
      <p:sp>
        <p:nvSpPr>
          <p:cNvPr id="19" name="Text 13"/>
          <p:cNvSpPr/>
          <p:nvPr/>
        </p:nvSpPr>
        <p:spPr>
          <a:xfrm>
            <a:off x="1463040" y="3776472"/>
            <a:ext cx="7040880" cy="329184"/>
          </a:xfrm>
          <a:prstGeom prst="rect">
            <a:avLst/>
          </a:prstGeom>
          <a:noFill/>
          <a:ln/>
        </p:spPr>
        <p:txBody>
          <a:bodyPr wrap="square" lIns="0" tIns="0" rIns="0" bIns="0" rtlCol="0" anchor="ctr"/>
          <a:lstStyle/>
          <a:p>
            <a:pPr marL="0" indent="0">
              <a:buNone/>
            </a:pPr>
            <a:r>
              <a:rPr lang="en-US" sz="1650" b="1" dirty="0">
                <a:solidFill>
                  <a:srgbClr val="0A2E36"/>
                </a:solidFill>
                <a:latin typeface="Cambria" pitchFamily="34" charset="0"/>
                <a:ea typeface="Cambria" pitchFamily="34" charset="-122"/>
                <a:cs typeface="Cambria" pitchFamily="34" charset="-120"/>
              </a:rPr>
              <a:t>Regulation</a:t>
            </a:r>
            <a:endParaRPr lang="en-US" sz="1650" dirty="0"/>
          </a:p>
        </p:txBody>
      </p:sp>
      <p:sp>
        <p:nvSpPr>
          <p:cNvPr id="20" name="Text 14"/>
          <p:cNvSpPr/>
          <p:nvPr/>
        </p:nvSpPr>
        <p:spPr>
          <a:xfrm>
            <a:off x="1463040" y="4105656"/>
            <a:ext cx="7040880" cy="457200"/>
          </a:xfrm>
          <a:prstGeom prst="rect">
            <a:avLst/>
          </a:prstGeom>
          <a:noFill/>
          <a:ln/>
        </p:spPr>
        <p:txBody>
          <a:bodyPr wrap="square" lIns="0" tIns="0" rIns="0" bIns="0" rtlCol="0" anchor="ctr"/>
          <a:lstStyle/>
          <a:p>
            <a:pPr marL="0" indent="0">
              <a:buNone/>
            </a:pPr>
            <a:r>
              <a:rPr lang="en-US" sz="1250" dirty="0">
                <a:solidFill>
                  <a:srgbClr val="55686B"/>
                </a:solidFill>
                <a:latin typeface="Calibri" pitchFamily="34" charset="0"/>
                <a:ea typeface="Calibri" pitchFamily="34" charset="-122"/>
                <a:cs typeface="Calibri" pitchFamily="34" charset="-120"/>
              </a:rPr>
              <a:t>The EU AI Act and the GDPR “right to explanation” now require explainability for high-risk systems.</a:t>
            </a:r>
            <a:endParaRPr lang="en-US" sz="1250" dirty="0"/>
          </a:p>
        </p:txBody>
      </p:sp>
      <p:sp>
        <p:nvSpPr>
          <p:cNvPr id="21" name="Text 15"/>
          <p:cNvSpPr/>
          <p:nvPr/>
        </p:nvSpPr>
        <p:spPr>
          <a:xfrm>
            <a:off x="457200" y="4736592"/>
            <a:ext cx="8229600" cy="310896"/>
          </a:xfrm>
          <a:prstGeom prst="rect">
            <a:avLst/>
          </a:prstGeom>
          <a:noFill/>
          <a:ln/>
        </p:spPr>
        <p:txBody>
          <a:bodyPr wrap="square" lIns="0" tIns="0" rIns="0" bIns="0" rtlCol="0" anchor="ctr"/>
          <a:lstStyle/>
          <a:p>
            <a:pPr marL="0" indent="0" algn="ctr">
              <a:buNone/>
            </a:pPr>
            <a:r>
              <a:rPr lang="en-US" sz="1250" b="1" i="1" dirty="0">
                <a:solidFill>
                  <a:srgbClr val="0E5E5C"/>
                </a:solidFill>
                <a:latin typeface="Calibri" pitchFamily="34" charset="0"/>
                <a:ea typeface="Calibri" pitchFamily="34" charset="-122"/>
                <a:cs typeface="Calibri" pitchFamily="34" charset="-120"/>
              </a:rPr>
              <a:t>Trustworthy AI must be transparent, interpretable, and understandable — this is the goal of explainable AI (XAI).</a:t>
            </a:r>
            <a:endParaRPr lang="en-US" sz="1250" dirty="0"/>
          </a:p>
        </p:txBody>
      </p:sp>
      <p:sp>
        <p:nvSpPr>
          <p:cNvPr id="22" name="Text 16"/>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LLMs as conversational explanatory agents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 promising tool — but how good are their explanations, really?</a:t>
            </a:r>
            <a:endParaRPr lang="en-US" sz="1250" dirty="0"/>
          </a:p>
        </p:txBody>
      </p:sp>
      <p:sp>
        <p:nvSpPr>
          <p:cNvPr id="6" name="Shape 3"/>
          <p:cNvSpPr/>
          <p:nvPr/>
        </p:nvSpPr>
        <p:spPr>
          <a:xfrm>
            <a:off x="457200" y="1417320"/>
            <a:ext cx="4023360" cy="3108960"/>
          </a:xfrm>
          <a:prstGeom prst="roundRect">
            <a:avLst>
              <a:gd name="adj" fmla="val 235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76656" y="1627632"/>
            <a:ext cx="548640" cy="548640"/>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819302" y="1770278"/>
            <a:ext cx="263347" cy="263347"/>
          </a:xfrm>
          <a:prstGeom prst="rect">
            <a:avLst/>
          </a:prstGeom>
        </p:spPr>
      </p:pic>
      <p:sp>
        <p:nvSpPr>
          <p:cNvPr id="9" name="Text 5"/>
          <p:cNvSpPr/>
          <p:nvPr/>
        </p:nvSpPr>
        <p:spPr>
          <a:xfrm>
            <a:off x="1335024" y="1664208"/>
            <a:ext cx="2926080" cy="365760"/>
          </a:xfrm>
          <a:prstGeom prst="rect">
            <a:avLst/>
          </a:prstGeom>
          <a:noFill/>
          <a:ln/>
        </p:spPr>
        <p:txBody>
          <a:bodyPr wrap="square" lIns="0" tIns="0" rIns="0" bIns="0" rtlCol="0" anchor="ctr"/>
          <a:lstStyle/>
          <a:p>
            <a:pPr marL="0" indent="0">
              <a:buNone/>
            </a:pPr>
            <a:r>
              <a:rPr lang="en-US" sz="1650" b="1" dirty="0">
                <a:solidFill>
                  <a:srgbClr val="0A2E36"/>
                </a:solidFill>
                <a:latin typeface="Cambria" pitchFamily="34" charset="0"/>
                <a:ea typeface="Cambria" pitchFamily="34" charset="-122"/>
                <a:cs typeface="Cambria" pitchFamily="34" charset="-120"/>
              </a:rPr>
              <a:t>The opportunity</a:t>
            </a:r>
            <a:endParaRPr lang="en-US" sz="1650" dirty="0"/>
          </a:p>
        </p:txBody>
      </p:sp>
      <p:sp>
        <p:nvSpPr>
          <p:cNvPr id="10" name="Text 6"/>
          <p:cNvSpPr/>
          <p:nvPr/>
        </p:nvSpPr>
        <p:spPr>
          <a:xfrm>
            <a:off x="676656" y="2286000"/>
            <a:ext cx="3611880" cy="21488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Turn complex topics into accessible narratives</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Personalised, individualised learning</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Refine the user’s mental models</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Fill in knowledge gaps interactively</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Ask follow-up questions in plain language</a:t>
            </a:r>
            <a:endParaRPr lang="en-US" sz="1300" dirty="0"/>
          </a:p>
        </p:txBody>
      </p:sp>
      <p:sp>
        <p:nvSpPr>
          <p:cNvPr id="11" name="Shape 7"/>
          <p:cNvSpPr/>
          <p:nvPr/>
        </p:nvSpPr>
        <p:spPr>
          <a:xfrm>
            <a:off x="4663440" y="1417320"/>
            <a:ext cx="4023360" cy="3108960"/>
          </a:xfrm>
          <a:prstGeom prst="roundRect">
            <a:avLst>
              <a:gd name="adj" fmla="val 2353"/>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4882896" y="1627632"/>
            <a:ext cx="548640" cy="548640"/>
          </a:xfrm>
          <a:prstGeom prst="ellipse">
            <a:avLst/>
          </a:prstGeom>
          <a:solidFill>
            <a:srgbClr val="E9B44C"/>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5025542" y="1770278"/>
            <a:ext cx="263347" cy="263347"/>
          </a:xfrm>
          <a:prstGeom prst="rect">
            <a:avLst/>
          </a:prstGeom>
        </p:spPr>
      </p:pic>
      <p:sp>
        <p:nvSpPr>
          <p:cNvPr id="14" name="Text 9"/>
          <p:cNvSpPr/>
          <p:nvPr/>
        </p:nvSpPr>
        <p:spPr>
          <a:xfrm>
            <a:off x="5541264" y="1664208"/>
            <a:ext cx="2926080" cy="3657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The gap</a:t>
            </a:r>
            <a:endParaRPr lang="en-US" sz="1650" dirty="0"/>
          </a:p>
        </p:txBody>
      </p:sp>
      <p:sp>
        <p:nvSpPr>
          <p:cNvPr id="15" name="Text 10"/>
          <p:cNvSpPr/>
          <p:nvPr/>
        </p:nvSpPr>
        <p:spPr>
          <a:xfrm>
            <a:off x="4882896" y="2286000"/>
            <a:ext cx="3657600" cy="640080"/>
          </a:xfrm>
          <a:prstGeom prst="rect">
            <a:avLst/>
          </a:prstGeom>
          <a:noFill/>
          <a:ln/>
        </p:spPr>
        <p:txBody>
          <a:bodyPr wrap="square" lIns="0" tIns="0" rIns="0" bIns="0" rtlCol="0" anchor="ctr"/>
          <a:lstStyle/>
          <a:p>
            <a:pPr marL="0" indent="0">
              <a:buNone/>
            </a:pPr>
            <a:r>
              <a:rPr lang="en-US" sz="1300" dirty="0">
                <a:solidFill>
                  <a:srgbClr val="F1F7F7"/>
                </a:solidFill>
                <a:latin typeface="Calibri" pitchFamily="34" charset="0"/>
                <a:ea typeface="Calibri" pitchFamily="34" charset="-122"/>
                <a:cs typeface="Calibri" pitchFamily="34" charset="-120"/>
              </a:rPr>
              <a:t>Prior LLM-for-XAI work is </a:t>
            </a:r>
            <a:r>
              <a:rPr lang="en-US" sz="1300" b="1" dirty="0">
                <a:solidFill>
                  <a:srgbClr val="9AD1D4"/>
                </a:solidFill>
                <a:latin typeface="Calibri" pitchFamily="34" charset="0"/>
                <a:ea typeface="Calibri" pitchFamily="34" charset="-122"/>
                <a:cs typeface="Calibri" pitchFamily="34" charset="-120"/>
              </a:rPr>
              <a:t>restricted to templates</a:t>
            </a:r>
            <a:r>
              <a:rPr lang="en-US" sz="1300" dirty="0">
                <a:solidFill>
                  <a:srgbClr val="F1F7F7"/>
                </a:solidFill>
                <a:latin typeface="Calibri" pitchFamily="34" charset="0"/>
                <a:ea typeface="Calibri" pitchFamily="34" charset="-122"/>
                <a:cs typeface="Calibri" pitchFamily="34" charset="-120"/>
              </a:rPr>
              <a:t>, limiting conversational capacity.</a:t>
            </a:r>
            <a:endParaRPr lang="en-US" sz="1300" dirty="0"/>
          </a:p>
        </p:txBody>
      </p:sp>
      <p:sp>
        <p:nvSpPr>
          <p:cNvPr id="16" name="Text 11"/>
          <p:cNvSpPr/>
          <p:nvPr/>
        </p:nvSpPr>
        <p:spPr>
          <a:xfrm>
            <a:off x="4882896" y="3035808"/>
            <a:ext cx="3657600" cy="640080"/>
          </a:xfrm>
          <a:prstGeom prst="rect">
            <a:avLst/>
          </a:prstGeom>
          <a:noFill/>
          <a:ln/>
        </p:spPr>
        <p:txBody>
          <a:bodyPr wrap="square" lIns="0" tIns="0" rIns="0" bIns="0" rtlCol="0" anchor="ctr"/>
          <a:lstStyle/>
          <a:p>
            <a:pPr marL="0" indent="0">
              <a:buNone/>
            </a:pPr>
            <a:r>
              <a:rPr lang="en-US" sz="1300" dirty="0">
                <a:solidFill>
                  <a:srgbClr val="F1F7F7"/>
                </a:solidFill>
                <a:latin typeface="Calibri" pitchFamily="34" charset="0"/>
                <a:ea typeface="Calibri" pitchFamily="34" charset="-122"/>
                <a:cs typeface="Calibri" pitchFamily="34" charset="-120"/>
              </a:rPr>
              <a:t>Or it is judged only on </a:t>
            </a:r>
            <a:r>
              <a:rPr lang="en-US" sz="1300" b="1" dirty="0">
                <a:solidFill>
                  <a:srgbClr val="9AD1D4"/>
                </a:solidFill>
                <a:latin typeface="Calibri" pitchFamily="34" charset="0"/>
                <a:ea typeface="Calibri" pitchFamily="34" charset="-122"/>
                <a:cs typeface="Calibri" pitchFamily="34" charset="-120"/>
              </a:rPr>
              <a:t>user satisfaction &amp; acceptance</a:t>
            </a:r>
            <a:r>
              <a:rPr lang="en-US" sz="1300" dirty="0">
                <a:solidFill>
                  <a:srgbClr val="F1F7F7"/>
                </a:solidFill>
                <a:latin typeface="Calibri" pitchFamily="34" charset="0"/>
                <a:ea typeface="Calibri" pitchFamily="34" charset="-122"/>
                <a:cs typeface="Calibri" pitchFamily="34" charset="-120"/>
              </a:rPr>
              <a:t> — not on whether explanations are correct.</a:t>
            </a:r>
            <a:endParaRPr lang="en-US" sz="1300" dirty="0"/>
          </a:p>
        </p:txBody>
      </p:sp>
      <p:sp>
        <p:nvSpPr>
          <p:cNvPr id="17" name="Text 12"/>
          <p:cNvSpPr/>
          <p:nvPr/>
        </p:nvSpPr>
        <p:spPr>
          <a:xfrm>
            <a:off x="4882896" y="3858768"/>
            <a:ext cx="3657600" cy="548640"/>
          </a:xfrm>
          <a:prstGeom prst="rect">
            <a:avLst/>
          </a:prstGeom>
          <a:noFill/>
          <a:ln/>
        </p:spPr>
        <p:txBody>
          <a:bodyPr wrap="square" lIns="0" tIns="0" rIns="0" bIns="0" rtlCol="0" anchor="ctr"/>
          <a:lstStyle/>
          <a:p>
            <a:pPr marL="0" indent="0">
              <a:buNone/>
            </a:pPr>
            <a:r>
              <a:rPr lang="en-US" sz="1350" b="1" i="1" dirty="0">
                <a:solidFill>
                  <a:srgbClr val="E9B44C"/>
                </a:solidFill>
                <a:latin typeface="Calibri" pitchFamily="34" charset="0"/>
                <a:ea typeface="Calibri" pitchFamily="34" charset="-122"/>
                <a:cs typeface="Calibri" pitchFamily="34" charset="-120"/>
              </a:rPr>
              <a:t>No consensus exists on what to measure, or how.</a:t>
            </a:r>
            <a:endParaRPr lang="en-US" sz="1350" dirty="0"/>
          </a:p>
        </p:txBody>
      </p:sp>
      <p:sp>
        <p:nvSpPr>
          <p:cNvPr id="18" name="Text 13"/>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7315200" y="-1280160"/>
            <a:ext cx="3474720" cy="3474720"/>
          </a:xfrm>
          <a:prstGeom prst="ellipse">
            <a:avLst/>
          </a:prstGeom>
          <a:solidFill>
            <a:srgbClr val="127475">
              <a:alpha val="20000"/>
            </a:srgbClr>
          </a:solidFill>
          <a:ln/>
        </p:spPr>
        <p:txBody>
          <a:bodyPr/>
          <a:lstStyle/>
          <a:p>
            <a:endParaRPr lang="en-DE"/>
          </a:p>
        </p:txBody>
      </p:sp>
      <p:sp>
        <p:nvSpPr>
          <p:cNvPr id="3" name="Shape 1"/>
          <p:cNvSpPr/>
          <p:nvPr/>
        </p:nvSpPr>
        <p:spPr>
          <a:xfrm>
            <a:off x="548640" y="457200"/>
            <a:ext cx="603504" cy="603504"/>
          </a:xfrm>
          <a:prstGeom prst="ellipse">
            <a:avLst/>
          </a:prstGeom>
          <a:solidFill>
            <a:srgbClr val="E9B44C"/>
          </a:solidFill>
          <a:ln/>
        </p:spPr>
        <p:txBody>
          <a:bodyPr/>
          <a:lstStyle/>
          <a:p>
            <a:endParaRPr lang="en-DE"/>
          </a:p>
        </p:txBody>
      </p:sp>
      <p:pic>
        <p:nvPicPr>
          <p:cNvPr id="4" name="Image 0" descr="preencoded.png"/>
          <p:cNvPicPr>
            <a:picLocks noChangeAspect="1"/>
          </p:cNvPicPr>
          <p:nvPr/>
        </p:nvPicPr>
        <p:blipFill>
          <a:blip r:embed="rId3"/>
          <a:stretch>
            <a:fillRect/>
          </a:stretch>
        </p:blipFill>
        <p:spPr>
          <a:xfrm>
            <a:off x="705551" y="614111"/>
            <a:ext cx="289682" cy="289682"/>
          </a:xfrm>
          <a:prstGeom prst="rect">
            <a:avLst/>
          </a:prstGeom>
        </p:spPr>
      </p:pic>
      <p:sp>
        <p:nvSpPr>
          <p:cNvPr id="5" name="Text 2"/>
          <p:cNvSpPr/>
          <p:nvPr/>
        </p:nvSpPr>
        <p:spPr>
          <a:xfrm>
            <a:off x="1280160" y="475488"/>
            <a:ext cx="73152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Research goal</a:t>
            </a:r>
            <a:endParaRPr lang="en-US" sz="2600" dirty="0"/>
          </a:p>
        </p:txBody>
      </p:sp>
      <p:sp>
        <p:nvSpPr>
          <p:cNvPr id="6" name="Shape 3"/>
          <p:cNvSpPr/>
          <p:nvPr/>
        </p:nvSpPr>
        <p:spPr>
          <a:xfrm>
            <a:off x="548640" y="1325880"/>
            <a:ext cx="8046720" cy="1325880"/>
          </a:xfrm>
          <a:prstGeom prst="roundRect">
            <a:avLst>
              <a:gd name="adj" fmla="val 551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7" name="Text 4"/>
          <p:cNvSpPr/>
          <p:nvPr/>
        </p:nvSpPr>
        <p:spPr>
          <a:xfrm>
            <a:off x="868680" y="1417320"/>
            <a:ext cx="7406640" cy="1143000"/>
          </a:xfrm>
          <a:prstGeom prst="rect">
            <a:avLst/>
          </a:prstGeom>
          <a:noFill/>
          <a:ln/>
        </p:spPr>
        <p:txBody>
          <a:bodyPr wrap="square" lIns="0" tIns="0" rIns="0" bIns="0" rtlCol="0" anchor="ctr"/>
          <a:lstStyle/>
          <a:p>
            <a:pPr marL="0" indent="0">
              <a:lnSpc>
                <a:spcPct val="108000"/>
              </a:lnSpc>
              <a:buNone/>
            </a:pPr>
            <a:r>
              <a:rPr lang="en-US" sz="1900" b="1" dirty="0">
                <a:solidFill>
                  <a:srgbClr val="FFFFFF"/>
                </a:solidFill>
                <a:latin typeface="Cambria" pitchFamily="34" charset="0"/>
                <a:ea typeface="Cambria" pitchFamily="34" charset="-122"/>
                <a:cs typeface="Cambria" pitchFamily="34" charset="-120"/>
              </a:rPr>
              <a:t>Can LLMs faithfully communicate an AI system’s architecture, results, and explanations to domain experts — and how do we measure it?</a:t>
            </a:r>
            <a:endParaRPr lang="en-US" sz="1900" dirty="0"/>
          </a:p>
        </p:txBody>
      </p:sp>
      <p:sp>
        <p:nvSpPr>
          <p:cNvPr id="8" name="Text 5"/>
          <p:cNvSpPr/>
          <p:nvPr/>
        </p:nvSpPr>
        <p:spPr>
          <a:xfrm>
            <a:off x="548640" y="2852928"/>
            <a:ext cx="7315200" cy="310896"/>
          </a:xfrm>
          <a:prstGeom prst="rect">
            <a:avLst/>
          </a:prstGeom>
          <a:noFill/>
          <a:ln/>
        </p:spPr>
        <p:txBody>
          <a:bodyPr wrap="square" lIns="0" tIns="0" rIns="0" bIns="0" rtlCol="0" anchor="ctr"/>
          <a:lstStyle/>
          <a:p>
            <a:pPr marL="0" indent="0">
              <a:buNone/>
            </a:pPr>
            <a:r>
              <a:rPr lang="en-US" sz="1300" b="1" kern="0" spc="100" dirty="0">
                <a:solidFill>
                  <a:srgbClr val="9AD1D4"/>
                </a:solidFill>
                <a:latin typeface="Calibri" pitchFamily="34" charset="0"/>
                <a:ea typeface="Calibri" pitchFamily="34" charset="-122"/>
                <a:cs typeface="Calibri" pitchFamily="34" charset="-120"/>
              </a:rPr>
              <a:t>The proposal</a:t>
            </a:r>
            <a:endParaRPr lang="en-US" sz="1300" dirty="0"/>
          </a:p>
        </p:txBody>
      </p:sp>
      <p:sp>
        <p:nvSpPr>
          <p:cNvPr id="9" name="Shape 6"/>
          <p:cNvSpPr/>
          <p:nvPr/>
        </p:nvSpPr>
        <p:spPr>
          <a:xfrm>
            <a:off x="548640" y="3218688"/>
            <a:ext cx="2587752" cy="1371600"/>
          </a:xfrm>
          <a:prstGeom prst="roundRect">
            <a:avLst>
              <a:gd name="adj" fmla="val 5333"/>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10" name="Shape 7"/>
          <p:cNvSpPr/>
          <p:nvPr/>
        </p:nvSpPr>
        <p:spPr>
          <a:xfrm>
            <a:off x="749808" y="3401568"/>
            <a:ext cx="493776" cy="493776"/>
          </a:xfrm>
          <a:prstGeom prst="ellipse">
            <a:avLst/>
          </a:prstGeom>
          <a:solidFill>
            <a:srgbClr val="E9B44C"/>
          </a:solidFill>
          <a:ln/>
        </p:spPr>
        <p:txBody>
          <a:bodyPr/>
          <a:lstStyle/>
          <a:p>
            <a:endParaRPr lang="en-DE"/>
          </a:p>
        </p:txBody>
      </p:sp>
      <p:pic>
        <p:nvPicPr>
          <p:cNvPr id="11" name="Image 1" descr="preencoded.png"/>
          <p:cNvPicPr>
            <a:picLocks noChangeAspect="1"/>
          </p:cNvPicPr>
          <p:nvPr/>
        </p:nvPicPr>
        <p:blipFill>
          <a:blip r:embed="rId4"/>
          <a:stretch>
            <a:fillRect/>
          </a:stretch>
        </p:blipFill>
        <p:spPr>
          <a:xfrm>
            <a:off x="878190" y="3529950"/>
            <a:ext cx="237012" cy="237012"/>
          </a:xfrm>
          <a:prstGeom prst="rect">
            <a:avLst/>
          </a:prstGeom>
        </p:spPr>
      </p:pic>
      <p:sp>
        <p:nvSpPr>
          <p:cNvPr id="12" name="Text 8"/>
          <p:cNvSpPr/>
          <p:nvPr/>
        </p:nvSpPr>
        <p:spPr>
          <a:xfrm>
            <a:off x="749808" y="3950208"/>
            <a:ext cx="2240280"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ACF metric</a:t>
            </a:r>
            <a:endParaRPr lang="en-US" sz="1400" dirty="0"/>
          </a:p>
        </p:txBody>
      </p:sp>
      <p:sp>
        <p:nvSpPr>
          <p:cNvPr id="13" name="Text 9"/>
          <p:cNvSpPr/>
          <p:nvPr/>
        </p:nvSpPr>
        <p:spPr>
          <a:xfrm>
            <a:off x="749808" y="4224528"/>
            <a:ext cx="2286000" cy="329184"/>
          </a:xfrm>
          <a:prstGeom prst="rect">
            <a:avLst/>
          </a:prstGeom>
          <a:noFill/>
          <a:ln/>
        </p:spPr>
        <p:txBody>
          <a:bodyPr wrap="square" lIns="0" tIns="0" rIns="0" bIns="0" rtlCol="0" anchor="ctr"/>
          <a:lstStyle/>
          <a:p>
            <a:pPr marL="0" indent="0">
              <a:buNone/>
            </a:pPr>
            <a:r>
              <a:rPr lang="en-US" sz="1050" dirty="0">
                <a:solidFill>
                  <a:srgbClr val="9AD1D4"/>
                </a:solidFill>
                <a:latin typeface="Calibri" pitchFamily="34" charset="0"/>
                <a:ea typeface="Calibri" pitchFamily="34" charset="-122"/>
                <a:cs typeface="Calibri" pitchFamily="34" charset="-120"/>
              </a:rPr>
              <a:t>An Accuracy–Completeness–Faithfulness composite score</a:t>
            </a:r>
            <a:endParaRPr lang="en-US" sz="1050" dirty="0"/>
          </a:p>
        </p:txBody>
      </p:sp>
      <p:sp>
        <p:nvSpPr>
          <p:cNvPr id="14" name="Shape 10"/>
          <p:cNvSpPr/>
          <p:nvPr/>
        </p:nvSpPr>
        <p:spPr>
          <a:xfrm>
            <a:off x="3273552" y="3218688"/>
            <a:ext cx="2587752" cy="1371600"/>
          </a:xfrm>
          <a:prstGeom prst="roundRect">
            <a:avLst>
              <a:gd name="adj" fmla="val 5333"/>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15" name="Shape 11"/>
          <p:cNvSpPr/>
          <p:nvPr/>
        </p:nvSpPr>
        <p:spPr>
          <a:xfrm>
            <a:off x="3474720" y="3401568"/>
            <a:ext cx="493776" cy="493776"/>
          </a:xfrm>
          <a:prstGeom prst="ellipse">
            <a:avLst/>
          </a:prstGeom>
          <a:solidFill>
            <a:srgbClr val="E9B44C"/>
          </a:solidFill>
          <a:ln/>
        </p:spPr>
        <p:txBody>
          <a:bodyPr/>
          <a:lstStyle/>
          <a:p>
            <a:endParaRPr lang="en-DE"/>
          </a:p>
        </p:txBody>
      </p:sp>
      <p:pic>
        <p:nvPicPr>
          <p:cNvPr id="16" name="Image 2" descr="preencoded.png"/>
          <p:cNvPicPr>
            <a:picLocks noChangeAspect="1"/>
          </p:cNvPicPr>
          <p:nvPr/>
        </p:nvPicPr>
        <p:blipFill>
          <a:blip r:embed="rId5"/>
          <a:stretch>
            <a:fillRect/>
          </a:stretch>
        </p:blipFill>
        <p:spPr>
          <a:xfrm>
            <a:off x="3603102" y="3529950"/>
            <a:ext cx="237012" cy="237012"/>
          </a:xfrm>
          <a:prstGeom prst="rect">
            <a:avLst/>
          </a:prstGeom>
        </p:spPr>
      </p:pic>
      <p:sp>
        <p:nvSpPr>
          <p:cNvPr id="17" name="Text 12"/>
          <p:cNvSpPr/>
          <p:nvPr/>
        </p:nvSpPr>
        <p:spPr>
          <a:xfrm>
            <a:off x="3474720" y="3950208"/>
            <a:ext cx="2240280"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Readability</a:t>
            </a:r>
            <a:endParaRPr lang="en-US" sz="1400" dirty="0"/>
          </a:p>
        </p:txBody>
      </p:sp>
      <p:sp>
        <p:nvSpPr>
          <p:cNvPr id="18" name="Text 13"/>
          <p:cNvSpPr/>
          <p:nvPr/>
        </p:nvSpPr>
        <p:spPr>
          <a:xfrm>
            <a:off x="3474720" y="4224528"/>
            <a:ext cx="2286000" cy="329184"/>
          </a:xfrm>
          <a:prstGeom prst="rect">
            <a:avLst/>
          </a:prstGeom>
          <a:noFill/>
          <a:ln/>
        </p:spPr>
        <p:txBody>
          <a:bodyPr wrap="square" lIns="0" tIns="0" rIns="0" bIns="0" rtlCol="0" anchor="ctr"/>
          <a:lstStyle/>
          <a:p>
            <a:pPr marL="0" indent="0">
              <a:buNone/>
            </a:pPr>
            <a:r>
              <a:rPr lang="en-US" sz="1050" dirty="0">
                <a:solidFill>
                  <a:srgbClr val="9AD1D4"/>
                </a:solidFill>
                <a:latin typeface="Calibri" pitchFamily="34" charset="0"/>
                <a:ea typeface="Calibri" pitchFamily="34" charset="-122"/>
                <a:cs typeface="Calibri" pitchFamily="34" charset="-120"/>
              </a:rPr>
              <a:t>Benchmarked against reference human answers</a:t>
            </a:r>
            <a:endParaRPr lang="en-US" sz="1050" dirty="0"/>
          </a:p>
        </p:txBody>
      </p:sp>
      <p:sp>
        <p:nvSpPr>
          <p:cNvPr id="19" name="Shape 14"/>
          <p:cNvSpPr/>
          <p:nvPr/>
        </p:nvSpPr>
        <p:spPr>
          <a:xfrm>
            <a:off x="5998464" y="3218688"/>
            <a:ext cx="2587752" cy="1371600"/>
          </a:xfrm>
          <a:prstGeom prst="roundRect">
            <a:avLst>
              <a:gd name="adj" fmla="val 5333"/>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20" name="Shape 15"/>
          <p:cNvSpPr/>
          <p:nvPr/>
        </p:nvSpPr>
        <p:spPr>
          <a:xfrm>
            <a:off x="6199632" y="3401568"/>
            <a:ext cx="493776" cy="493776"/>
          </a:xfrm>
          <a:prstGeom prst="ellipse">
            <a:avLst/>
          </a:prstGeom>
          <a:solidFill>
            <a:srgbClr val="E9B44C"/>
          </a:solidFill>
          <a:ln/>
        </p:spPr>
        <p:txBody>
          <a:bodyPr/>
          <a:lstStyle/>
          <a:p>
            <a:endParaRPr lang="en-DE"/>
          </a:p>
        </p:txBody>
      </p:sp>
      <p:pic>
        <p:nvPicPr>
          <p:cNvPr id="21" name="Image 3" descr="preencoded.png"/>
          <p:cNvPicPr>
            <a:picLocks noChangeAspect="1"/>
          </p:cNvPicPr>
          <p:nvPr/>
        </p:nvPicPr>
        <p:blipFill>
          <a:blip r:embed="rId6"/>
          <a:stretch>
            <a:fillRect/>
          </a:stretch>
        </p:blipFill>
        <p:spPr>
          <a:xfrm>
            <a:off x="6328014" y="3529950"/>
            <a:ext cx="237012" cy="237012"/>
          </a:xfrm>
          <a:prstGeom prst="rect">
            <a:avLst/>
          </a:prstGeom>
        </p:spPr>
      </p:pic>
      <p:sp>
        <p:nvSpPr>
          <p:cNvPr id="22" name="Text 16"/>
          <p:cNvSpPr/>
          <p:nvPr/>
        </p:nvSpPr>
        <p:spPr>
          <a:xfrm>
            <a:off x="6199632" y="3950208"/>
            <a:ext cx="2240280"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XAI-QB schema</a:t>
            </a:r>
            <a:endParaRPr lang="en-US" sz="1400" dirty="0"/>
          </a:p>
        </p:txBody>
      </p:sp>
      <p:sp>
        <p:nvSpPr>
          <p:cNvPr id="23" name="Text 17"/>
          <p:cNvSpPr/>
          <p:nvPr/>
        </p:nvSpPr>
        <p:spPr>
          <a:xfrm>
            <a:off x="6199632" y="4224528"/>
            <a:ext cx="2286000" cy="329184"/>
          </a:xfrm>
          <a:prstGeom prst="rect">
            <a:avLst/>
          </a:prstGeom>
          <a:noFill/>
          <a:ln/>
        </p:spPr>
        <p:txBody>
          <a:bodyPr wrap="square" lIns="0" tIns="0" rIns="0" bIns="0" rtlCol="0" anchor="ctr"/>
          <a:lstStyle/>
          <a:p>
            <a:pPr marL="0" indent="0">
              <a:buNone/>
            </a:pPr>
            <a:r>
              <a:rPr lang="en-US" sz="1050" dirty="0">
                <a:solidFill>
                  <a:srgbClr val="9AD1D4"/>
                </a:solidFill>
                <a:latin typeface="Calibri" pitchFamily="34" charset="0"/>
                <a:ea typeface="Calibri" pitchFamily="34" charset="-122"/>
                <a:cs typeface="Calibri" pitchFamily="34" charset="-120"/>
              </a:rPr>
              <a:t>Evaluate explanations across the whole AI system</a:t>
            </a:r>
            <a:endParaRPr lang="en-US" sz="1050" dirty="0"/>
          </a:p>
        </p:txBody>
      </p:sp>
      <p:sp>
        <p:nvSpPr>
          <p:cNvPr id="24" name="Text 18"/>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4"/>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Contributions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 transferable framework for evaluating LLM-generated explanations</a:t>
            </a:r>
            <a:endParaRPr lang="en-US" sz="1250" dirty="0"/>
          </a:p>
        </p:txBody>
      </p:sp>
      <p:sp>
        <p:nvSpPr>
          <p:cNvPr id="6" name="Shape 3"/>
          <p:cNvSpPr/>
          <p:nvPr/>
        </p:nvSpPr>
        <p:spPr>
          <a:xfrm>
            <a:off x="457200"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40080" y="1554480"/>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5"/>
          <a:stretch>
            <a:fillRect/>
          </a:stretch>
        </p:blipFill>
        <p:spPr>
          <a:xfrm>
            <a:off x="773217" y="1687617"/>
            <a:ext cx="245791" cy="245791"/>
          </a:xfrm>
          <a:prstGeom prst="rect">
            <a:avLst/>
          </a:prstGeom>
        </p:spPr>
      </p:pic>
      <p:sp>
        <p:nvSpPr>
          <p:cNvPr id="9" name="Text 5"/>
          <p:cNvSpPr/>
          <p:nvPr/>
        </p:nvSpPr>
        <p:spPr>
          <a:xfrm>
            <a:off x="640080" y="21214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ACF composite metric</a:t>
            </a:r>
            <a:endParaRPr lang="en-US" sz="1350" dirty="0"/>
          </a:p>
        </p:txBody>
      </p:sp>
      <p:sp>
        <p:nvSpPr>
          <p:cNvPr id="10" name="Text 6"/>
          <p:cNvSpPr/>
          <p:nvPr/>
        </p:nvSpPr>
        <p:spPr>
          <a:xfrm>
            <a:off x="640080" y="2395728"/>
            <a:ext cx="2350008" cy="457200"/>
          </a:xfrm>
          <a:prstGeom prst="rect">
            <a:avLst/>
          </a:prstGeom>
          <a:noFill/>
          <a:ln/>
        </p:spPr>
        <p:txBody>
          <a:bodyPr wrap="square" lIns="0" tIns="0" rIns="0" bIns="0" rtlCol="0" anchor="ctr"/>
          <a:lstStyle/>
          <a:p>
            <a:pPr marL="0" indent="0">
              <a:lnSpc>
                <a:spcPct val="98000"/>
              </a:lnSpc>
              <a:buNone/>
            </a:pPr>
            <a:r>
              <a:rPr lang="en-US" sz="1080" dirty="0">
                <a:solidFill>
                  <a:srgbClr val="55686B"/>
                </a:solidFill>
                <a:latin typeface="Calibri" pitchFamily="34" charset="0"/>
                <a:ea typeface="Calibri" pitchFamily="34" charset="-122"/>
                <a:cs typeface="Calibri" pitchFamily="34" charset="-120"/>
              </a:rPr>
              <a:t>Unifies accuracy, completeness &amp; faithfulness into one reproducible quality score.</a:t>
            </a:r>
            <a:endParaRPr lang="en-US" sz="1080" dirty="0"/>
          </a:p>
        </p:txBody>
      </p:sp>
      <p:sp>
        <p:nvSpPr>
          <p:cNvPr id="11" name="Shape 7"/>
          <p:cNvSpPr/>
          <p:nvPr/>
        </p:nvSpPr>
        <p:spPr>
          <a:xfrm>
            <a:off x="3232404"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3415284" y="1554480"/>
            <a:ext cx="512064" cy="512064"/>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6"/>
          <a:stretch>
            <a:fillRect/>
          </a:stretch>
        </p:blipFill>
        <p:spPr>
          <a:xfrm>
            <a:off x="3548421" y="1687617"/>
            <a:ext cx="245791" cy="245791"/>
          </a:xfrm>
          <a:prstGeom prst="rect">
            <a:avLst/>
          </a:prstGeom>
        </p:spPr>
      </p:pic>
      <p:sp>
        <p:nvSpPr>
          <p:cNvPr id="14" name="Text 9"/>
          <p:cNvSpPr/>
          <p:nvPr/>
        </p:nvSpPr>
        <p:spPr>
          <a:xfrm>
            <a:off x="3415284" y="21214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Readability benchmarking</a:t>
            </a:r>
            <a:endParaRPr lang="en-US" sz="1350" dirty="0"/>
          </a:p>
        </p:txBody>
      </p:sp>
      <p:sp>
        <p:nvSpPr>
          <p:cNvPr id="15" name="Text 10"/>
          <p:cNvSpPr/>
          <p:nvPr/>
        </p:nvSpPr>
        <p:spPr>
          <a:xfrm>
            <a:off x="3415284" y="2395728"/>
            <a:ext cx="2350008" cy="457200"/>
          </a:xfrm>
          <a:prstGeom prst="rect">
            <a:avLst/>
          </a:prstGeom>
          <a:noFill/>
          <a:ln/>
        </p:spPr>
        <p:txBody>
          <a:bodyPr wrap="square" lIns="0" tIns="0" rIns="0" bIns="0" rtlCol="0" anchor="ctr"/>
          <a:lstStyle/>
          <a:p>
            <a:pPr marL="0" indent="0">
              <a:lnSpc>
                <a:spcPct val="98000"/>
              </a:lnSpc>
              <a:buNone/>
            </a:pPr>
            <a:r>
              <a:rPr lang="en-US" sz="1080" dirty="0">
                <a:solidFill>
                  <a:srgbClr val="55686B"/>
                </a:solidFill>
                <a:latin typeface="Calibri" pitchFamily="34" charset="0"/>
                <a:ea typeface="Calibri" pitchFamily="34" charset="-122"/>
                <a:cs typeface="Calibri" pitchFamily="34" charset="-120"/>
              </a:rPr>
              <a:t>Calibrates reading ease against human answers — detail vs. accessibility.</a:t>
            </a:r>
            <a:endParaRPr lang="en-US" sz="1080" dirty="0"/>
          </a:p>
        </p:txBody>
      </p:sp>
      <p:sp>
        <p:nvSpPr>
          <p:cNvPr id="16" name="Shape 11"/>
          <p:cNvSpPr/>
          <p:nvPr/>
        </p:nvSpPr>
        <p:spPr>
          <a:xfrm>
            <a:off x="6007608"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6190488" y="1554480"/>
            <a:ext cx="512064" cy="512064"/>
          </a:xfrm>
          <a:prstGeom prst="ellipse">
            <a:avLst/>
          </a:prstGeom>
          <a:solidFill>
            <a:srgbClr val="127475"/>
          </a:solidFill>
          <a:ln/>
        </p:spPr>
        <p:txBody>
          <a:bodyPr/>
          <a:lstStyle/>
          <a:p>
            <a:endParaRPr lang="en-DE"/>
          </a:p>
        </p:txBody>
      </p:sp>
      <p:pic>
        <p:nvPicPr>
          <p:cNvPr id="18" name="Image 3" descr="preencoded.png"/>
          <p:cNvPicPr>
            <a:picLocks noChangeAspect="1"/>
          </p:cNvPicPr>
          <p:nvPr/>
        </p:nvPicPr>
        <p:blipFill>
          <a:blip r:embed="rId7"/>
          <a:stretch>
            <a:fillRect/>
          </a:stretch>
        </p:blipFill>
        <p:spPr>
          <a:xfrm>
            <a:off x="6323625" y="1687617"/>
            <a:ext cx="245791" cy="245791"/>
          </a:xfrm>
          <a:prstGeom prst="rect">
            <a:avLst/>
          </a:prstGeom>
        </p:spPr>
      </p:pic>
      <p:sp>
        <p:nvSpPr>
          <p:cNvPr id="19" name="Text 13"/>
          <p:cNvSpPr/>
          <p:nvPr/>
        </p:nvSpPr>
        <p:spPr>
          <a:xfrm>
            <a:off x="6190488" y="21214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Information units</a:t>
            </a:r>
            <a:endParaRPr lang="en-US" sz="1350" dirty="0"/>
          </a:p>
        </p:txBody>
      </p:sp>
      <p:sp>
        <p:nvSpPr>
          <p:cNvPr id="20" name="Text 14"/>
          <p:cNvSpPr/>
          <p:nvPr/>
        </p:nvSpPr>
        <p:spPr>
          <a:xfrm>
            <a:off x="6190488" y="2395728"/>
            <a:ext cx="2350008" cy="457200"/>
          </a:xfrm>
          <a:prstGeom prst="rect">
            <a:avLst/>
          </a:prstGeom>
          <a:noFill/>
          <a:ln/>
        </p:spPr>
        <p:txBody>
          <a:bodyPr wrap="square" lIns="0" tIns="0" rIns="0" bIns="0" rtlCol="0" anchor="ctr"/>
          <a:lstStyle/>
          <a:p>
            <a:pPr marL="0" indent="0">
              <a:lnSpc>
                <a:spcPct val="98000"/>
              </a:lnSpc>
              <a:buNone/>
            </a:pPr>
            <a:r>
              <a:rPr lang="en-US" sz="1080" dirty="0">
                <a:solidFill>
                  <a:srgbClr val="55686B"/>
                </a:solidFill>
                <a:latin typeface="Calibri" pitchFamily="34" charset="0"/>
                <a:ea typeface="Calibri" pitchFamily="34" charset="-122"/>
                <a:cs typeface="Calibri" pitchFamily="34" charset="-120"/>
              </a:rPr>
              <a:t>Human answers “atomised” into key terms to measure completeness.</a:t>
            </a:r>
            <a:endParaRPr lang="en-US" sz="1080" dirty="0"/>
          </a:p>
        </p:txBody>
      </p:sp>
      <p:sp>
        <p:nvSpPr>
          <p:cNvPr id="21" name="Shape 15"/>
          <p:cNvSpPr/>
          <p:nvPr/>
        </p:nvSpPr>
        <p:spPr>
          <a:xfrm>
            <a:off x="457200"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2" name="Shape 16"/>
          <p:cNvSpPr/>
          <p:nvPr/>
        </p:nvSpPr>
        <p:spPr>
          <a:xfrm>
            <a:off x="640080" y="3255264"/>
            <a:ext cx="512064" cy="512064"/>
          </a:xfrm>
          <a:prstGeom prst="ellipse">
            <a:avLst/>
          </a:prstGeom>
          <a:solidFill>
            <a:srgbClr val="127475"/>
          </a:solidFill>
          <a:ln/>
        </p:spPr>
        <p:txBody>
          <a:bodyPr/>
          <a:lstStyle/>
          <a:p>
            <a:endParaRPr lang="en-DE"/>
          </a:p>
        </p:txBody>
      </p:sp>
      <p:pic>
        <p:nvPicPr>
          <p:cNvPr id="23" name="Image 4" descr="preencoded.png"/>
          <p:cNvPicPr>
            <a:picLocks noChangeAspect="1"/>
          </p:cNvPicPr>
          <p:nvPr/>
        </p:nvPicPr>
        <p:blipFill>
          <a:blip r:embed="rId8"/>
          <a:stretch>
            <a:fillRect/>
          </a:stretch>
        </p:blipFill>
        <p:spPr>
          <a:xfrm>
            <a:off x="773217" y="3388401"/>
            <a:ext cx="245791" cy="245791"/>
          </a:xfrm>
          <a:prstGeom prst="rect">
            <a:avLst/>
          </a:prstGeom>
        </p:spPr>
      </p:pic>
      <p:sp>
        <p:nvSpPr>
          <p:cNvPr id="24" name="Text 17"/>
          <p:cNvSpPr/>
          <p:nvPr/>
        </p:nvSpPr>
        <p:spPr>
          <a:xfrm>
            <a:off x="640080" y="3822192"/>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XAI-QB as schema</a:t>
            </a:r>
            <a:endParaRPr lang="en-US" sz="1350" dirty="0"/>
          </a:p>
        </p:txBody>
      </p:sp>
      <p:sp>
        <p:nvSpPr>
          <p:cNvPr id="25" name="Text 18"/>
          <p:cNvSpPr/>
          <p:nvPr/>
        </p:nvSpPr>
        <p:spPr>
          <a:xfrm>
            <a:off x="640080" y="4096512"/>
            <a:ext cx="2350008" cy="457200"/>
          </a:xfrm>
          <a:prstGeom prst="rect">
            <a:avLst/>
          </a:prstGeom>
          <a:noFill/>
          <a:ln/>
        </p:spPr>
        <p:txBody>
          <a:bodyPr wrap="square" lIns="0" tIns="0" rIns="0" bIns="0" rtlCol="0" anchor="ctr"/>
          <a:lstStyle/>
          <a:p>
            <a:pPr marL="0" indent="0">
              <a:lnSpc>
                <a:spcPct val="98000"/>
              </a:lnSpc>
              <a:buNone/>
            </a:pPr>
            <a:r>
              <a:rPr lang="en-US" sz="1080" dirty="0">
                <a:solidFill>
                  <a:srgbClr val="55686B"/>
                </a:solidFill>
                <a:latin typeface="Calibri" pitchFamily="34" charset="0"/>
                <a:ea typeface="Calibri" pitchFamily="34" charset="-122"/>
                <a:cs typeface="Calibri" pitchFamily="34" charset="-120"/>
              </a:rPr>
              <a:t>Evaluates an LLM across the full scope of an AI system.</a:t>
            </a:r>
            <a:endParaRPr lang="en-US" sz="1080" dirty="0"/>
          </a:p>
        </p:txBody>
      </p:sp>
      <p:sp>
        <p:nvSpPr>
          <p:cNvPr id="26" name="Shape 19"/>
          <p:cNvSpPr/>
          <p:nvPr/>
        </p:nvSpPr>
        <p:spPr>
          <a:xfrm>
            <a:off x="3232404"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7" name="Shape 20"/>
          <p:cNvSpPr/>
          <p:nvPr/>
        </p:nvSpPr>
        <p:spPr>
          <a:xfrm>
            <a:off x="3415284" y="3255264"/>
            <a:ext cx="512064" cy="512064"/>
          </a:xfrm>
          <a:prstGeom prst="ellipse">
            <a:avLst/>
          </a:prstGeom>
          <a:solidFill>
            <a:srgbClr val="127475"/>
          </a:solidFill>
          <a:ln/>
        </p:spPr>
        <p:txBody>
          <a:bodyPr/>
          <a:lstStyle/>
          <a:p>
            <a:endParaRPr lang="en-DE"/>
          </a:p>
        </p:txBody>
      </p:sp>
      <p:pic>
        <p:nvPicPr>
          <p:cNvPr id="28" name="Image 5" descr="preencoded.png"/>
          <p:cNvPicPr>
            <a:picLocks noChangeAspect="1"/>
          </p:cNvPicPr>
          <p:nvPr/>
        </p:nvPicPr>
        <p:blipFill>
          <a:blip r:embed="rId9"/>
          <a:stretch>
            <a:fillRect/>
          </a:stretch>
        </p:blipFill>
        <p:spPr>
          <a:xfrm>
            <a:off x="3548421" y="3388401"/>
            <a:ext cx="245791" cy="245791"/>
          </a:xfrm>
          <a:prstGeom prst="rect">
            <a:avLst/>
          </a:prstGeom>
        </p:spPr>
      </p:pic>
      <p:sp>
        <p:nvSpPr>
          <p:cNvPr id="29" name="Text 21"/>
          <p:cNvSpPr/>
          <p:nvPr/>
        </p:nvSpPr>
        <p:spPr>
          <a:xfrm>
            <a:off x="3415284" y="3822192"/>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Feedback loops</a:t>
            </a:r>
            <a:endParaRPr lang="en-US" sz="1350" dirty="0"/>
          </a:p>
        </p:txBody>
      </p:sp>
      <p:sp>
        <p:nvSpPr>
          <p:cNvPr id="30" name="Text 22"/>
          <p:cNvSpPr/>
          <p:nvPr/>
        </p:nvSpPr>
        <p:spPr>
          <a:xfrm>
            <a:off x="3415284" y="4096512"/>
            <a:ext cx="2350008" cy="457200"/>
          </a:xfrm>
          <a:prstGeom prst="rect">
            <a:avLst/>
          </a:prstGeom>
          <a:noFill/>
          <a:ln/>
        </p:spPr>
        <p:txBody>
          <a:bodyPr wrap="square" lIns="0" tIns="0" rIns="0" bIns="0" rtlCol="0" anchor="ctr"/>
          <a:lstStyle/>
          <a:p>
            <a:pPr marL="0" indent="0">
              <a:lnSpc>
                <a:spcPct val="98000"/>
              </a:lnSpc>
              <a:buNone/>
            </a:pPr>
            <a:r>
              <a:rPr lang="en-US" sz="1080" dirty="0">
                <a:solidFill>
                  <a:srgbClr val="55686B"/>
                </a:solidFill>
                <a:latin typeface="Calibri" pitchFamily="34" charset="0"/>
                <a:ea typeface="Calibri" pitchFamily="34" charset="-122"/>
                <a:cs typeface="Calibri" pitchFamily="34" charset="-120"/>
              </a:rPr>
              <a:t>Surfaces vague questions &amp; unclear AI-system design for refinement.</a:t>
            </a:r>
            <a:endParaRPr lang="en-US" sz="1080" dirty="0"/>
          </a:p>
        </p:txBody>
      </p:sp>
      <p:sp>
        <p:nvSpPr>
          <p:cNvPr id="31" name="Shape 23"/>
          <p:cNvSpPr/>
          <p:nvPr/>
        </p:nvSpPr>
        <p:spPr>
          <a:xfrm>
            <a:off x="6007608"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32" name="Shape 24"/>
          <p:cNvSpPr/>
          <p:nvPr/>
        </p:nvSpPr>
        <p:spPr>
          <a:xfrm>
            <a:off x="6190488" y="3255264"/>
            <a:ext cx="512064" cy="512064"/>
          </a:xfrm>
          <a:prstGeom prst="ellipse">
            <a:avLst/>
          </a:prstGeom>
          <a:solidFill>
            <a:srgbClr val="127475"/>
          </a:solidFill>
          <a:ln/>
        </p:spPr>
        <p:txBody>
          <a:bodyPr/>
          <a:lstStyle/>
          <a:p>
            <a:endParaRPr lang="en-DE"/>
          </a:p>
        </p:txBody>
      </p:sp>
      <p:pic>
        <p:nvPicPr>
          <p:cNvPr id="33" name="Image 6" descr="preencoded.png"/>
          <p:cNvPicPr>
            <a:picLocks noChangeAspect="1"/>
          </p:cNvPicPr>
          <p:nvPr/>
        </p:nvPicPr>
        <p:blipFill>
          <a:blip r:embed="rId10"/>
          <a:stretch>
            <a:fillRect/>
          </a:stretch>
        </p:blipFill>
        <p:spPr>
          <a:xfrm>
            <a:off x="6323625" y="3388401"/>
            <a:ext cx="245791" cy="245791"/>
          </a:xfrm>
          <a:prstGeom prst="rect">
            <a:avLst/>
          </a:prstGeom>
        </p:spPr>
      </p:pic>
      <p:sp>
        <p:nvSpPr>
          <p:cNvPr id="34" name="Text 25"/>
          <p:cNvSpPr/>
          <p:nvPr/>
        </p:nvSpPr>
        <p:spPr>
          <a:xfrm>
            <a:off x="6190488" y="3822192"/>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Instructional template</a:t>
            </a:r>
            <a:endParaRPr lang="en-US" sz="1350" dirty="0"/>
          </a:p>
        </p:txBody>
      </p:sp>
      <p:sp>
        <p:nvSpPr>
          <p:cNvPr id="35" name="Text 26"/>
          <p:cNvSpPr/>
          <p:nvPr/>
        </p:nvSpPr>
        <p:spPr>
          <a:xfrm>
            <a:off x="6190488" y="4096512"/>
            <a:ext cx="2350008" cy="457200"/>
          </a:xfrm>
          <a:prstGeom prst="rect">
            <a:avLst/>
          </a:prstGeom>
          <a:noFill/>
          <a:ln/>
        </p:spPr>
        <p:txBody>
          <a:bodyPr wrap="square" lIns="0" tIns="0" rIns="0" bIns="0" rtlCol="0" anchor="ctr"/>
          <a:lstStyle/>
          <a:p>
            <a:pPr marL="0" indent="0">
              <a:lnSpc>
                <a:spcPct val="98000"/>
              </a:lnSpc>
              <a:buNone/>
            </a:pPr>
            <a:r>
              <a:rPr lang="en-US" sz="1080" dirty="0">
                <a:solidFill>
                  <a:srgbClr val="55686B"/>
                </a:solidFill>
                <a:latin typeface="Calibri" pitchFamily="34" charset="0"/>
                <a:ea typeface="Calibri" pitchFamily="34" charset="-122"/>
                <a:cs typeface="Calibri" pitchFamily="34" charset="-120"/>
              </a:rPr>
              <a:t>A reusable, tunable prompt for LLMs as explanatory agents.</a:t>
            </a:r>
            <a:endParaRPr lang="en-US" sz="1080" dirty="0"/>
          </a:p>
        </p:txBody>
      </p:sp>
      <p:sp>
        <p:nvSpPr>
          <p:cNvPr id="36"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5</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4"/>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Background: from HC-AI to XAI</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Keeping humans in control while opening the black box</a:t>
            </a:r>
            <a:endParaRPr lang="en-US" sz="1250" dirty="0"/>
          </a:p>
        </p:txBody>
      </p:sp>
      <p:sp>
        <p:nvSpPr>
          <p:cNvPr id="6" name="Shape 3"/>
          <p:cNvSpPr/>
          <p:nvPr/>
        </p:nvSpPr>
        <p:spPr>
          <a:xfrm>
            <a:off x="457200" y="1417320"/>
            <a:ext cx="4023360"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58368" y="1609344"/>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791505" y="1742481"/>
            <a:ext cx="245791" cy="245791"/>
          </a:xfrm>
          <a:prstGeom prst="rect">
            <a:avLst/>
          </a:prstGeom>
        </p:spPr>
      </p:pic>
      <p:sp>
        <p:nvSpPr>
          <p:cNvPr id="9" name="Text 5"/>
          <p:cNvSpPr/>
          <p:nvPr/>
        </p:nvSpPr>
        <p:spPr>
          <a:xfrm>
            <a:off x="1298448" y="1645920"/>
            <a:ext cx="3017520" cy="310896"/>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Human-centred AI (HC-AI)</a:t>
            </a:r>
            <a:endParaRPr lang="en-US" sz="1450" dirty="0"/>
          </a:p>
        </p:txBody>
      </p:sp>
      <p:sp>
        <p:nvSpPr>
          <p:cNvPr id="10" name="Text 6"/>
          <p:cNvSpPr/>
          <p:nvPr/>
        </p:nvSpPr>
        <p:spPr>
          <a:xfrm>
            <a:off x="658368" y="2121408"/>
            <a:ext cx="3657600" cy="640080"/>
          </a:xfrm>
          <a:prstGeom prst="rect">
            <a:avLst/>
          </a:prstGeom>
          <a:noFill/>
          <a:ln/>
        </p:spPr>
        <p:txBody>
          <a:bodyPr wrap="square" lIns="0" tIns="0" rIns="0" bIns="0" rtlCol="0" anchor="ctr"/>
          <a:lstStyle/>
          <a:p>
            <a:pPr marL="0" indent="0">
              <a:buNone/>
            </a:pPr>
            <a:r>
              <a:rPr lang="en-US" sz="1200" dirty="0">
                <a:solidFill>
                  <a:srgbClr val="55686B"/>
                </a:solidFill>
                <a:latin typeface="Calibri" pitchFamily="34" charset="0"/>
                <a:ea typeface="Calibri" pitchFamily="34" charset="-122"/>
                <a:cs typeface="Calibri" pitchFamily="34" charset="-120"/>
              </a:rPr>
              <a:t>Keep humans in-the-loop; AI should augment and empower people, not replace them. Trust = accurate + explainable.</a:t>
            </a:r>
            <a:endParaRPr lang="en-US" sz="1200" dirty="0"/>
          </a:p>
        </p:txBody>
      </p:sp>
      <p:sp>
        <p:nvSpPr>
          <p:cNvPr id="11" name="Shape 7"/>
          <p:cNvSpPr/>
          <p:nvPr/>
        </p:nvSpPr>
        <p:spPr>
          <a:xfrm>
            <a:off x="4663440" y="1417320"/>
            <a:ext cx="4023360"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4864608" y="1609344"/>
            <a:ext cx="512064" cy="512064"/>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4997745" y="1742481"/>
            <a:ext cx="245791" cy="245791"/>
          </a:xfrm>
          <a:prstGeom prst="rect">
            <a:avLst/>
          </a:prstGeom>
        </p:spPr>
      </p:pic>
      <p:sp>
        <p:nvSpPr>
          <p:cNvPr id="14" name="Text 9"/>
          <p:cNvSpPr/>
          <p:nvPr/>
        </p:nvSpPr>
        <p:spPr>
          <a:xfrm>
            <a:off x="5504688" y="1645920"/>
            <a:ext cx="3017520" cy="310896"/>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Explainable AI (XAI)</a:t>
            </a:r>
            <a:endParaRPr lang="en-US" sz="1450" dirty="0"/>
          </a:p>
        </p:txBody>
      </p:sp>
      <p:sp>
        <p:nvSpPr>
          <p:cNvPr id="15" name="Text 10"/>
          <p:cNvSpPr/>
          <p:nvPr/>
        </p:nvSpPr>
        <p:spPr>
          <a:xfrm>
            <a:off x="4864608" y="2121408"/>
            <a:ext cx="3657600" cy="640080"/>
          </a:xfrm>
          <a:prstGeom prst="rect">
            <a:avLst/>
          </a:prstGeom>
          <a:noFill/>
          <a:ln/>
        </p:spPr>
        <p:txBody>
          <a:bodyPr wrap="square" lIns="0" tIns="0" rIns="0" bIns="0" rtlCol="0" anchor="ctr"/>
          <a:lstStyle/>
          <a:p>
            <a:pPr marL="0" indent="0">
              <a:buNone/>
            </a:pPr>
            <a:r>
              <a:rPr lang="en-US" sz="1200" dirty="0">
                <a:solidFill>
                  <a:srgbClr val="55686B"/>
                </a:solidFill>
                <a:latin typeface="Calibri" pitchFamily="34" charset="0"/>
                <a:ea typeface="Calibri" pitchFamily="34" charset="-122"/>
                <a:cs typeface="Calibri" pitchFamily="34" charset="-120"/>
              </a:rPr>
              <a:t>Articulate the reasoning behind outputs to build transparency, interpretability and understandability.</a:t>
            </a:r>
            <a:endParaRPr lang="en-US" sz="1200" dirty="0"/>
          </a:p>
        </p:txBody>
      </p:sp>
      <p:sp>
        <p:nvSpPr>
          <p:cNvPr id="16" name="Text 11"/>
          <p:cNvSpPr/>
          <p:nvPr/>
        </p:nvSpPr>
        <p:spPr>
          <a:xfrm>
            <a:off x="457200" y="2999232"/>
            <a:ext cx="8229600" cy="274320"/>
          </a:xfrm>
          <a:prstGeom prst="rect">
            <a:avLst/>
          </a:prstGeom>
          <a:noFill/>
          <a:ln/>
        </p:spPr>
        <p:txBody>
          <a:bodyPr wrap="square" lIns="0" tIns="0" rIns="0" bIns="0" rtlCol="0" anchor="ctr"/>
          <a:lstStyle/>
          <a:p>
            <a:pPr marL="0" indent="0">
              <a:buNone/>
            </a:pPr>
            <a:r>
              <a:rPr lang="en-US" sz="1250" b="1" dirty="0">
                <a:solidFill>
                  <a:srgbClr val="0E5E5C"/>
                </a:solidFill>
                <a:latin typeface="Calibri" pitchFamily="34" charset="0"/>
                <a:ea typeface="Calibri" pitchFamily="34" charset="-122"/>
                <a:cs typeface="Calibri" pitchFamily="34" charset="-120"/>
              </a:rPr>
              <a:t>Three families of XAI techniques</a:t>
            </a:r>
            <a:endParaRPr lang="en-US" sz="1250" dirty="0"/>
          </a:p>
        </p:txBody>
      </p:sp>
      <p:sp>
        <p:nvSpPr>
          <p:cNvPr id="17" name="Shape 12"/>
          <p:cNvSpPr/>
          <p:nvPr/>
        </p:nvSpPr>
        <p:spPr>
          <a:xfrm>
            <a:off x="457200"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18" name="Shape 13"/>
          <p:cNvSpPr/>
          <p:nvPr/>
        </p:nvSpPr>
        <p:spPr>
          <a:xfrm>
            <a:off x="457200" y="3310128"/>
            <a:ext cx="2679192" cy="1298448"/>
          </a:xfrm>
          <a:prstGeom prst="roundRect">
            <a:avLst>
              <a:gd name="adj" fmla="val 5634"/>
            </a:avLst>
          </a:prstGeom>
          <a:ln w="12700">
            <a:solidFill>
              <a:srgbClr val="E7F0F0"/>
            </a:solidFill>
            <a:prstDash val="solid"/>
          </a:ln>
        </p:spPr>
        <p:txBody>
          <a:bodyPr/>
          <a:lstStyle/>
          <a:p>
            <a:endParaRPr lang="en-DE"/>
          </a:p>
        </p:txBody>
      </p:sp>
      <p:sp>
        <p:nvSpPr>
          <p:cNvPr id="19" name="Shape 14"/>
          <p:cNvSpPr/>
          <p:nvPr/>
        </p:nvSpPr>
        <p:spPr>
          <a:xfrm>
            <a:off x="640080" y="3474720"/>
            <a:ext cx="457200" cy="457200"/>
          </a:xfrm>
          <a:prstGeom prst="ellipse">
            <a:avLst/>
          </a:prstGeom>
          <a:solidFill>
            <a:srgbClr val="3E9D9B"/>
          </a:solidFill>
          <a:ln/>
        </p:spPr>
        <p:txBody>
          <a:bodyPr/>
          <a:lstStyle/>
          <a:p>
            <a:endParaRPr lang="en-DE"/>
          </a:p>
        </p:txBody>
      </p:sp>
      <p:pic>
        <p:nvPicPr>
          <p:cNvPr id="20" name="Image 3" descr="preencoded.png"/>
          <p:cNvPicPr>
            <a:picLocks noChangeAspect="1"/>
          </p:cNvPicPr>
          <p:nvPr/>
        </p:nvPicPr>
        <p:blipFill>
          <a:blip r:embed="rId6"/>
          <a:stretch>
            <a:fillRect/>
          </a:stretch>
        </p:blipFill>
        <p:spPr>
          <a:xfrm>
            <a:off x="758952" y="3593592"/>
            <a:ext cx="219456" cy="219456"/>
          </a:xfrm>
          <a:prstGeom prst="rect">
            <a:avLst/>
          </a:prstGeom>
        </p:spPr>
      </p:pic>
      <p:sp>
        <p:nvSpPr>
          <p:cNvPr id="21" name="Text 15"/>
          <p:cNvSpPr/>
          <p:nvPr/>
        </p:nvSpPr>
        <p:spPr>
          <a:xfrm>
            <a:off x="1188720" y="3493008"/>
            <a:ext cx="1874520" cy="420624"/>
          </a:xfrm>
          <a:prstGeom prst="rect">
            <a:avLst/>
          </a:prstGeom>
          <a:noFill/>
          <a:ln/>
        </p:spPr>
        <p:txBody>
          <a:bodyPr wrap="square" lIns="0" tIns="0" rIns="0" bIns="0" rtlCol="0" anchor="ctr"/>
          <a:lstStyle/>
          <a:p>
            <a:pPr marL="0" indent="0">
              <a:buNone/>
            </a:pPr>
            <a:r>
              <a:rPr lang="en-US" sz="1250" b="1" dirty="0">
                <a:solidFill>
                  <a:srgbClr val="0A2E36"/>
                </a:solidFill>
                <a:latin typeface="Cambria" pitchFamily="34" charset="0"/>
                <a:ea typeface="Cambria" pitchFamily="34" charset="-122"/>
                <a:cs typeface="Cambria" pitchFamily="34" charset="-120"/>
              </a:rPr>
              <a:t>Intrinsic interpretability</a:t>
            </a:r>
            <a:endParaRPr lang="en-US" sz="1250" dirty="0"/>
          </a:p>
        </p:txBody>
      </p:sp>
      <p:sp>
        <p:nvSpPr>
          <p:cNvPr id="22" name="Text 16"/>
          <p:cNvSpPr/>
          <p:nvPr/>
        </p:nvSpPr>
        <p:spPr>
          <a:xfrm>
            <a:off x="640080" y="3986784"/>
            <a:ext cx="2377440" cy="548640"/>
          </a:xfrm>
          <a:prstGeom prst="rect">
            <a:avLst/>
          </a:prstGeom>
          <a:noFill/>
          <a:ln/>
        </p:spPr>
        <p:txBody>
          <a:bodyPr wrap="square" lIns="0" tIns="0" rIns="0" bIns="0" rtlCol="0" anchor="ctr"/>
          <a:lstStyle/>
          <a:p>
            <a:pPr marL="0" indent="0">
              <a:buNone/>
            </a:pPr>
            <a:r>
              <a:rPr lang="en-US" sz="1050" dirty="0">
                <a:solidFill>
                  <a:srgbClr val="55686B"/>
                </a:solidFill>
                <a:latin typeface="Calibri" pitchFamily="34" charset="0"/>
                <a:ea typeface="Calibri" pitchFamily="34" charset="-122"/>
                <a:cs typeface="Calibri" pitchFamily="34" charset="-120"/>
              </a:rPr>
              <a:t>Transparent by design — linear/logistic models, decision trees, rules.</a:t>
            </a:r>
            <a:endParaRPr lang="en-US" sz="1050" dirty="0"/>
          </a:p>
        </p:txBody>
      </p:sp>
      <p:sp>
        <p:nvSpPr>
          <p:cNvPr id="23" name="Shape 17"/>
          <p:cNvSpPr/>
          <p:nvPr/>
        </p:nvSpPr>
        <p:spPr>
          <a:xfrm>
            <a:off x="3236976"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24" name="Shape 18"/>
          <p:cNvSpPr/>
          <p:nvPr/>
        </p:nvSpPr>
        <p:spPr>
          <a:xfrm>
            <a:off x="3236976" y="3310128"/>
            <a:ext cx="2679192" cy="1298448"/>
          </a:xfrm>
          <a:prstGeom prst="roundRect">
            <a:avLst>
              <a:gd name="adj" fmla="val 5634"/>
            </a:avLst>
          </a:prstGeom>
          <a:ln w="12700">
            <a:solidFill>
              <a:srgbClr val="E7F0F0"/>
            </a:solidFill>
            <a:prstDash val="solid"/>
          </a:ln>
        </p:spPr>
        <p:txBody>
          <a:bodyPr/>
          <a:lstStyle/>
          <a:p>
            <a:endParaRPr lang="en-DE"/>
          </a:p>
        </p:txBody>
      </p:sp>
      <p:sp>
        <p:nvSpPr>
          <p:cNvPr id="25" name="Shape 19"/>
          <p:cNvSpPr/>
          <p:nvPr/>
        </p:nvSpPr>
        <p:spPr>
          <a:xfrm>
            <a:off x="3419856" y="3474720"/>
            <a:ext cx="457200" cy="457200"/>
          </a:xfrm>
          <a:prstGeom prst="ellipse">
            <a:avLst/>
          </a:prstGeom>
          <a:solidFill>
            <a:srgbClr val="3E9D9B"/>
          </a:solidFill>
          <a:ln/>
        </p:spPr>
        <p:txBody>
          <a:bodyPr/>
          <a:lstStyle/>
          <a:p>
            <a:endParaRPr lang="en-DE"/>
          </a:p>
        </p:txBody>
      </p:sp>
      <p:pic>
        <p:nvPicPr>
          <p:cNvPr id="26" name="Image 4" descr="preencoded.png"/>
          <p:cNvPicPr>
            <a:picLocks noChangeAspect="1"/>
          </p:cNvPicPr>
          <p:nvPr/>
        </p:nvPicPr>
        <p:blipFill>
          <a:blip r:embed="rId7"/>
          <a:stretch>
            <a:fillRect/>
          </a:stretch>
        </p:blipFill>
        <p:spPr>
          <a:xfrm>
            <a:off x="3538728" y="3593592"/>
            <a:ext cx="219456" cy="219456"/>
          </a:xfrm>
          <a:prstGeom prst="rect">
            <a:avLst/>
          </a:prstGeom>
        </p:spPr>
      </p:pic>
      <p:sp>
        <p:nvSpPr>
          <p:cNvPr id="27" name="Text 20"/>
          <p:cNvSpPr/>
          <p:nvPr/>
        </p:nvSpPr>
        <p:spPr>
          <a:xfrm>
            <a:off x="3968496" y="3493008"/>
            <a:ext cx="1874520" cy="420624"/>
          </a:xfrm>
          <a:prstGeom prst="rect">
            <a:avLst/>
          </a:prstGeom>
          <a:noFill/>
          <a:ln/>
        </p:spPr>
        <p:txBody>
          <a:bodyPr wrap="square" lIns="0" tIns="0" rIns="0" bIns="0" rtlCol="0" anchor="ctr"/>
          <a:lstStyle/>
          <a:p>
            <a:pPr marL="0" indent="0">
              <a:buNone/>
            </a:pPr>
            <a:r>
              <a:rPr lang="en-US" sz="1250" b="1" dirty="0">
                <a:solidFill>
                  <a:srgbClr val="0A2E36"/>
                </a:solidFill>
                <a:latin typeface="Cambria" pitchFamily="34" charset="0"/>
                <a:ea typeface="Cambria" pitchFamily="34" charset="-122"/>
                <a:cs typeface="Cambria" pitchFamily="34" charset="-120"/>
              </a:rPr>
              <a:t>Post-hoc methods</a:t>
            </a:r>
            <a:endParaRPr lang="en-US" sz="1250" dirty="0"/>
          </a:p>
        </p:txBody>
      </p:sp>
      <p:sp>
        <p:nvSpPr>
          <p:cNvPr id="28" name="Text 21"/>
          <p:cNvSpPr/>
          <p:nvPr/>
        </p:nvSpPr>
        <p:spPr>
          <a:xfrm>
            <a:off x="3419856" y="3986784"/>
            <a:ext cx="2377440" cy="548640"/>
          </a:xfrm>
          <a:prstGeom prst="rect">
            <a:avLst/>
          </a:prstGeom>
          <a:noFill/>
          <a:ln/>
        </p:spPr>
        <p:txBody>
          <a:bodyPr wrap="square" lIns="0" tIns="0" rIns="0" bIns="0" rtlCol="0" anchor="ctr"/>
          <a:lstStyle/>
          <a:p>
            <a:pPr marL="0" indent="0">
              <a:buNone/>
            </a:pPr>
            <a:r>
              <a:rPr lang="en-US" sz="1050" dirty="0">
                <a:solidFill>
                  <a:srgbClr val="55686B"/>
                </a:solidFill>
                <a:latin typeface="Calibri" pitchFamily="34" charset="0"/>
                <a:ea typeface="Calibri" pitchFamily="34" charset="-122"/>
                <a:cs typeface="Calibri" pitchFamily="34" charset="-120"/>
              </a:rPr>
              <a:t>Explain after training — feature importance, PDP, LIME, SHAP.</a:t>
            </a:r>
            <a:endParaRPr lang="en-US" sz="1050" dirty="0"/>
          </a:p>
        </p:txBody>
      </p:sp>
      <p:sp>
        <p:nvSpPr>
          <p:cNvPr id="29" name="Shape 22"/>
          <p:cNvSpPr/>
          <p:nvPr/>
        </p:nvSpPr>
        <p:spPr>
          <a:xfrm>
            <a:off x="6016752"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30" name="Shape 23"/>
          <p:cNvSpPr/>
          <p:nvPr/>
        </p:nvSpPr>
        <p:spPr>
          <a:xfrm>
            <a:off x="6016752" y="3310128"/>
            <a:ext cx="2679192" cy="1298448"/>
          </a:xfrm>
          <a:prstGeom prst="roundRect">
            <a:avLst>
              <a:gd name="adj" fmla="val 5634"/>
            </a:avLst>
          </a:prstGeom>
          <a:ln w="12700">
            <a:solidFill>
              <a:srgbClr val="E7F0F0"/>
            </a:solidFill>
            <a:prstDash val="solid"/>
          </a:ln>
        </p:spPr>
        <p:txBody>
          <a:bodyPr/>
          <a:lstStyle/>
          <a:p>
            <a:endParaRPr lang="en-DE"/>
          </a:p>
        </p:txBody>
      </p:sp>
      <p:sp>
        <p:nvSpPr>
          <p:cNvPr id="31" name="Shape 24"/>
          <p:cNvSpPr/>
          <p:nvPr/>
        </p:nvSpPr>
        <p:spPr>
          <a:xfrm>
            <a:off x="6199632" y="3474720"/>
            <a:ext cx="457200" cy="457200"/>
          </a:xfrm>
          <a:prstGeom prst="ellipse">
            <a:avLst/>
          </a:prstGeom>
          <a:solidFill>
            <a:srgbClr val="3E9D9B"/>
          </a:solidFill>
          <a:ln/>
        </p:spPr>
        <p:txBody>
          <a:bodyPr/>
          <a:lstStyle/>
          <a:p>
            <a:endParaRPr lang="en-DE"/>
          </a:p>
        </p:txBody>
      </p:sp>
      <p:pic>
        <p:nvPicPr>
          <p:cNvPr id="32" name="Image 5" descr="preencoded.png"/>
          <p:cNvPicPr>
            <a:picLocks noChangeAspect="1"/>
          </p:cNvPicPr>
          <p:nvPr/>
        </p:nvPicPr>
        <p:blipFill>
          <a:blip r:embed="rId8"/>
          <a:stretch>
            <a:fillRect/>
          </a:stretch>
        </p:blipFill>
        <p:spPr>
          <a:xfrm>
            <a:off x="6318504" y="3593592"/>
            <a:ext cx="219456" cy="219456"/>
          </a:xfrm>
          <a:prstGeom prst="rect">
            <a:avLst/>
          </a:prstGeom>
        </p:spPr>
      </p:pic>
      <p:sp>
        <p:nvSpPr>
          <p:cNvPr id="33" name="Text 25"/>
          <p:cNvSpPr/>
          <p:nvPr/>
        </p:nvSpPr>
        <p:spPr>
          <a:xfrm>
            <a:off x="6748272" y="3493008"/>
            <a:ext cx="1874520" cy="420624"/>
          </a:xfrm>
          <a:prstGeom prst="rect">
            <a:avLst/>
          </a:prstGeom>
          <a:noFill/>
          <a:ln/>
        </p:spPr>
        <p:txBody>
          <a:bodyPr wrap="square" lIns="0" tIns="0" rIns="0" bIns="0" rtlCol="0" anchor="ctr"/>
          <a:lstStyle/>
          <a:p>
            <a:pPr marL="0" indent="0">
              <a:buNone/>
            </a:pPr>
            <a:r>
              <a:rPr lang="en-US" sz="1250" b="1" dirty="0">
                <a:solidFill>
                  <a:srgbClr val="0A2E36"/>
                </a:solidFill>
                <a:latin typeface="Cambria" pitchFamily="34" charset="0"/>
                <a:ea typeface="Cambria" pitchFamily="34" charset="-122"/>
                <a:cs typeface="Cambria" pitchFamily="34" charset="-120"/>
              </a:rPr>
              <a:t>Counterfactuals</a:t>
            </a:r>
            <a:endParaRPr lang="en-US" sz="1250" dirty="0"/>
          </a:p>
        </p:txBody>
      </p:sp>
      <p:sp>
        <p:nvSpPr>
          <p:cNvPr id="34" name="Text 26"/>
          <p:cNvSpPr/>
          <p:nvPr/>
        </p:nvSpPr>
        <p:spPr>
          <a:xfrm>
            <a:off x="6199632" y="3986784"/>
            <a:ext cx="2377440" cy="548640"/>
          </a:xfrm>
          <a:prstGeom prst="rect">
            <a:avLst/>
          </a:prstGeom>
          <a:noFill/>
          <a:ln/>
        </p:spPr>
        <p:txBody>
          <a:bodyPr wrap="square" lIns="0" tIns="0" rIns="0" bIns="0" rtlCol="0" anchor="ctr"/>
          <a:lstStyle/>
          <a:p>
            <a:pPr marL="0" indent="0">
              <a:buNone/>
            </a:pPr>
            <a:r>
              <a:rPr lang="en-US" sz="1050" dirty="0">
                <a:solidFill>
                  <a:srgbClr val="55686B"/>
                </a:solidFill>
                <a:latin typeface="Calibri" pitchFamily="34" charset="0"/>
                <a:ea typeface="Calibri" pitchFamily="34" charset="-122"/>
                <a:cs typeface="Calibri" pitchFamily="34" charset="-120"/>
              </a:rPr>
              <a:t>What must change for the model to change its decision?</a:t>
            </a:r>
            <a:endParaRPr lang="en-US" sz="1050" dirty="0"/>
          </a:p>
        </p:txBody>
      </p:sp>
      <p:sp>
        <p:nvSpPr>
          <p:cNvPr id="35"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6</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4"/>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The eXplainable AI Question Bank (XAI-QB)</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Prototypical questions a user might ask about an AI system</a:t>
            </a:r>
            <a:endParaRPr lang="en-US" sz="1250" dirty="0"/>
          </a:p>
        </p:txBody>
      </p:sp>
      <p:sp>
        <p:nvSpPr>
          <p:cNvPr id="6" name="Text 3"/>
          <p:cNvSpPr/>
          <p:nvPr/>
        </p:nvSpPr>
        <p:spPr>
          <a:xfrm>
            <a:off x="457200" y="1417320"/>
            <a:ext cx="4160520" cy="640080"/>
          </a:xfrm>
          <a:prstGeom prst="rect">
            <a:avLst/>
          </a:prstGeom>
          <a:noFill/>
          <a:ln/>
        </p:spPr>
        <p:txBody>
          <a:bodyPr wrap="square" lIns="0" tIns="0" rIns="0" bIns="0" rtlCol="0" anchor="ctr"/>
          <a:lstStyle/>
          <a:p>
            <a:pPr marL="0" indent="0">
              <a:buNone/>
            </a:pPr>
            <a:r>
              <a:rPr lang="en-US" sz="1300" b="1" dirty="0">
                <a:solidFill>
                  <a:srgbClr val="0E5E5C"/>
                </a:solidFill>
                <a:latin typeface="Calibri" pitchFamily="34" charset="0"/>
                <a:ea typeface="Calibri" pitchFamily="34" charset="-122"/>
                <a:cs typeface="Calibri" pitchFamily="34" charset="-120"/>
              </a:rPr>
              <a:t>Liao et al.</a:t>
            </a:r>
            <a:r>
              <a:rPr lang="en-US" sz="1300" dirty="0">
                <a:solidFill>
                  <a:srgbClr val="183036"/>
                </a:solidFill>
                <a:latin typeface="Calibri" pitchFamily="34" charset="0"/>
                <a:ea typeface="Calibri" pitchFamily="34" charset="-122"/>
                <a:cs typeface="Calibri" pitchFamily="34" charset="-120"/>
              </a:rPr>
              <a:t>: an algorithm-informed set of questions, built on a taxonomy of XAI methods.</a:t>
            </a:r>
            <a:endParaRPr lang="en-US" sz="1300" dirty="0"/>
          </a:p>
        </p:txBody>
      </p:sp>
      <p:sp>
        <p:nvSpPr>
          <p:cNvPr id="7" name="Text 4"/>
          <p:cNvSpPr/>
          <p:nvPr/>
        </p:nvSpPr>
        <p:spPr>
          <a:xfrm>
            <a:off x="457200" y="2148840"/>
            <a:ext cx="4160520" cy="822960"/>
          </a:xfrm>
          <a:prstGeom prst="rect">
            <a:avLst/>
          </a:prstGeom>
          <a:noFill/>
          <a:ln/>
        </p:spPr>
        <p:txBody>
          <a:bodyPr wrap="square" lIns="0" tIns="0" rIns="0" bIns="0" rtlCol="0" anchor="ctr"/>
          <a:lstStyle/>
          <a:p>
            <a:pPr marL="0" indent="0">
              <a:buNone/>
            </a:pPr>
            <a:r>
              <a:rPr lang="en-US" sz="1300" dirty="0">
                <a:solidFill>
                  <a:srgbClr val="183036"/>
                </a:solidFill>
                <a:latin typeface="Calibri" pitchFamily="34" charset="0"/>
                <a:ea typeface="Calibri" pitchFamily="34" charset="-122"/>
                <a:cs typeface="Calibri" pitchFamily="34" charset="-120"/>
              </a:rPr>
              <a:t>Extended by </a:t>
            </a:r>
            <a:r>
              <a:rPr lang="en-US" sz="1300" b="1" dirty="0">
                <a:solidFill>
                  <a:srgbClr val="0E5E5C"/>
                </a:solidFill>
                <a:latin typeface="Calibri" pitchFamily="34" charset="0"/>
                <a:ea typeface="Calibri" pitchFamily="34" charset="-122"/>
                <a:cs typeface="Calibri" pitchFamily="34" charset="-120"/>
              </a:rPr>
              <a:t>Sipos &amp; Schäfer</a:t>
            </a:r>
            <a:r>
              <a:rPr lang="en-US" sz="1300" dirty="0">
                <a:solidFill>
                  <a:srgbClr val="183036"/>
                </a:solidFill>
                <a:latin typeface="Calibri" pitchFamily="34" charset="0"/>
                <a:ea typeface="Calibri" pitchFamily="34" charset="-122"/>
                <a:cs typeface="Calibri" pitchFamily="34" charset="-120"/>
              </a:rPr>
              <a:t> (+11 questions, new UI category) and a </a:t>
            </a:r>
            <a:r>
              <a:rPr lang="en-US" sz="1300" b="1" dirty="0">
                <a:solidFill>
                  <a:srgbClr val="0E5E5C"/>
                </a:solidFill>
                <a:latin typeface="Calibri" pitchFamily="34" charset="0"/>
                <a:ea typeface="Calibri" pitchFamily="34" charset="-122"/>
                <a:cs typeface="Calibri" pitchFamily="34" charset="-120"/>
              </a:rPr>
              <a:t>nested model</a:t>
            </a:r>
            <a:r>
              <a:rPr lang="en-US" sz="1300" dirty="0">
                <a:solidFill>
                  <a:srgbClr val="183036"/>
                </a:solidFill>
                <a:latin typeface="Calibri" pitchFamily="34" charset="0"/>
                <a:ea typeface="Calibri" pitchFamily="34" charset="-122"/>
                <a:cs typeface="Calibri" pitchFamily="34" charset="-120"/>
              </a:rPr>
              <a:t> by Dubey et al.</a:t>
            </a:r>
            <a:endParaRPr lang="en-US" sz="1300" dirty="0"/>
          </a:p>
        </p:txBody>
      </p:sp>
      <p:sp>
        <p:nvSpPr>
          <p:cNvPr id="8" name="Shape 5"/>
          <p:cNvSpPr/>
          <p:nvPr/>
        </p:nvSpPr>
        <p:spPr>
          <a:xfrm>
            <a:off x="457200" y="3154680"/>
            <a:ext cx="4160520" cy="1417320"/>
          </a:xfrm>
          <a:prstGeom prst="roundRect">
            <a:avLst>
              <a:gd name="adj" fmla="val 516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9" name="Text 6"/>
          <p:cNvSpPr/>
          <p:nvPr/>
        </p:nvSpPr>
        <p:spPr>
          <a:xfrm>
            <a:off x="658368" y="3291840"/>
            <a:ext cx="3749040" cy="274320"/>
          </a:xfrm>
          <a:prstGeom prst="rect">
            <a:avLst/>
          </a:prstGeom>
          <a:noFill/>
          <a:ln/>
        </p:spPr>
        <p:txBody>
          <a:bodyPr wrap="square" lIns="0" tIns="0" rIns="0" bIns="0" rtlCol="0" anchor="ctr"/>
          <a:lstStyle/>
          <a:p>
            <a:pPr marL="0" indent="0">
              <a:buNone/>
            </a:pPr>
            <a:r>
              <a:rPr lang="en-US" sz="1200" b="1" kern="0" spc="100" dirty="0">
                <a:solidFill>
                  <a:srgbClr val="9AD1D4"/>
                </a:solidFill>
                <a:latin typeface="Calibri" pitchFamily="34" charset="0"/>
                <a:ea typeface="Calibri" pitchFamily="34" charset="-122"/>
                <a:cs typeface="Calibri" pitchFamily="34" charset="-120"/>
              </a:rPr>
              <a:t>Primary questions</a:t>
            </a:r>
            <a:endParaRPr lang="en-US" sz="1200" dirty="0"/>
          </a:p>
        </p:txBody>
      </p:sp>
      <p:sp>
        <p:nvSpPr>
          <p:cNvPr id="10" name="Text 7"/>
          <p:cNvSpPr/>
          <p:nvPr/>
        </p:nvSpPr>
        <p:spPr>
          <a:xfrm>
            <a:off x="658368" y="3602736"/>
            <a:ext cx="3749040" cy="822960"/>
          </a:xfrm>
          <a:prstGeom prst="rect">
            <a:avLst/>
          </a:prstGeom>
          <a:noFill/>
          <a:ln/>
        </p:spPr>
        <p:txBody>
          <a:bodyPr wrap="square" lIns="0" tIns="0" rIns="0" bIns="0" rtlCol="0" anchor="ctr"/>
          <a:lstStyle/>
          <a:p>
            <a:pPr marL="0" indent="0">
              <a:lnSpc>
                <a:spcPct val="110000"/>
              </a:lnSpc>
              <a:buNone/>
            </a:pPr>
            <a:r>
              <a:rPr lang="en-US" sz="1700" b="1" dirty="0">
                <a:solidFill>
                  <a:srgbClr val="FFFFFF"/>
                </a:solidFill>
                <a:latin typeface="Cambria" pitchFamily="34" charset="0"/>
                <a:ea typeface="Cambria" pitchFamily="34" charset="-122"/>
                <a:cs typeface="Cambria" pitchFamily="34" charset="-120"/>
              </a:rPr>
              <a:t>How?   Why?   Why not?</a:t>
            </a:r>
            <a:endParaRPr lang="en-US" sz="1700" dirty="0"/>
          </a:p>
          <a:p>
            <a:pPr marL="0" indent="0">
              <a:lnSpc>
                <a:spcPct val="110000"/>
              </a:lnSpc>
              <a:buNone/>
            </a:pPr>
            <a:r>
              <a:rPr lang="en-US" sz="1700" b="1" dirty="0">
                <a:solidFill>
                  <a:srgbClr val="FFFFFF"/>
                </a:solidFill>
                <a:latin typeface="Cambria" pitchFamily="34" charset="0"/>
                <a:ea typeface="Cambria" pitchFamily="34" charset="-122"/>
                <a:cs typeface="Cambria" pitchFamily="34" charset="-120"/>
              </a:rPr>
              <a:t>What if?   How to still be this?</a:t>
            </a:r>
            <a:endParaRPr lang="en-US" sz="1700" dirty="0"/>
          </a:p>
        </p:txBody>
      </p:sp>
      <p:sp>
        <p:nvSpPr>
          <p:cNvPr id="11" name="Text 8"/>
          <p:cNvSpPr/>
          <p:nvPr/>
        </p:nvSpPr>
        <p:spPr>
          <a:xfrm>
            <a:off x="4800600" y="1371600"/>
            <a:ext cx="3886200" cy="292608"/>
          </a:xfrm>
          <a:prstGeom prst="rect">
            <a:avLst/>
          </a:prstGeom>
          <a:noFill/>
          <a:ln/>
        </p:spPr>
        <p:txBody>
          <a:bodyPr wrap="square" lIns="0" tIns="0" rIns="0" bIns="0" rtlCol="0" anchor="ctr"/>
          <a:lstStyle/>
          <a:p>
            <a:pPr marL="0" indent="0">
              <a:buNone/>
            </a:pPr>
            <a:r>
              <a:rPr lang="en-US" sz="1300" b="1" dirty="0">
                <a:solidFill>
                  <a:srgbClr val="0E5E5C"/>
                </a:solidFill>
                <a:latin typeface="Calibri" pitchFamily="34" charset="0"/>
                <a:ea typeface="Calibri" pitchFamily="34" charset="-122"/>
                <a:cs typeface="Calibri" pitchFamily="34" charset="-120"/>
              </a:rPr>
              <a:t>9 explainability-needs categories</a:t>
            </a:r>
            <a:endParaRPr lang="en-US" sz="1300" dirty="0"/>
          </a:p>
        </p:txBody>
      </p:sp>
      <p:sp>
        <p:nvSpPr>
          <p:cNvPr id="12" name="Shape 9"/>
          <p:cNvSpPr/>
          <p:nvPr/>
        </p:nvSpPr>
        <p:spPr>
          <a:xfrm>
            <a:off x="4800600" y="1719072"/>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Text 10"/>
          <p:cNvSpPr/>
          <p:nvPr/>
        </p:nvSpPr>
        <p:spPr>
          <a:xfrm>
            <a:off x="4855464" y="1719072"/>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Data</a:t>
            </a:r>
            <a:endParaRPr lang="en-US" sz="1150" dirty="0"/>
          </a:p>
        </p:txBody>
      </p:sp>
      <p:sp>
        <p:nvSpPr>
          <p:cNvPr id="14" name="Shape 11"/>
          <p:cNvSpPr/>
          <p:nvPr/>
        </p:nvSpPr>
        <p:spPr>
          <a:xfrm>
            <a:off x="6126480" y="1719072"/>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5" name="Text 12"/>
          <p:cNvSpPr/>
          <p:nvPr/>
        </p:nvSpPr>
        <p:spPr>
          <a:xfrm>
            <a:off x="6181344" y="1719072"/>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Output</a:t>
            </a:r>
            <a:endParaRPr lang="en-US" sz="1150" dirty="0"/>
          </a:p>
        </p:txBody>
      </p:sp>
      <p:sp>
        <p:nvSpPr>
          <p:cNvPr id="16" name="Shape 13"/>
          <p:cNvSpPr/>
          <p:nvPr/>
        </p:nvSpPr>
        <p:spPr>
          <a:xfrm>
            <a:off x="7452360" y="1719072"/>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Text 14"/>
          <p:cNvSpPr/>
          <p:nvPr/>
        </p:nvSpPr>
        <p:spPr>
          <a:xfrm>
            <a:off x="7507224" y="1719072"/>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Performance</a:t>
            </a:r>
            <a:endParaRPr lang="en-US" sz="1150" dirty="0"/>
          </a:p>
        </p:txBody>
      </p:sp>
      <p:sp>
        <p:nvSpPr>
          <p:cNvPr id="18" name="Shape 15"/>
          <p:cNvSpPr/>
          <p:nvPr/>
        </p:nvSpPr>
        <p:spPr>
          <a:xfrm>
            <a:off x="4800600" y="2596896"/>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9" name="Text 16"/>
          <p:cNvSpPr/>
          <p:nvPr/>
        </p:nvSpPr>
        <p:spPr>
          <a:xfrm>
            <a:off x="4855464" y="2596896"/>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How (global)</a:t>
            </a:r>
            <a:endParaRPr lang="en-US" sz="1150" dirty="0"/>
          </a:p>
        </p:txBody>
      </p:sp>
      <p:sp>
        <p:nvSpPr>
          <p:cNvPr id="20" name="Shape 17"/>
          <p:cNvSpPr/>
          <p:nvPr/>
        </p:nvSpPr>
        <p:spPr>
          <a:xfrm>
            <a:off x="6126480" y="2596896"/>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1" name="Text 18"/>
          <p:cNvSpPr/>
          <p:nvPr/>
        </p:nvSpPr>
        <p:spPr>
          <a:xfrm>
            <a:off x="6181344" y="2596896"/>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Why (local)</a:t>
            </a:r>
            <a:endParaRPr lang="en-US" sz="1150" dirty="0"/>
          </a:p>
        </p:txBody>
      </p:sp>
      <p:sp>
        <p:nvSpPr>
          <p:cNvPr id="22" name="Shape 19"/>
          <p:cNvSpPr/>
          <p:nvPr/>
        </p:nvSpPr>
        <p:spPr>
          <a:xfrm>
            <a:off x="7452360" y="2596896"/>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Text 20"/>
          <p:cNvSpPr/>
          <p:nvPr/>
        </p:nvSpPr>
        <p:spPr>
          <a:xfrm>
            <a:off x="7507224" y="2596896"/>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Why not</a:t>
            </a:r>
            <a:endParaRPr lang="en-US" sz="1150" dirty="0"/>
          </a:p>
        </p:txBody>
      </p:sp>
      <p:sp>
        <p:nvSpPr>
          <p:cNvPr id="24" name="Shape 21"/>
          <p:cNvSpPr/>
          <p:nvPr/>
        </p:nvSpPr>
        <p:spPr>
          <a:xfrm>
            <a:off x="4800600" y="3474720"/>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5" name="Text 22"/>
          <p:cNvSpPr/>
          <p:nvPr/>
        </p:nvSpPr>
        <p:spPr>
          <a:xfrm>
            <a:off x="4855464" y="3474720"/>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What if</a:t>
            </a:r>
            <a:endParaRPr lang="en-US" sz="1150" dirty="0"/>
          </a:p>
        </p:txBody>
      </p:sp>
      <p:sp>
        <p:nvSpPr>
          <p:cNvPr id="26" name="Shape 23"/>
          <p:cNvSpPr/>
          <p:nvPr/>
        </p:nvSpPr>
        <p:spPr>
          <a:xfrm>
            <a:off x="6126480" y="3474720"/>
            <a:ext cx="1234440" cy="76809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7" name="Text 24"/>
          <p:cNvSpPr/>
          <p:nvPr/>
        </p:nvSpPr>
        <p:spPr>
          <a:xfrm>
            <a:off x="6181344" y="3474720"/>
            <a:ext cx="1124712" cy="76809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How to be that</a:t>
            </a:r>
            <a:endParaRPr lang="en-US" sz="1150" dirty="0"/>
          </a:p>
        </p:txBody>
      </p:sp>
      <p:sp>
        <p:nvSpPr>
          <p:cNvPr id="28" name="Shape 25"/>
          <p:cNvSpPr/>
          <p:nvPr/>
        </p:nvSpPr>
        <p:spPr>
          <a:xfrm>
            <a:off x="7452360" y="3474720"/>
            <a:ext cx="1234440" cy="768096"/>
          </a:xfrm>
          <a:prstGeom prst="roundRect">
            <a:avLst>
              <a:gd name="adj" fmla="val 9524"/>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29" name="Text 26"/>
          <p:cNvSpPr/>
          <p:nvPr/>
        </p:nvSpPr>
        <p:spPr>
          <a:xfrm>
            <a:off x="7507224" y="3474720"/>
            <a:ext cx="1124712" cy="768096"/>
          </a:xfrm>
          <a:prstGeom prst="rect">
            <a:avLst/>
          </a:prstGeom>
          <a:noFill/>
          <a:ln/>
        </p:spPr>
        <p:txBody>
          <a:bodyPr wrap="square" lIns="0" tIns="0" rIns="0" bIns="0" rtlCol="0" anchor="ctr"/>
          <a:lstStyle/>
          <a:p>
            <a:pPr marL="0" indent="0" algn="ctr">
              <a:buNone/>
            </a:pPr>
            <a:r>
              <a:rPr lang="en-US" sz="1150" b="1" dirty="0">
                <a:solidFill>
                  <a:srgbClr val="0A2E36"/>
                </a:solidFill>
                <a:latin typeface="Calibri" pitchFamily="34" charset="0"/>
                <a:ea typeface="Calibri" pitchFamily="34" charset="-122"/>
                <a:cs typeface="Calibri" pitchFamily="34" charset="-120"/>
              </a:rPr>
              <a:t>UI (added)</a:t>
            </a:r>
            <a:endParaRPr lang="en-US" sz="1150" dirty="0"/>
          </a:p>
        </p:txBody>
      </p:sp>
      <p:sp>
        <p:nvSpPr>
          <p:cNvPr id="30"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7</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4"/>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Study design</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From source code to a quantitative comparison of explanations</a:t>
            </a:r>
            <a:endParaRPr lang="en-US" sz="1250" dirty="0"/>
          </a:p>
        </p:txBody>
      </p:sp>
      <p:sp>
        <p:nvSpPr>
          <p:cNvPr id="6" name="Shape 3"/>
          <p:cNvSpPr/>
          <p:nvPr/>
        </p:nvSpPr>
        <p:spPr>
          <a:xfrm>
            <a:off x="365760" y="2240280"/>
            <a:ext cx="960120" cy="914400"/>
          </a:xfrm>
          <a:prstGeom prst="roundRect">
            <a:avLst>
              <a:gd name="adj" fmla="val 8000"/>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40994" y="2335378"/>
            <a:ext cx="365760" cy="365760"/>
          </a:xfrm>
          <a:prstGeom prst="ellipse">
            <a:avLst/>
          </a:prstGeom>
          <a:solidFill>
            <a:srgbClr val="E9B44C"/>
          </a:solidFill>
          <a:ln/>
        </p:spPr>
        <p:txBody>
          <a:bodyPr/>
          <a:lstStyle/>
          <a:p>
            <a:endParaRPr lang="en-DE"/>
          </a:p>
        </p:txBody>
      </p:sp>
      <p:pic>
        <p:nvPicPr>
          <p:cNvPr id="8" name="Image 1" descr="preencoded.png"/>
          <p:cNvPicPr>
            <a:picLocks noChangeAspect="1"/>
          </p:cNvPicPr>
          <p:nvPr/>
        </p:nvPicPr>
        <p:blipFill>
          <a:blip r:embed="rId5"/>
          <a:stretch>
            <a:fillRect/>
          </a:stretch>
        </p:blipFill>
        <p:spPr>
          <a:xfrm>
            <a:off x="736092" y="2430476"/>
            <a:ext cx="175565" cy="175565"/>
          </a:xfrm>
          <a:prstGeom prst="rect">
            <a:avLst/>
          </a:prstGeom>
        </p:spPr>
      </p:pic>
      <p:sp>
        <p:nvSpPr>
          <p:cNvPr id="9" name="Text 5"/>
          <p:cNvSpPr/>
          <p:nvPr/>
        </p:nvSpPr>
        <p:spPr>
          <a:xfrm>
            <a:off x="365760" y="2715768"/>
            <a:ext cx="9601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Data</a:t>
            </a:r>
            <a:endParaRPr lang="en-US" sz="1250" dirty="0"/>
          </a:p>
        </p:txBody>
      </p:sp>
      <p:sp>
        <p:nvSpPr>
          <p:cNvPr id="10" name="Shape 6"/>
          <p:cNvSpPr/>
          <p:nvPr/>
        </p:nvSpPr>
        <p:spPr>
          <a:xfrm>
            <a:off x="1371600" y="2697480"/>
            <a:ext cx="292608" cy="0"/>
          </a:xfrm>
          <a:prstGeom prst="line">
            <a:avLst/>
          </a:prstGeom>
          <a:noFill/>
          <a:ln w="34925">
            <a:solidFill>
              <a:srgbClr val="3E9D9B"/>
            </a:solidFill>
            <a:prstDash val="solid"/>
            <a:tailEnd type="triangle"/>
          </a:ln>
        </p:spPr>
        <p:txBody>
          <a:bodyPr/>
          <a:lstStyle/>
          <a:p>
            <a:endParaRPr lang="en-DE"/>
          </a:p>
        </p:txBody>
      </p:sp>
      <p:sp>
        <p:nvSpPr>
          <p:cNvPr id="11" name="Shape 7"/>
          <p:cNvSpPr/>
          <p:nvPr/>
        </p:nvSpPr>
        <p:spPr>
          <a:xfrm>
            <a:off x="1755648" y="1828799"/>
            <a:ext cx="2331720" cy="1806309"/>
          </a:xfrm>
          <a:prstGeom prst="roundRect">
            <a:avLst>
              <a:gd name="adj" fmla="val 4211"/>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2" name="Text 8"/>
          <p:cNvSpPr/>
          <p:nvPr/>
        </p:nvSpPr>
        <p:spPr>
          <a:xfrm>
            <a:off x="1755648" y="1911096"/>
            <a:ext cx="2331720"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AI System</a:t>
            </a:r>
            <a:endParaRPr lang="en-US" sz="1250" dirty="0"/>
          </a:p>
        </p:txBody>
      </p:sp>
      <p:sp>
        <p:nvSpPr>
          <p:cNvPr id="13" name="Shape 9"/>
          <p:cNvSpPr/>
          <p:nvPr/>
        </p:nvSpPr>
        <p:spPr>
          <a:xfrm>
            <a:off x="1883664" y="2240280"/>
            <a:ext cx="2075688" cy="292608"/>
          </a:xfrm>
          <a:prstGeom prst="roundRect">
            <a:avLst>
              <a:gd name="adj" fmla="val 12500"/>
            </a:avLst>
          </a:prstGeom>
          <a:solidFill>
            <a:srgbClr val="FFFFFF">
              <a:alpha val="92000"/>
            </a:srgbClr>
          </a:solidFill>
          <a:ln/>
        </p:spPr>
        <p:txBody>
          <a:bodyPr/>
          <a:lstStyle/>
          <a:p>
            <a:endParaRPr lang="en-DE"/>
          </a:p>
        </p:txBody>
      </p:sp>
      <p:sp>
        <p:nvSpPr>
          <p:cNvPr id="14" name="Text 10"/>
          <p:cNvSpPr/>
          <p:nvPr/>
        </p:nvSpPr>
        <p:spPr>
          <a:xfrm>
            <a:off x="1938528" y="2240280"/>
            <a:ext cx="2011680" cy="292608"/>
          </a:xfrm>
          <a:prstGeom prst="rect">
            <a:avLst/>
          </a:prstGeom>
          <a:noFill/>
          <a:ln/>
        </p:spPr>
        <p:txBody>
          <a:bodyPr wrap="square" lIns="0" tIns="0" rIns="0" bIns="0" rtlCol="0" anchor="ctr"/>
          <a:lstStyle/>
          <a:p>
            <a:pPr marL="0" indent="0">
              <a:buNone/>
            </a:pPr>
            <a:r>
              <a:rPr lang="en-US" sz="950" b="1" dirty="0">
                <a:solidFill>
                  <a:srgbClr val="0E5E5C"/>
                </a:solidFill>
                <a:latin typeface="Calibri" pitchFamily="34" charset="0"/>
                <a:ea typeface="Calibri" pitchFamily="34" charset="-122"/>
                <a:cs typeface="Calibri" pitchFamily="34" charset="-120"/>
              </a:rPr>
              <a:t>1 · Exploratory data analysis</a:t>
            </a:r>
            <a:endParaRPr lang="en-US" sz="950" dirty="0"/>
          </a:p>
        </p:txBody>
      </p:sp>
      <p:sp>
        <p:nvSpPr>
          <p:cNvPr id="15" name="Shape 11"/>
          <p:cNvSpPr/>
          <p:nvPr/>
        </p:nvSpPr>
        <p:spPr>
          <a:xfrm>
            <a:off x="1883664" y="2578608"/>
            <a:ext cx="2075688" cy="292608"/>
          </a:xfrm>
          <a:prstGeom prst="roundRect">
            <a:avLst>
              <a:gd name="adj" fmla="val 12500"/>
            </a:avLst>
          </a:prstGeom>
          <a:solidFill>
            <a:srgbClr val="FFFFFF">
              <a:alpha val="92000"/>
            </a:srgbClr>
          </a:solidFill>
          <a:ln/>
        </p:spPr>
        <p:txBody>
          <a:bodyPr/>
          <a:lstStyle/>
          <a:p>
            <a:endParaRPr lang="en-DE"/>
          </a:p>
        </p:txBody>
      </p:sp>
      <p:sp>
        <p:nvSpPr>
          <p:cNvPr id="16" name="Text 12"/>
          <p:cNvSpPr/>
          <p:nvPr/>
        </p:nvSpPr>
        <p:spPr>
          <a:xfrm>
            <a:off x="1938528" y="2578608"/>
            <a:ext cx="2011680" cy="292608"/>
          </a:xfrm>
          <a:prstGeom prst="rect">
            <a:avLst/>
          </a:prstGeom>
          <a:noFill/>
          <a:ln/>
        </p:spPr>
        <p:txBody>
          <a:bodyPr wrap="square" lIns="0" tIns="0" rIns="0" bIns="0" rtlCol="0" anchor="ctr"/>
          <a:lstStyle/>
          <a:p>
            <a:pPr marL="0" indent="0">
              <a:buNone/>
            </a:pPr>
            <a:r>
              <a:rPr lang="en-US" sz="950" b="1" dirty="0">
                <a:solidFill>
                  <a:srgbClr val="0E5E5C"/>
                </a:solidFill>
                <a:latin typeface="Calibri" pitchFamily="34" charset="0"/>
                <a:ea typeface="Calibri" pitchFamily="34" charset="-122"/>
                <a:cs typeface="Calibri" pitchFamily="34" charset="-120"/>
              </a:rPr>
              <a:t>2 · Modelling</a:t>
            </a:r>
            <a:endParaRPr lang="en-US" sz="950" dirty="0"/>
          </a:p>
        </p:txBody>
      </p:sp>
      <p:sp>
        <p:nvSpPr>
          <p:cNvPr id="17" name="Shape 13"/>
          <p:cNvSpPr/>
          <p:nvPr/>
        </p:nvSpPr>
        <p:spPr>
          <a:xfrm>
            <a:off x="1883664" y="2916936"/>
            <a:ext cx="2075688" cy="292608"/>
          </a:xfrm>
          <a:prstGeom prst="roundRect">
            <a:avLst>
              <a:gd name="adj" fmla="val 12500"/>
            </a:avLst>
          </a:prstGeom>
          <a:solidFill>
            <a:srgbClr val="FFFFFF">
              <a:alpha val="92000"/>
            </a:srgbClr>
          </a:solidFill>
          <a:ln/>
        </p:spPr>
        <p:txBody>
          <a:bodyPr/>
          <a:lstStyle/>
          <a:p>
            <a:endParaRPr lang="en-DE"/>
          </a:p>
        </p:txBody>
      </p:sp>
      <p:sp>
        <p:nvSpPr>
          <p:cNvPr id="18" name="Text 14"/>
          <p:cNvSpPr/>
          <p:nvPr/>
        </p:nvSpPr>
        <p:spPr>
          <a:xfrm>
            <a:off x="1938528" y="2916936"/>
            <a:ext cx="2011680" cy="292608"/>
          </a:xfrm>
          <a:prstGeom prst="rect">
            <a:avLst/>
          </a:prstGeom>
          <a:noFill/>
          <a:ln/>
        </p:spPr>
        <p:txBody>
          <a:bodyPr wrap="square" lIns="0" tIns="0" rIns="0" bIns="0" rtlCol="0" anchor="ctr"/>
          <a:lstStyle/>
          <a:p>
            <a:pPr marL="0" indent="0">
              <a:buNone/>
            </a:pPr>
            <a:r>
              <a:rPr lang="en-US" sz="950" b="1" dirty="0">
                <a:solidFill>
                  <a:srgbClr val="0E5E5C"/>
                </a:solidFill>
                <a:latin typeface="Calibri" pitchFamily="34" charset="0"/>
                <a:ea typeface="Calibri" pitchFamily="34" charset="-122"/>
                <a:cs typeface="Calibri" pitchFamily="34" charset="-120"/>
              </a:rPr>
              <a:t>3 · Explanations</a:t>
            </a:r>
            <a:endParaRPr lang="en-US" sz="950" dirty="0"/>
          </a:p>
        </p:txBody>
      </p:sp>
      <p:sp>
        <p:nvSpPr>
          <p:cNvPr id="19" name="Shape 15"/>
          <p:cNvSpPr/>
          <p:nvPr/>
        </p:nvSpPr>
        <p:spPr>
          <a:xfrm>
            <a:off x="1883664" y="3255264"/>
            <a:ext cx="2075688" cy="292608"/>
          </a:xfrm>
          <a:prstGeom prst="roundRect">
            <a:avLst>
              <a:gd name="adj" fmla="val 12500"/>
            </a:avLst>
          </a:prstGeom>
          <a:solidFill>
            <a:srgbClr val="FFFFFF">
              <a:alpha val="92000"/>
            </a:srgbClr>
          </a:solidFill>
          <a:ln/>
        </p:spPr>
        <p:txBody>
          <a:bodyPr/>
          <a:lstStyle/>
          <a:p>
            <a:endParaRPr lang="en-DE"/>
          </a:p>
        </p:txBody>
      </p:sp>
      <p:sp>
        <p:nvSpPr>
          <p:cNvPr id="20" name="Text 16"/>
          <p:cNvSpPr/>
          <p:nvPr/>
        </p:nvSpPr>
        <p:spPr>
          <a:xfrm>
            <a:off x="1938528" y="3255264"/>
            <a:ext cx="2011680" cy="292608"/>
          </a:xfrm>
          <a:prstGeom prst="rect">
            <a:avLst/>
          </a:prstGeom>
          <a:noFill/>
          <a:ln/>
        </p:spPr>
        <p:txBody>
          <a:bodyPr wrap="square" lIns="0" tIns="0" rIns="0" bIns="0" rtlCol="0" anchor="ctr"/>
          <a:lstStyle/>
          <a:p>
            <a:pPr marL="0" indent="0">
              <a:buNone/>
            </a:pPr>
            <a:r>
              <a:rPr lang="en-US" sz="950" b="1" dirty="0">
                <a:solidFill>
                  <a:srgbClr val="0E5E5C"/>
                </a:solidFill>
                <a:latin typeface="Calibri" pitchFamily="34" charset="0"/>
                <a:ea typeface="Calibri" pitchFamily="34" charset="-122"/>
                <a:cs typeface="Calibri" pitchFamily="34" charset="-120"/>
              </a:rPr>
              <a:t>4 · What-If? dashboard (UI)</a:t>
            </a:r>
            <a:endParaRPr lang="en-US" sz="950" dirty="0"/>
          </a:p>
        </p:txBody>
      </p:sp>
      <p:sp>
        <p:nvSpPr>
          <p:cNvPr id="21" name="Shape 17"/>
          <p:cNvSpPr/>
          <p:nvPr/>
        </p:nvSpPr>
        <p:spPr>
          <a:xfrm>
            <a:off x="4114800" y="2697480"/>
            <a:ext cx="292608" cy="0"/>
          </a:xfrm>
          <a:prstGeom prst="line">
            <a:avLst/>
          </a:prstGeom>
          <a:noFill/>
          <a:ln w="34925">
            <a:solidFill>
              <a:srgbClr val="3E9D9B"/>
            </a:solidFill>
            <a:prstDash val="solid"/>
            <a:tailEnd type="triangle"/>
          </a:ln>
        </p:spPr>
        <p:txBody>
          <a:bodyPr/>
          <a:lstStyle/>
          <a:p>
            <a:endParaRPr lang="en-DE"/>
          </a:p>
        </p:txBody>
      </p:sp>
      <p:sp>
        <p:nvSpPr>
          <p:cNvPr id="22" name="Shape 18"/>
          <p:cNvSpPr/>
          <p:nvPr/>
        </p:nvSpPr>
        <p:spPr>
          <a:xfrm>
            <a:off x="4443984" y="2240280"/>
            <a:ext cx="1417320" cy="914400"/>
          </a:xfrm>
          <a:prstGeom prst="roundRect">
            <a:avLst>
              <a:gd name="adj" fmla="val 800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Shape 19"/>
          <p:cNvSpPr/>
          <p:nvPr/>
        </p:nvSpPr>
        <p:spPr>
          <a:xfrm>
            <a:off x="4572000" y="2240280"/>
            <a:ext cx="365760" cy="365760"/>
          </a:xfrm>
          <a:prstGeom prst="ellipse">
            <a:avLst/>
          </a:prstGeom>
          <a:solidFill>
            <a:srgbClr val="127475"/>
          </a:solidFill>
          <a:ln/>
        </p:spPr>
        <p:txBody>
          <a:bodyPr/>
          <a:lstStyle/>
          <a:p>
            <a:endParaRPr lang="en-DE"/>
          </a:p>
        </p:txBody>
      </p:sp>
      <p:pic>
        <p:nvPicPr>
          <p:cNvPr id="24" name="Image 2" descr="preencoded.png"/>
          <p:cNvPicPr>
            <a:picLocks noChangeAspect="1"/>
          </p:cNvPicPr>
          <p:nvPr/>
        </p:nvPicPr>
        <p:blipFill>
          <a:blip r:embed="rId6"/>
          <a:stretch>
            <a:fillRect/>
          </a:stretch>
        </p:blipFill>
        <p:spPr>
          <a:xfrm>
            <a:off x="4667098" y="2335378"/>
            <a:ext cx="175565" cy="175565"/>
          </a:xfrm>
          <a:prstGeom prst="rect">
            <a:avLst/>
          </a:prstGeom>
        </p:spPr>
      </p:pic>
      <p:sp>
        <p:nvSpPr>
          <p:cNvPr id="25" name="Text 20"/>
          <p:cNvSpPr/>
          <p:nvPr/>
        </p:nvSpPr>
        <p:spPr>
          <a:xfrm>
            <a:off x="4443984" y="2679192"/>
            <a:ext cx="1417320" cy="457200"/>
          </a:xfrm>
          <a:prstGeom prst="rect">
            <a:avLst/>
          </a:prstGeom>
          <a:noFill/>
          <a:ln/>
        </p:spPr>
        <p:txBody>
          <a:bodyPr wrap="square" lIns="0" tIns="0" rIns="0" bIns="0" rtlCol="0" anchor="ctr"/>
          <a:lstStyle/>
          <a:p>
            <a:pPr marL="0" indent="0" algn="ctr">
              <a:buNone/>
            </a:pPr>
            <a:r>
              <a:rPr lang="en-US" sz="1050" b="1" dirty="0">
                <a:solidFill>
                  <a:srgbClr val="0A2E36"/>
                </a:solidFill>
                <a:latin typeface="Calibri" pitchFamily="34" charset="0"/>
                <a:ea typeface="Calibri" pitchFamily="34" charset="-122"/>
                <a:cs typeface="Calibri" pitchFamily="34" charset="-120"/>
              </a:rPr>
              <a:t>Instructional</a:t>
            </a:r>
            <a:endParaRPr lang="en-US" sz="1050" dirty="0"/>
          </a:p>
          <a:p>
            <a:pPr marL="0" indent="0" algn="ctr">
              <a:buNone/>
            </a:pPr>
            <a:r>
              <a:rPr lang="en-US" sz="1050" b="1" dirty="0">
                <a:solidFill>
                  <a:srgbClr val="0A2E36"/>
                </a:solidFill>
                <a:latin typeface="Calibri" pitchFamily="34" charset="0"/>
                <a:ea typeface="Calibri" pitchFamily="34" charset="-122"/>
                <a:cs typeface="Calibri" pitchFamily="34" charset="-120"/>
              </a:rPr>
              <a:t>template (JSON)</a:t>
            </a:r>
            <a:endParaRPr lang="en-US" sz="1050" dirty="0"/>
          </a:p>
        </p:txBody>
      </p:sp>
      <p:sp>
        <p:nvSpPr>
          <p:cNvPr id="26" name="Shape 21"/>
          <p:cNvSpPr/>
          <p:nvPr/>
        </p:nvSpPr>
        <p:spPr>
          <a:xfrm>
            <a:off x="5888736" y="2697480"/>
            <a:ext cx="274320" cy="0"/>
          </a:xfrm>
          <a:prstGeom prst="line">
            <a:avLst/>
          </a:prstGeom>
          <a:noFill/>
          <a:ln w="34925">
            <a:solidFill>
              <a:srgbClr val="3E9D9B"/>
            </a:solidFill>
            <a:prstDash val="solid"/>
            <a:tailEnd type="triangle"/>
          </a:ln>
        </p:spPr>
        <p:txBody>
          <a:bodyPr/>
          <a:lstStyle/>
          <a:p>
            <a:endParaRPr lang="en-DE"/>
          </a:p>
        </p:txBody>
      </p:sp>
      <p:sp>
        <p:nvSpPr>
          <p:cNvPr id="27" name="Shape 22"/>
          <p:cNvSpPr/>
          <p:nvPr/>
        </p:nvSpPr>
        <p:spPr>
          <a:xfrm>
            <a:off x="6181344" y="1984248"/>
            <a:ext cx="141732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8" name="Text 23"/>
          <p:cNvSpPr/>
          <p:nvPr/>
        </p:nvSpPr>
        <p:spPr>
          <a:xfrm>
            <a:off x="6181344" y="1984248"/>
            <a:ext cx="1417320" cy="603504"/>
          </a:xfrm>
          <a:prstGeom prst="rect">
            <a:avLst/>
          </a:prstGeom>
          <a:noFill/>
          <a:ln/>
        </p:spPr>
        <p:txBody>
          <a:bodyPr wrap="square" lIns="0" tIns="0" rIns="0" bIns="0" rtlCol="0" anchor="ctr"/>
          <a:lstStyle/>
          <a:p>
            <a:pPr marL="0" indent="0" algn="ctr">
              <a:buNone/>
            </a:pPr>
            <a:r>
              <a:rPr lang="en-US" sz="1050" b="1" dirty="0">
                <a:solidFill>
                  <a:srgbClr val="0E5E5C"/>
                </a:solidFill>
                <a:latin typeface="Calibri" pitchFamily="34" charset="0"/>
                <a:ea typeface="Calibri" pitchFamily="34" charset="-122"/>
                <a:cs typeface="Calibri" pitchFamily="34" charset="-120"/>
              </a:rPr>
              <a:t>Human answers</a:t>
            </a:r>
            <a:endParaRPr lang="en-US" sz="1050" dirty="0"/>
          </a:p>
        </p:txBody>
      </p:sp>
      <p:sp>
        <p:nvSpPr>
          <p:cNvPr id="29" name="Shape 24"/>
          <p:cNvSpPr/>
          <p:nvPr/>
        </p:nvSpPr>
        <p:spPr>
          <a:xfrm>
            <a:off x="6181344" y="2752344"/>
            <a:ext cx="1417320" cy="603504"/>
          </a:xfrm>
          <a:prstGeom prst="roundRect">
            <a:avLst>
              <a:gd name="adj" fmla="val 1212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30" name="Text 25"/>
          <p:cNvSpPr/>
          <p:nvPr/>
        </p:nvSpPr>
        <p:spPr>
          <a:xfrm>
            <a:off x="6181344" y="2752344"/>
            <a:ext cx="1417320" cy="60350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LLM answers</a:t>
            </a:r>
            <a:endParaRPr lang="en-US" sz="1050" dirty="0"/>
          </a:p>
        </p:txBody>
      </p:sp>
      <p:sp>
        <p:nvSpPr>
          <p:cNvPr id="31" name="Shape 26"/>
          <p:cNvSpPr/>
          <p:nvPr/>
        </p:nvSpPr>
        <p:spPr>
          <a:xfrm>
            <a:off x="7626096" y="2697480"/>
            <a:ext cx="274320" cy="0"/>
          </a:xfrm>
          <a:prstGeom prst="line">
            <a:avLst/>
          </a:prstGeom>
          <a:noFill/>
          <a:ln w="34925">
            <a:solidFill>
              <a:srgbClr val="3E9D9B"/>
            </a:solidFill>
            <a:prstDash val="solid"/>
            <a:tailEnd type="triangle"/>
          </a:ln>
        </p:spPr>
        <p:txBody>
          <a:bodyPr/>
          <a:lstStyle/>
          <a:p>
            <a:endParaRPr lang="en-DE"/>
          </a:p>
        </p:txBody>
      </p:sp>
      <p:sp>
        <p:nvSpPr>
          <p:cNvPr id="32" name="Shape 27"/>
          <p:cNvSpPr/>
          <p:nvPr/>
        </p:nvSpPr>
        <p:spPr>
          <a:xfrm>
            <a:off x="7900416" y="2240280"/>
            <a:ext cx="914400" cy="914400"/>
          </a:xfrm>
          <a:prstGeom prst="roundRect">
            <a:avLst>
              <a:gd name="adj" fmla="val 8000"/>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33" name="Shape 28"/>
          <p:cNvSpPr/>
          <p:nvPr/>
        </p:nvSpPr>
        <p:spPr>
          <a:xfrm>
            <a:off x="8174735" y="2302730"/>
            <a:ext cx="365760" cy="365760"/>
          </a:xfrm>
          <a:prstGeom prst="ellipse">
            <a:avLst/>
          </a:prstGeom>
          <a:solidFill>
            <a:srgbClr val="0A2E36"/>
          </a:solidFill>
          <a:ln/>
        </p:spPr>
        <p:txBody>
          <a:bodyPr/>
          <a:lstStyle/>
          <a:p>
            <a:endParaRPr lang="en-DE"/>
          </a:p>
        </p:txBody>
      </p:sp>
      <p:pic>
        <p:nvPicPr>
          <p:cNvPr id="34" name="Image 3" descr="preencoded.png"/>
          <p:cNvPicPr>
            <a:picLocks noChangeAspect="1"/>
          </p:cNvPicPr>
          <p:nvPr/>
        </p:nvPicPr>
        <p:blipFill>
          <a:blip r:embed="rId7"/>
          <a:stretch>
            <a:fillRect/>
          </a:stretch>
        </p:blipFill>
        <p:spPr>
          <a:xfrm>
            <a:off x="8269833" y="2397828"/>
            <a:ext cx="175565" cy="175565"/>
          </a:xfrm>
          <a:prstGeom prst="rect">
            <a:avLst/>
          </a:prstGeom>
        </p:spPr>
      </p:pic>
      <p:sp>
        <p:nvSpPr>
          <p:cNvPr id="35" name="Text 29"/>
          <p:cNvSpPr/>
          <p:nvPr/>
        </p:nvSpPr>
        <p:spPr>
          <a:xfrm>
            <a:off x="7900416" y="2715768"/>
            <a:ext cx="914400" cy="365760"/>
          </a:xfrm>
          <a:prstGeom prst="rect">
            <a:avLst/>
          </a:prstGeom>
          <a:noFill/>
          <a:ln/>
        </p:spPr>
        <p:txBody>
          <a:bodyPr wrap="square" lIns="0" tIns="0" rIns="0" bIns="0" rtlCol="0" anchor="ctr"/>
          <a:lstStyle/>
          <a:p>
            <a:pPr marL="0" indent="0" algn="ctr">
              <a:buNone/>
            </a:pPr>
            <a:r>
              <a:rPr lang="en-US" sz="1100" b="1" dirty="0">
                <a:solidFill>
                  <a:srgbClr val="0A2E36"/>
                </a:solidFill>
                <a:latin typeface="Cambria" pitchFamily="34" charset="0"/>
                <a:ea typeface="Cambria" pitchFamily="34" charset="-122"/>
                <a:cs typeface="Cambria" pitchFamily="34" charset="-120"/>
              </a:rPr>
              <a:t>Evaluation</a:t>
            </a:r>
            <a:endParaRPr lang="en-US" sz="1100" dirty="0"/>
          </a:p>
        </p:txBody>
      </p:sp>
      <p:sp>
        <p:nvSpPr>
          <p:cNvPr id="36" name="Shape 30"/>
          <p:cNvSpPr/>
          <p:nvPr/>
        </p:nvSpPr>
        <p:spPr>
          <a:xfrm>
            <a:off x="5148072" y="3255264"/>
            <a:ext cx="0" cy="676656"/>
          </a:xfrm>
          <a:prstGeom prst="line">
            <a:avLst/>
          </a:prstGeom>
          <a:noFill/>
          <a:ln w="25400">
            <a:solidFill>
              <a:srgbClr val="E07A5F"/>
            </a:solidFill>
            <a:prstDash val="dash"/>
          </a:ln>
        </p:spPr>
        <p:txBody>
          <a:bodyPr/>
          <a:lstStyle/>
          <a:p>
            <a:endParaRPr lang="en-DE"/>
          </a:p>
        </p:txBody>
      </p:sp>
      <p:sp>
        <p:nvSpPr>
          <p:cNvPr id="37" name="Shape 31"/>
          <p:cNvSpPr/>
          <p:nvPr/>
        </p:nvSpPr>
        <p:spPr>
          <a:xfrm>
            <a:off x="5148072" y="3931920"/>
            <a:ext cx="3209544" cy="0"/>
          </a:xfrm>
          <a:prstGeom prst="line">
            <a:avLst/>
          </a:prstGeom>
          <a:noFill/>
          <a:ln w="25400">
            <a:solidFill>
              <a:srgbClr val="E07A5F"/>
            </a:solidFill>
            <a:prstDash val="dash"/>
          </a:ln>
        </p:spPr>
        <p:txBody>
          <a:bodyPr/>
          <a:lstStyle/>
          <a:p>
            <a:endParaRPr lang="en-DE"/>
          </a:p>
        </p:txBody>
      </p:sp>
      <p:sp>
        <p:nvSpPr>
          <p:cNvPr id="38" name="Shape 32"/>
          <p:cNvSpPr/>
          <p:nvPr/>
        </p:nvSpPr>
        <p:spPr>
          <a:xfrm flipH="1">
            <a:off x="8357615" y="3249778"/>
            <a:ext cx="1" cy="682142"/>
          </a:xfrm>
          <a:prstGeom prst="line">
            <a:avLst/>
          </a:prstGeom>
          <a:noFill/>
          <a:ln w="25400">
            <a:solidFill>
              <a:srgbClr val="E07A5F"/>
            </a:solidFill>
            <a:prstDash val="dash"/>
            <a:headEnd type="triangle"/>
          </a:ln>
        </p:spPr>
        <p:txBody>
          <a:bodyPr/>
          <a:lstStyle/>
          <a:p>
            <a:endParaRPr lang="en-DE"/>
          </a:p>
        </p:txBody>
      </p:sp>
      <p:sp>
        <p:nvSpPr>
          <p:cNvPr id="39" name="Text 33"/>
          <p:cNvSpPr/>
          <p:nvPr/>
        </p:nvSpPr>
        <p:spPr>
          <a:xfrm>
            <a:off x="5486400" y="3913632"/>
            <a:ext cx="2377440" cy="274320"/>
          </a:xfrm>
          <a:prstGeom prst="rect">
            <a:avLst/>
          </a:prstGeom>
          <a:noFill/>
          <a:ln/>
        </p:spPr>
        <p:txBody>
          <a:bodyPr wrap="square" lIns="0" tIns="0" rIns="0" bIns="0" rtlCol="0" anchor="ctr"/>
          <a:lstStyle/>
          <a:p>
            <a:pPr marL="0" indent="0" algn="ctr">
              <a:buNone/>
            </a:pPr>
            <a:r>
              <a:rPr lang="en-US" sz="1000" b="1" i="1" dirty="0">
                <a:solidFill>
                  <a:srgbClr val="E07A5F"/>
                </a:solidFill>
                <a:latin typeface="Calibri" pitchFamily="34" charset="0"/>
                <a:ea typeface="Calibri" pitchFamily="34" charset="-122"/>
                <a:cs typeface="Calibri" pitchFamily="34" charset="-120"/>
              </a:rPr>
              <a:t>Fine-tuning loop</a:t>
            </a:r>
            <a:endParaRPr lang="en-US" sz="1000" dirty="0"/>
          </a:p>
        </p:txBody>
      </p:sp>
      <p:sp>
        <p:nvSpPr>
          <p:cNvPr id="40" name="Text 34"/>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8</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4"/>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The AI system</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 prediction tool + explanation interface for the healthcare domain</a:t>
            </a:r>
            <a:endParaRPr lang="en-US" sz="1250" dirty="0"/>
          </a:p>
        </p:txBody>
      </p:sp>
      <p:sp>
        <p:nvSpPr>
          <p:cNvPr id="6" name="Text 3"/>
          <p:cNvSpPr/>
          <p:nvPr/>
        </p:nvSpPr>
        <p:spPr>
          <a:xfrm>
            <a:off x="457200" y="1371600"/>
            <a:ext cx="8229600" cy="310896"/>
          </a:xfrm>
          <a:prstGeom prst="rect">
            <a:avLst/>
          </a:prstGeom>
          <a:noFill/>
          <a:ln/>
        </p:spPr>
        <p:txBody>
          <a:bodyPr wrap="square" lIns="0" tIns="0" rIns="0" bIns="0" rtlCol="0" anchor="ctr"/>
          <a:lstStyle/>
          <a:p>
            <a:pPr marL="0" indent="0">
              <a:buNone/>
            </a:pPr>
            <a:r>
              <a:rPr lang="en-US" sz="1300" b="1" dirty="0">
                <a:solidFill>
                  <a:srgbClr val="0E5E5C"/>
                </a:solidFill>
                <a:latin typeface="Calibri" pitchFamily="34" charset="0"/>
                <a:ea typeface="Calibri" pitchFamily="34" charset="-122"/>
                <a:cs typeface="Calibri" pitchFamily="34" charset="-120"/>
              </a:rPr>
              <a:t>Task:  </a:t>
            </a:r>
            <a:r>
              <a:rPr lang="en-US" sz="1300" dirty="0">
                <a:solidFill>
                  <a:srgbClr val="183036"/>
                </a:solidFill>
                <a:latin typeface="Calibri" pitchFamily="34" charset="0"/>
                <a:ea typeface="Calibri" pitchFamily="34" charset="-122"/>
                <a:cs typeface="Calibri" pitchFamily="34" charset="-120"/>
              </a:rPr>
              <a:t>binary classification of H1N1 vaccine uptake</a:t>
            </a:r>
            <a:r>
              <a:rPr lang="en-US" sz="1300" i="1" dirty="0">
                <a:solidFill>
                  <a:srgbClr val="55686B"/>
                </a:solidFill>
                <a:latin typeface="Calibri" pitchFamily="34" charset="0"/>
                <a:ea typeface="Calibri" pitchFamily="34" charset="-122"/>
                <a:cs typeface="Calibri" pitchFamily="34" charset="-120"/>
              </a:rPr>
              <a:t>  — simulating AI-assisted clinical decision-making.</a:t>
            </a:r>
            <a:endParaRPr lang="en-US" sz="1300" dirty="0"/>
          </a:p>
        </p:txBody>
      </p:sp>
      <p:sp>
        <p:nvSpPr>
          <p:cNvPr id="7" name="Shape 4"/>
          <p:cNvSpPr/>
          <p:nvPr/>
        </p:nvSpPr>
        <p:spPr>
          <a:xfrm>
            <a:off x="45720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8" name="Shape 5"/>
          <p:cNvSpPr/>
          <p:nvPr/>
        </p:nvSpPr>
        <p:spPr>
          <a:xfrm>
            <a:off x="640080" y="1993392"/>
            <a:ext cx="512064" cy="512064"/>
          </a:xfrm>
          <a:prstGeom prst="ellipse">
            <a:avLst/>
          </a:prstGeom>
          <a:solidFill>
            <a:srgbClr val="127475"/>
          </a:solidFill>
          <a:ln/>
        </p:spPr>
        <p:txBody>
          <a:bodyPr/>
          <a:lstStyle/>
          <a:p>
            <a:endParaRPr lang="en-DE"/>
          </a:p>
        </p:txBody>
      </p:sp>
      <p:pic>
        <p:nvPicPr>
          <p:cNvPr id="9" name="Image 1" descr="preencoded.png"/>
          <p:cNvPicPr>
            <a:picLocks noChangeAspect="1"/>
          </p:cNvPicPr>
          <p:nvPr/>
        </p:nvPicPr>
        <p:blipFill>
          <a:blip r:embed="rId5"/>
          <a:stretch>
            <a:fillRect/>
          </a:stretch>
        </p:blipFill>
        <p:spPr>
          <a:xfrm>
            <a:off x="773217" y="2126529"/>
            <a:ext cx="245791" cy="245791"/>
          </a:xfrm>
          <a:prstGeom prst="rect">
            <a:avLst/>
          </a:prstGeom>
        </p:spPr>
      </p:pic>
      <p:sp>
        <p:nvSpPr>
          <p:cNvPr id="10" name="Text 6"/>
          <p:cNvSpPr/>
          <p:nvPr/>
        </p:nvSpPr>
        <p:spPr>
          <a:xfrm>
            <a:off x="1993392" y="1975104"/>
            <a:ext cx="310896" cy="310896"/>
          </a:xfrm>
          <a:prstGeom prst="rect">
            <a:avLst/>
          </a:prstGeom>
          <a:noFill/>
          <a:ln/>
        </p:spPr>
        <p:txBody>
          <a:bodyPr wrap="square" lIns="0" tIns="0" rIns="0" bIns="0" rtlCol="0" anchor="ctr"/>
          <a:lstStyle/>
          <a:p>
            <a:pPr marL="0" indent="0" algn="r">
              <a:buNone/>
            </a:pPr>
            <a:r>
              <a:rPr lang="en-US" sz="1800" b="1" dirty="0">
                <a:solidFill>
                  <a:srgbClr val="9AD1D4"/>
                </a:solidFill>
                <a:latin typeface="Cambria" pitchFamily="34" charset="0"/>
                <a:ea typeface="Cambria" pitchFamily="34" charset="-122"/>
                <a:cs typeface="Cambria" pitchFamily="34" charset="-120"/>
              </a:rPr>
              <a:t>1</a:t>
            </a:r>
            <a:endParaRPr lang="en-US" sz="1800" dirty="0"/>
          </a:p>
        </p:txBody>
      </p:sp>
      <p:sp>
        <p:nvSpPr>
          <p:cNvPr id="11" name="Text 7"/>
          <p:cNvSpPr/>
          <p:nvPr/>
        </p:nvSpPr>
        <p:spPr>
          <a:xfrm>
            <a:off x="640080" y="2560320"/>
            <a:ext cx="1664208" cy="310896"/>
          </a:xfrm>
          <a:prstGeom prst="rect">
            <a:avLst/>
          </a:prstGeom>
          <a:noFill/>
          <a:ln/>
        </p:spPr>
        <p:txBody>
          <a:bodyPr wrap="square" lIns="0" tIns="0" rIns="0" bIns="0" rtlCol="0" anchor="ctr"/>
          <a:lstStyle/>
          <a:p>
            <a:pPr marL="0" indent="0">
              <a:buNone/>
            </a:pPr>
            <a:r>
              <a:rPr lang="en-US" sz="1300" b="1" dirty="0">
                <a:solidFill>
                  <a:srgbClr val="0A2E36"/>
                </a:solidFill>
                <a:latin typeface="Cambria" pitchFamily="34" charset="0"/>
                <a:ea typeface="Cambria" pitchFamily="34" charset="-122"/>
                <a:cs typeface="Cambria" pitchFamily="34" charset="-120"/>
              </a:rPr>
              <a:t>EDA</a:t>
            </a:r>
            <a:endParaRPr lang="en-US" sz="1300" dirty="0"/>
          </a:p>
        </p:txBody>
      </p:sp>
      <p:sp>
        <p:nvSpPr>
          <p:cNvPr id="12" name="Text 8"/>
          <p:cNvSpPr/>
          <p:nvPr/>
        </p:nvSpPr>
        <p:spPr>
          <a:xfrm>
            <a:off x="640080" y="2834640"/>
            <a:ext cx="1682496" cy="365760"/>
          </a:xfrm>
          <a:prstGeom prst="rect">
            <a:avLst/>
          </a:prstGeom>
          <a:noFill/>
          <a:ln/>
        </p:spPr>
        <p:txBody>
          <a:bodyPr wrap="square" lIns="0" tIns="0" rIns="0" bIns="0" rtlCol="0" anchor="ctr"/>
          <a:lstStyle/>
          <a:p>
            <a:pPr marL="0" indent="0">
              <a:buNone/>
            </a:pPr>
            <a:r>
              <a:rPr lang="en-US" sz="1030" dirty="0">
                <a:solidFill>
                  <a:srgbClr val="55686B"/>
                </a:solidFill>
                <a:latin typeface="Calibri" pitchFamily="34" charset="0"/>
                <a:ea typeface="Calibri" pitchFamily="34" charset="-122"/>
                <a:cs typeface="Calibri" pitchFamily="34" charset="-120"/>
              </a:rPr>
              <a:t>Describe data; feature selection.</a:t>
            </a:r>
            <a:endParaRPr lang="en-US" sz="1030" dirty="0"/>
          </a:p>
        </p:txBody>
      </p:sp>
      <p:sp>
        <p:nvSpPr>
          <p:cNvPr id="13" name="Shape 9"/>
          <p:cNvSpPr/>
          <p:nvPr/>
        </p:nvSpPr>
        <p:spPr>
          <a:xfrm>
            <a:off x="2432304" y="2519172"/>
            <a:ext cx="109728" cy="0"/>
          </a:xfrm>
          <a:prstGeom prst="line">
            <a:avLst/>
          </a:prstGeom>
          <a:noFill/>
          <a:ln w="34925">
            <a:solidFill>
              <a:srgbClr val="3E9D9B"/>
            </a:solidFill>
            <a:prstDash val="solid"/>
            <a:tailEnd type="triangle"/>
          </a:ln>
        </p:spPr>
        <p:txBody>
          <a:bodyPr/>
          <a:lstStyle/>
          <a:p>
            <a:endParaRPr lang="en-DE"/>
          </a:p>
        </p:txBody>
      </p:sp>
      <p:sp>
        <p:nvSpPr>
          <p:cNvPr id="14" name="Shape 10"/>
          <p:cNvSpPr/>
          <p:nvPr/>
        </p:nvSpPr>
        <p:spPr>
          <a:xfrm>
            <a:off x="256032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5" name="Shape 11"/>
          <p:cNvSpPr/>
          <p:nvPr/>
        </p:nvSpPr>
        <p:spPr>
          <a:xfrm>
            <a:off x="2743200" y="1993392"/>
            <a:ext cx="512064" cy="512064"/>
          </a:xfrm>
          <a:prstGeom prst="ellipse">
            <a:avLst/>
          </a:prstGeom>
          <a:solidFill>
            <a:srgbClr val="127475"/>
          </a:solidFill>
          <a:ln/>
        </p:spPr>
        <p:txBody>
          <a:bodyPr/>
          <a:lstStyle/>
          <a:p>
            <a:endParaRPr lang="en-DE"/>
          </a:p>
        </p:txBody>
      </p:sp>
      <p:pic>
        <p:nvPicPr>
          <p:cNvPr id="16" name="Image 2" descr="preencoded.png"/>
          <p:cNvPicPr>
            <a:picLocks noChangeAspect="1"/>
          </p:cNvPicPr>
          <p:nvPr/>
        </p:nvPicPr>
        <p:blipFill>
          <a:blip r:embed="rId6"/>
          <a:stretch>
            <a:fillRect/>
          </a:stretch>
        </p:blipFill>
        <p:spPr>
          <a:xfrm>
            <a:off x="2876337" y="2126529"/>
            <a:ext cx="245791" cy="245791"/>
          </a:xfrm>
          <a:prstGeom prst="rect">
            <a:avLst/>
          </a:prstGeom>
        </p:spPr>
      </p:pic>
      <p:sp>
        <p:nvSpPr>
          <p:cNvPr id="17" name="Text 12"/>
          <p:cNvSpPr/>
          <p:nvPr/>
        </p:nvSpPr>
        <p:spPr>
          <a:xfrm>
            <a:off x="4096512" y="1975104"/>
            <a:ext cx="310896" cy="310896"/>
          </a:xfrm>
          <a:prstGeom prst="rect">
            <a:avLst/>
          </a:prstGeom>
          <a:noFill/>
          <a:ln/>
        </p:spPr>
        <p:txBody>
          <a:bodyPr wrap="square" lIns="0" tIns="0" rIns="0" bIns="0" rtlCol="0" anchor="ctr"/>
          <a:lstStyle/>
          <a:p>
            <a:pPr marL="0" indent="0" algn="r">
              <a:buNone/>
            </a:pPr>
            <a:r>
              <a:rPr lang="en-US" sz="1800" b="1" dirty="0">
                <a:solidFill>
                  <a:srgbClr val="9AD1D4"/>
                </a:solidFill>
                <a:latin typeface="Cambria" pitchFamily="34" charset="0"/>
                <a:ea typeface="Cambria" pitchFamily="34" charset="-122"/>
                <a:cs typeface="Cambria" pitchFamily="34" charset="-120"/>
              </a:rPr>
              <a:t>2</a:t>
            </a:r>
            <a:endParaRPr lang="en-US" sz="1800" dirty="0"/>
          </a:p>
        </p:txBody>
      </p:sp>
      <p:sp>
        <p:nvSpPr>
          <p:cNvPr id="18" name="Text 13"/>
          <p:cNvSpPr/>
          <p:nvPr/>
        </p:nvSpPr>
        <p:spPr>
          <a:xfrm>
            <a:off x="2743200" y="2560320"/>
            <a:ext cx="1664208" cy="310896"/>
          </a:xfrm>
          <a:prstGeom prst="rect">
            <a:avLst/>
          </a:prstGeom>
          <a:noFill/>
          <a:ln/>
        </p:spPr>
        <p:txBody>
          <a:bodyPr wrap="square" lIns="0" tIns="0" rIns="0" bIns="0" rtlCol="0" anchor="ctr"/>
          <a:lstStyle/>
          <a:p>
            <a:pPr marL="0" indent="0">
              <a:buNone/>
            </a:pPr>
            <a:r>
              <a:rPr lang="en-US" sz="1300" b="1" dirty="0">
                <a:solidFill>
                  <a:srgbClr val="0A2E36"/>
                </a:solidFill>
                <a:latin typeface="Cambria" pitchFamily="34" charset="0"/>
                <a:ea typeface="Cambria" pitchFamily="34" charset="-122"/>
                <a:cs typeface="Cambria" pitchFamily="34" charset="-120"/>
              </a:rPr>
              <a:t>Modelling</a:t>
            </a:r>
            <a:endParaRPr lang="en-US" sz="1300" dirty="0"/>
          </a:p>
        </p:txBody>
      </p:sp>
      <p:sp>
        <p:nvSpPr>
          <p:cNvPr id="19" name="Text 14"/>
          <p:cNvSpPr/>
          <p:nvPr/>
        </p:nvSpPr>
        <p:spPr>
          <a:xfrm>
            <a:off x="2743200" y="2834640"/>
            <a:ext cx="1682496" cy="365760"/>
          </a:xfrm>
          <a:prstGeom prst="rect">
            <a:avLst/>
          </a:prstGeom>
          <a:noFill/>
          <a:ln/>
        </p:spPr>
        <p:txBody>
          <a:bodyPr wrap="square" lIns="0" tIns="0" rIns="0" bIns="0" rtlCol="0" anchor="ctr"/>
          <a:lstStyle/>
          <a:p>
            <a:pPr marL="0" indent="0">
              <a:buNone/>
            </a:pPr>
            <a:r>
              <a:rPr lang="en-US" sz="1030" dirty="0">
                <a:solidFill>
                  <a:srgbClr val="55686B"/>
                </a:solidFill>
                <a:latin typeface="Calibri" pitchFamily="34" charset="0"/>
                <a:ea typeface="Calibri" pitchFamily="34" charset="-122"/>
                <a:cs typeface="Calibri" pitchFamily="34" charset="-120"/>
              </a:rPr>
              <a:t>Train &amp; select the best model.</a:t>
            </a:r>
            <a:endParaRPr lang="en-US" sz="1030" dirty="0"/>
          </a:p>
        </p:txBody>
      </p:sp>
      <p:sp>
        <p:nvSpPr>
          <p:cNvPr id="20" name="Shape 15"/>
          <p:cNvSpPr/>
          <p:nvPr/>
        </p:nvSpPr>
        <p:spPr>
          <a:xfrm>
            <a:off x="4535424" y="2519172"/>
            <a:ext cx="109728" cy="0"/>
          </a:xfrm>
          <a:prstGeom prst="line">
            <a:avLst/>
          </a:prstGeom>
          <a:noFill/>
          <a:ln w="34925">
            <a:solidFill>
              <a:srgbClr val="3E9D9B"/>
            </a:solidFill>
            <a:prstDash val="solid"/>
            <a:tailEnd type="triangle"/>
          </a:ln>
        </p:spPr>
        <p:txBody>
          <a:bodyPr/>
          <a:lstStyle/>
          <a:p>
            <a:endParaRPr lang="en-DE"/>
          </a:p>
        </p:txBody>
      </p:sp>
      <p:sp>
        <p:nvSpPr>
          <p:cNvPr id="21" name="Shape 16"/>
          <p:cNvSpPr/>
          <p:nvPr/>
        </p:nvSpPr>
        <p:spPr>
          <a:xfrm>
            <a:off x="466344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2" name="Shape 17"/>
          <p:cNvSpPr/>
          <p:nvPr/>
        </p:nvSpPr>
        <p:spPr>
          <a:xfrm>
            <a:off x="4846320" y="1993392"/>
            <a:ext cx="512064" cy="512064"/>
          </a:xfrm>
          <a:prstGeom prst="ellipse">
            <a:avLst/>
          </a:prstGeom>
          <a:solidFill>
            <a:srgbClr val="127475"/>
          </a:solidFill>
          <a:ln/>
        </p:spPr>
        <p:txBody>
          <a:bodyPr/>
          <a:lstStyle/>
          <a:p>
            <a:endParaRPr lang="en-DE"/>
          </a:p>
        </p:txBody>
      </p:sp>
      <p:pic>
        <p:nvPicPr>
          <p:cNvPr id="23" name="Image 3" descr="preencoded.png"/>
          <p:cNvPicPr>
            <a:picLocks noChangeAspect="1"/>
          </p:cNvPicPr>
          <p:nvPr/>
        </p:nvPicPr>
        <p:blipFill>
          <a:blip r:embed="rId7"/>
          <a:stretch>
            <a:fillRect/>
          </a:stretch>
        </p:blipFill>
        <p:spPr>
          <a:xfrm>
            <a:off x="4979457" y="2126529"/>
            <a:ext cx="245791" cy="245791"/>
          </a:xfrm>
          <a:prstGeom prst="rect">
            <a:avLst/>
          </a:prstGeom>
        </p:spPr>
      </p:pic>
      <p:sp>
        <p:nvSpPr>
          <p:cNvPr id="24" name="Text 18"/>
          <p:cNvSpPr/>
          <p:nvPr/>
        </p:nvSpPr>
        <p:spPr>
          <a:xfrm>
            <a:off x="6199632" y="1975104"/>
            <a:ext cx="310896" cy="310896"/>
          </a:xfrm>
          <a:prstGeom prst="rect">
            <a:avLst/>
          </a:prstGeom>
          <a:noFill/>
          <a:ln/>
        </p:spPr>
        <p:txBody>
          <a:bodyPr wrap="square" lIns="0" tIns="0" rIns="0" bIns="0" rtlCol="0" anchor="ctr"/>
          <a:lstStyle/>
          <a:p>
            <a:pPr marL="0" indent="0" algn="r">
              <a:buNone/>
            </a:pPr>
            <a:r>
              <a:rPr lang="en-US" sz="1800" b="1" dirty="0">
                <a:solidFill>
                  <a:srgbClr val="9AD1D4"/>
                </a:solidFill>
                <a:latin typeface="Cambria" pitchFamily="34" charset="0"/>
                <a:ea typeface="Cambria" pitchFamily="34" charset="-122"/>
                <a:cs typeface="Cambria" pitchFamily="34" charset="-120"/>
              </a:rPr>
              <a:t>3</a:t>
            </a:r>
            <a:endParaRPr lang="en-US" sz="1800" dirty="0"/>
          </a:p>
        </p:txBody>
      </p:sp>
      <p:sp>
        <p:nvSpPr>
          <p:cNvPr id="25" name="Text 19"/>
          <p:cNvSpPr/>
          <p:nvPr/>
        </p:nvSpPr>
        <p:spPr>
          <a:xfrm>
            <a:off x="4846320" y="2560320"/>
            <a:ext cx="1664208" cy="310896"/>
          </a:xfrm>
          <a:prstGeom prst="rect">
            <a:avLst/>
          </a:prstGeom>
          <a:noFill/>
          <a:ln/>
        </p:spPr>
        <p:txBody>
          <a:bodyPr wrap="square" lIns="0" tIns="0" rIns="0" bIns="0" rtlCol="0" anchor="ctr"/>
          <a:lstStyle/>
          <a:p>
            <a:pPr marL="0" indent="0">
              <a:buNone/>
            </a:pPr>
            <a:r>
              <a:rPr lang="en-US" sz="1300" b="1" dirty="0">
                <a:solidFill>
                  <a:srgbClr val="0A2E36"/>
                </a:solidFill>
                <a:latin typeface="Cambria" pitchFamily="34" charset="0"/>
                <a:ea typeface="Cambria" pitchFamily="34" charset="-122"/>
                <a:cs typeface="Cambria" pitchFamily="34" charset="-120"/>
              </a:rPr>
              <a:t>Explanations</a:t>
            </a:r>
            <a:endParaRPr lang="en-US" sz="1300" dirty="0"/>
          </a:p>
        </p:txBody>
      </p:sp>
      <p:sp>
        <p:nvSpPr>
          <p:cNvPr id="26" name="Text 20"/>
          <p:cNvSpPr/>
          <p:nvPr/>
        </p:nvSpPr>
        <p:spPr>
          <a:xfrm>
            <a:off x="4846320" y="2834640"/>
            <a:ext cx="1682496" cy="365760"/>
          </a:xfrm>
          <a:prstGeom prst="rect">
            <a:avLst/>
          </a:prstGeom>
          <a:noFill/>
          <a:ln/>
        </p:spPr>
        <p:txBody>
          <a:bodyPr wrap="square" lIns="0" tIns="0" rIns="0" bIns="0" rtlCol="0" anchor="ctr"/>
          <a:lstStyle/>
          <a:p>
            <a:pPr marL="0" indent="0">
              <a:buNone/>
            </a:pPr>
            <a:r>
              <a:rPr lang="en-US" sz="1030" dirty="0">
                <a:solidFill>
                  <a:srgbClr val="55686B"/>
                </a:solidFill>
                <a:latin typeface="Calibri" pitchFamily="34" charset="0"/>
                <a:ea typeface="Calibri" pitchFamily="34" charset="-122"/>
                <a:cs typeface="Calibri" pitchFamily="34" charset="-120"/>
              </a:rPr>
              <a:t>Feature importance, PDP, ALE, SHAP.</a:t>
            </a:r>
            <a:endParaRPr lang="en-US" sz="1030" dirty="0"/>
          </a:p>
        </p:txBody>
      </p:sp>
      <p:sp>
        <p:nvSpPr>
          <p:cNvPr id="27" name="Shape 21"/>
          <p:cNvSpPr/>
          <p:nvPr/>
        </p:nvSpPr>
        <p:spPr>
          <a:xfrm>
            <a:off x="6638544" y="2519172"/>
            <a:ext cx="109728" cy="0"/>
          </a:xfrm>
          <a:prstGeom prst="line">
            <a:avLst/>
          </a:prstGeom>
          <a:noFill/>
          <a:ln w="34925">
            <a:solidFill>
              <a:srgbClr val="3E9D9B"/>
            </a:solidFill>
            <a:prstDash val="solid"/>
            <a:tailEnd type="triangle"/>
          </a:ln>
        </p:spPr>
        <p:txBody>
          <a:bodyPr/>
          <a:lstStyle/>
          <a:p>
            <a:endParaRPr lang="en-DE"/>
          </a:p>
        </p:txBody>
      </p:sp>
      <p:sp>
        <p:nvSpPr>
          <p:cNvPr id="28" name="Shape 22"/>
          <p:cNvSpPr/>
          <p:nvPr/>
        </p:nvSpPr>
        <p:spPr>
          <a:xfrm>
            <a:off x="676656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9" name="Shape 23"/>
          <p:cNvSpPr/>
          <p:nvPr/>
        </p:nvSpPr>
        <p:spPr>
          <a:xfrm>
            <a:off x="6949440" y="1993392"/>
            <a:ext cx="512064" cy="512064"/>
          </a:xfrm>
          <a:prstGeom prst="ellipse">
            <a:avLst/>
          </a:prstGeom>
          <a:solidFill>
            <a:srgbClr val="127475"/>
          </a:solidFill>
          <a:ln/>
        </p:spPr>
        <p:txBody>
          <a:bodyPr/>
          <a:lstStyle/>
          <a:p>
            <a:endParaRPr lang="en-DE"/>
          </a:p>
        </p:txBody>
      </p:sp>
      <p:pic>
        <p:nvPicPr>
          <p:cNvPr id="30" name="Image 4" descr="preencoded.png"/>
          <p:cNvPicPr>
            <a:picLocks noChangeAspect="1"/>
          </p:cNvPicPr>
          <p:nvPr/>
        </p:nvPicPr>
        <p:blipFill>
          <a:blip r:embed="rId8"/>
          <a:stretch>
            <a:fillRect/>
          </a:stretch>
        </p:blipFill>
        <p:spPr>
          <a:xfrm>
            <a:off x="7082577" y="2126529"/>
            <a:ext cx="245791" cy="245791"/>
          </a:xfrm>
          <a:prstGeom prst="rect">
            <a:avLst/>
          </a:prstGeom>
        </p:spPr>
      </p:pic>
      <p:sp>
        <p:nvSpPr>
          <p:cNvPr id="31" name="Text 24"/>
          <p:cNvSpPr/>
          <p:nvPr/>
        </p:nvSpPr>
        <p:spPr>
          <a:xfrm>
            <a:off x="8302752" y="1975104"/>
            <a:ext cx="310896" cy="310896"/>
          </a:xfrm>
          <a:prstGeom prst="rect">
            <a:avLst/>
          </a:prstGeom>
          <a:noFill/>
          <a:ln/>
        </p:spPr>
        <p:txBody>
          <a:bodyPr wrap="square" lIns="0" tIns="0" rIns="0" bIns="0" rtlCol="0" anchor="ctr"/>
          <a:lstStyle/>
          <a:p>
            <a:pPr marL="0" indent="0" algn="r">
              <a:buNone/>
            </a:pPr>
            <a:r>
              <a:rPr lang="en-US" sz="1800" b="1" dirty="0">
                <a:solidFill>
                  <a:srgbClr val="9AD1D4"/>
                </a:solidFill>
                <a:latin typeface="Cambria" pitchFamily="34" charset="0"/>
                <a:ea typeface="Cambria" pitchFamily="34" charset="-122"/>
                <a:cs typeface="Cambria" pitchFamily="34" charset="-120"/>
              </a:rPr>
              <a:t>4</a:t>
            </a:r>
            <a:endParaRPr lang="en-US" sz="1800" dirty="0"/>
          </a:p>
        </p:txBody>
      </p:sp>
      <p:sp>
        <p:nvSpPr>
          <p:cNvPr id="32" name="Text 25"/>
          <p:cNvSpPr/>
          <p:nvPr/>
        </p:nvSpPr>
        <p:spPr>
          <a:xfrm>
            <a:off x="6949440" y="2560320"/>
            <a:ext cx="1664208" cy="310896"/>
          </a:xfrm>
          <a:prstGeom prst="rect">
            <a:avLst/>
          </a:prstGeom>
          <a:noFill/>
          <a:ln/>
        </p:spPr>
        <p:txBody>
          <a:bodyPr wrap="square" lIns="0" tIns="0" rIns="0" bIns="0" rtlCol="0" anchor="ctr"/>
          <a:lstStyle/>
          <a:p>
            <a:pPr marL="0" indent="0">
              <a:buNone/>
            </a:pPr>
            <a:r>
              <a:rPr lang="en-US" sz="1300" b="1" dirty="0">
                <a:solidFill>
                  <a:srgbClr val="0A2E36"/>
                </a:solidFill>
                <a:latin typeface="Cambria" pitchFamily="34" charset="0"/>
                <a:ea typeface="Cambria" pitchFamily="34" charset="-122"/>
                <a:cs typeface="Cambria" pitchFamily="34" charset="-120"/>
              </a:rPr>
              <a:t>What-If? dashboard</a:t>
            </a:r>
            <a:endParaRPr lang="en-US" sz="1300" dirty="0"/>
          </a:p>
        </p:txBody>
      </p:sp>
      <p:sp>
        <p:nvSpPr>
          <p:cNvPr id="33" name="Text 26"/>
          <p:cNvSpPr/>
          <p:nvPr/>
        </p:nvSpPr>
        <p:spPr>
          <a:xfrm>
            <a:off x="6949440" y="2834640"/>
            <a:ext cx="1682496" cy="365760"/>
          </a:xfrm>
          <a:prstGeom prst="rect">
            <a:avLst/>
          </a:prstGeom>
          <a:noFill/>
          <a:ln/>
        </p:spPr>
        <p:txBody>
          <a:bodyPr wrap="square" lIns="0" tIns="0" rIns="0" bIns="0" rtlCol="0" anchor="ctr"/>
          <a:lstStyle/>
          <a:p>
            <a:pPr marL="0" indent="0">
              <a:buNone/>
            </a:pPr>
            <a:r>
              <a:rPr lang="en-US" sz="1030" dirty="0">
                <a:solidFill>
                  <a:srgbClr val="55686B"/>
                </a:solidFill>
                <a:latin typeface="Calibri" pitchFamily="34" charset="0"/>
                <a:ea typeface="Calibri" pitchFamily="34" charset="-122"/>
                <a:cs typeface="Calibri" pitchFamily="34" charset="-120"/>
              </a:rPr>
              <a:t>Interactive UI for what-if analysis.</a:t>
            </a:r>
            <a:endParaRPr lang="en-US" sz="1030" dirty="0"/>
          </a:p>
        </p:txBody>
      </p:sp>
      <p:sp>
        <p:nvSpPr>
          <p:cNvPr id="34" name="Text 27"/>
          <p:cNvSpPr/>
          <p:nvPr/>
        </p:nvSpPr>
        <p:spPr>
          <a:xfrm>
            <a:off x="457200" y="3419856"/>
            <a:ext cx="8229600" cy="274320"/>
          </a:xfrm>
          <a:prstGeom prst="rect">
            <a:avLst/>
          </a:prstGeom>
          <a:noFill/>
          <a:ln/>
        </p:spPr>
        <p:txBody>
          <a:bodyPr wrap="square" lIns="0" tIns="0" rIns="0" bIns="0" rtlCol="0" anchor="ctr"/>
          <a:lstStyle/>
          <a:p>
            <a:pPr marL="0" indent="0">
              <a:buNone/>
            </a:pPr>
            <a:r>
              <a:rPr lang="en-US" sz="1200" b="1" dirty="0">
                <a:solidFill>
                  <a:srgbClr val="0E5E5C"/>
                </a:solidFill>
                <a:latin typeface="Calibri" pitchFamily="34" charset="0"/>
                <a:ea typeface="Calibri" pitchFamily="34" charset="-122"/>
                <a:cs typeface="Calibri" pitchFamily="34" charset="-120"/>
              </a:rPr>
              <a:t>Data — DrivenData “Flu Shot Learning”, from the US National 2009 H1N1 Flu Survey</a:t>
            </a:r>
            <a:endParaRPr lang="en-US" sz="1200" dirty="0"/>
          </a:p>
        </p:txBody>
      </p:sp>
      <p:sp>
        <p:nvSpPr>
          <p:cNvPr id="35" name="Shape 28"/>
          <p:cNvSpPr/>
          <p:nvPr/>
        </p:nvSpPr>
        <p:spPr>
          <a:xfrm>
            <a:off x="457200" y="3749040"/>
            <a:ext cx="1993392" cy="841248"/>
          </a:xfrm>
          <a:prstGeom prst="roundRect">
            <a:avLst>
              <a:gd name="adj" fmla="val 869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36" name="Text 29"/>
          <p:cNvSpPr/>
          <p:nvPr/>
        </p:nvSpPr>
        <p:spPr>
          <a:xfrm>
            <a:off x="548640" y="3822192"/>
            <a:ext cx="1810512" cy="457200"/>
          </a:xfrm>
          <a:prstGeom prst="rect">
            <a:avLst/>
          </a:prstGeom>
          <a:noFill/>
          <a:ln/>
        </p:spPr>
        <p:txBody>
          <a:bodyPr wrap="square" lIns="0" tIns="0" rIns="0" bIns="0" rtlCol="0" anchor="ctr"/>
          <a:lstStyle/>
          <a:p>
            <a:pPr marL="0" indent="0" algn="ctr">
              <a:buNone/>
            </a:pPr>
            <a:r>
              <a:rPr lang="en-US" sz="2300" b="1" dirty="0">
                <a:solidFill>
                  <a:srgbClr val="E9B44C"/>
                </a:solidFill>
                <a:latin typeface="Cambria" pitchFamily="34" charset="0"/>
                <a:ea typeface="Cambria" pitchFamily="34" charset="-122"/>
                <a:cs typeface="Cambria" pitchFamily="34" charset="-120"/>
              </a:rPr>
              <a:t>26,707</a:t>
            </a:r>
            <a:endParaRPr lang="en-US" sz="2300" dirty="0"/>
          </a:p>
        </p:txBody>
      </p:sp>
      <p:sp>
        <p:nvSpPr>
          <p:cNvPr id="37" name="Text 30"/>
          <p:cNvSpPr/>
          <p:nvPr/>
        </p:nvSpPr>
        <p:spPr>
          <a:xfrm>
            <a:off x="548640" y="4261104"/>
            <a:ext cx="1810512" cy="274320"/>
          </a:xfrm>
          <a:prstGeom prst="rect">
            <a:avLst/>
          </a:prstGeom>
          <a:noFill/>
          <a:ln/>
        </p:spPr>
        <p:txBody>
          <a:bodyPr wrap="square" lIns="0" tIns="0" rIns="0" bIns="0" rtlCol="0" anchor="ctr"/>
          <a:lstStyle/>
          <a:p>
            <a:pPr marL="0" indent="0" algn="ctr">
              <a:buNone/>
            </a:pPr>
            <a:r>
              <a:rPr lang="en-US" sz="1050" dirty="0">
                <a:solidFill>
                  <a:srgbClr val="9AD1D4"/>
                </a:solidFill>
                <a:latin typeface="Calibri" pitchFamily="34" charset="0"/>
                <a:ea typeface="Calibri" pitchFamily="34" charset="-122"/>
                <a:cs typeface="Calibri" pitchFamily="34" charset="-120"/>
              </a:rPr>
              <a:t>observations</a:t>
            </a:r>
            <a:endParaRPr lang="en-US" sz="1050" dirty="0"/>
          </a:p>
        </p:txBody>
      </p:sp>
      <p:sp>
        <p:nvSpPr>
          <p:cNvPr id="38" name="Shape 31"/>
          <p:cNvSpPr/>
          <p:nvPr/>
        </p:nvSpPr>
        <p:spPr>
          <a:xfrm>
            <a:off x="2560320" y="3749040"/>
            <a:ext cx="1993392" cy="841248"/>
          </a:xfrm>
          <a:prstGeom prst="roundRect">
            <a:avLst>
              <a:gd name="adj" fmla="val 869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39" name="Text 32"/>
          <p:cNvSpPr/>
          <p:nvPr/>
        </p:nvSpPr>
        <p:spPr>
          <a:xfrm>
            <a:off x="2651760" y="3822192"/>
            <a:ext cx="1810512" cy="457200"/>
          </a:xfrm>
          <a:prstGeom prst="rect">
            <a:avLst/>
          </a:prstGeom>
          <a:noFill/>
          <a:ln/>
        </p:spPr>
        <p:txBody>
          <a:bodyPr wrap="square" lIns="0" tIns="0" rIns="0" bIns="0" rtlCol="0" anchor="ctr"/>
          <a:lstStyle/>
          <a:p>
            <a:pPr marL="0" indent="0" algn="ctr">
              <a:buNone/>
            </a:pPr>
            <a:r>
              <a:rPr lang="en-US" sz="2300" b="1" dirty="0">
                <a:solidFill>
                  <a:srgbClr val="E9B44C"/>
                </a:solidFill>
                <a:latin typeface="Cambria" pitchFamily="34" charset="0"/>
                <a:ea typeface="Cambria" pitchFamily="34" charset="-122"/>
                <a:cs typeface="Cambria" pitchFamily="34" charset="-120"/>
              </a:rPr>
              <a:t>37</a:t>
            </a:r>
            <a:endParaRPr lang="en-US" sz="2300" dirty="0"/>
          </a:p>
        </p:txBody>
      </p:sp>
      <p:sp>
        <p:nvSpPr>
          <p:cNvPr id="40" name="Text 33"/>
          <p:cNvSpPr/>
          <p:nvPr/>
        </p:nvSpPr>
        <p:spPr>
          <a:xfrm>
            <a:off x="2651760" y="4261104"/>
            <a:ext cx="1810512" cy="274320"/>
          </a:xfrm>
          <a:prstGeom prst="rect">
            <a:avLst/>
          </a:prstGeom>
          <a:noFill/>
          <a:ln/>
        </p:spPr>
        <p:txBody>
          <a:bodyPr wrap="square" lIns="0" tIns="0" rIns="0" bIns="0" rtlCol="0" anchor="ctr"/>
          <a:lstStyle/>
          <a:p>
            <a:pPr marL="0" indent="0" algn="ctr">
              <a:buNone/>
            </a:pPr>
            <a:r>
              <a:rPr lang="en-US" sz="1050" dirty="0">
                <a:solidFill>
                  <a:srgbClr val="9AD1D4"/>
                </a:solidFill>
                <a:latin typeface="Calibri" pitchFamily="34" charset="0"/>
                <a:ea typeface="Calibri" pitchFamily="34" charset="-122"/>
                <a:cs typeface="Calibri" pitchFamily="34" charset="-120"/>
              </a:rPr>
              <a:t>features</a:t>
            </a:r>
            <a:endParaRPr lang="en-US" sz="1050" dirty="0"/>
          </a:p>
        </p:txBody>
      </p:sp>
      <p:sp>
        <p:nvSpPr>
          <p:cNvPr id="41" name="Shape 34"/>
          <p:cNvSpPr/>
          <p:nvPr/>
        </p:nvSpPr>
        <p:spPr>
          <a:xfrm>
            <a:off x="4663440" y="3749040"/>
            <a:ext cx="1993392" cy="841248"/>
          </a:xfrm>
          <a:prstGeom prst="roundRect">
            <a:avLst>
              <a:gd name="adj" fmla="val 869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42" name="Text 35"/>
          <p:cNvSpPr/>
          <p:nvPr/>
        </p:nvSpPr>
        <p:spPr>
          <a:xfrm>
            <a:off x="4754880" y="3822192"/>
            <a:ext cx="1810512" cy="457200"/>
          </a:xfrm>
          <a:prstGeom prst="rect">
            <a:avLst/>
          </a:prstGeom>
          <a:noFill/>
          <a:ln/>
        </p:spPr>
        <p:txBody>
          <a:bodyPr wrap="square" lIns="0" tIns="0" rIns="0" bIns="0" rtlCol="0" anchor="ctr"/>
          <a:lstStyle/>
          <a:p>
            <a:pPr marL="0" indent="0" algn="ctr">
              <a:buNone/>
            </a:pPr>
            <a:r>
              <a:rPr lang="en-US" sz="2300" b="1" dirty="0">
                <a:solidFill>
                  <a:srgbClr val="E9B44C"/>
                </a:solidFill>
                <a:latin typeface="Cambria" pitchFamily="34" charset="0"/>
                <a:ea typeface="Cambria" pitchFamily="34" charset="-122"/>
                <a:cs typeface="Cambria" pitchFamily="34" charset="-120"/>
              </a:rPr>
              <a:t>80 : 20</a:t>
            </a:r>
            <a:endParaRPr lang="en-US" sz="2300" dirty="0"/>
          </a:p>
        </p:txBody>
      </p:sp>
      <p:sp>
        <p:nvSpPr>
          <p:cNvPr id="43" name="Text 36"/>
          <p:cNvSpPr/>
          <p:nvPr/>
        </p:nvSpPr>
        <p:spPr>
          <a:xfrm>
            <a:off x="4754880" y="4261104"/>
            <a:ext cx="1810512" cy="274320"/>
          </a:xfrm>
          <a:prstGeom prst="rect">
            <a:avLst/>
          </a:prstGeom>
          <a:noFill/>
          <a:ln/>
        </p:spPr>
        <p:txBody>
          <a:bodyPr wrap="square" lIns="0" tIns="0" rIns="0" bIns="0" rtlCol="0" anchor="ctr"/>
          <a:lstStyle/>
          <a:p>
            <a:pPr marL="0" indent="0" algn="ctr">
              <a:buNone/>
            </a:pPr>
            <a:r>
              <a:rPr lang="en-US" sz="1050" dirty="0">
                <a:solidFill>
                  <a:srgbClr val="9AD1D4"/>
                </a:solidFill>
                <a:latin typeface="Calibri" pitchFamily="34" charset="0"/>
                <a:ea typeface="Calibri" pitchFamily="34" charset="-122"/>
                <a:cs typeface="Calibri" pitchFamily="34" charset="-120"/>
              </a:rPr>
              <a:t>train / test split</a:t>
            </a:r>
            <a:endParaRPr lang="en-US" sz="1050" dirty="0"/>
          </a:p>
        </p:txBody>
      </p:sp>
      <p:sp>
        <p:nvSpPr>
          <p:cNvPr id="44" name="Shape 37"/>
          <p:cNvSpPr/>
          <p:nvPr/>
        </p:nvSpPr>
        <p:spPr>
          <a:xfrm>
            <a:off x="6766560" y="3749040"/>
            <a:ext cx="1993392" cy="841248"/>
          </a:xfrm>
          <a:prstGeom prst="roundRect">
            <a:avLst>
              <a:gd name="adj" fmla="val 869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45" name="Text 38"/>
          <p:cNvSpPr/>
          <p:nvPr/>
        </p:nvSpPr>
        <p:spPr>
          <a:xfrm>
            <a:off x="6858000" y="3822192"/>
            <a:ext cx="1810512" cy="457200"/>
          </a:xfrm>
          <a:prstGeom prst="rect">
            <a:avLst/>
          </a:prstGeom>
          <a:noFill/>
          <a:ln/>
        </p:spPr>
        <p:txBody>
          <a:bodyPr wrap="square" lIns="0" tIns="0" rIns="0" bIns="0" rtlCol="0" anchor="ctr"/>
          <a:lstStyle/>
          <a:p>
            <a:pPr marL="0" indent="0" algn="ctr">
              <a:buNone/>
            </a:pPr>
            <a:r>
              <a:rPr lang="en-US" sz="2300" b="1" dirty="0">
                <a:solidFill>
                  <a:srgbClr val="E9B44C"/>
                </a:solidFill>
                <a:latin typeface="Cambria" pitchFamily="34" charset="0"/>
                <a:ea typeface="Cambria" pitchFamily="34" charset="-122"/>
                <a:cs typeface="Cambria" pitchFamily="34" charset="-120"/>
              </a:rPr>
              <a:t>Binary</a:t>
            </a:r>
            <a:endParaRPr lang="en-US" sz="2300" dirty="0"/>
          </a:p>
        </p:txBody>
      </p:sp>
      <p:sp>
        <p:nvSpPr>
          <p:cNvPr id="46" name="Text 39"/>
          <p:cNvSpPr/>
          <p:nvPr/>
        </p:nvSpPr>
        <p:spPr>
          <a:xfrm>
            <a:off x="6858000" y="4261104"/>
            <a:ext cx="1810512" cy="274320"/>
          </a:xfrm>
          <a:prstGeom prst="rect">
            <a:avLst/>
          </a:prstGeom>
          <a:noFill/>
          <a:ln/>
        </p:spPr>
        <p:txBody>
          <a:bodyPr wrap="square" lIns="0" tIns="0" rIns="0" bIns="0" rtlCol="0" anchor="ctr"/>
          <a:lstStyle/>
          <a:p>
            <a:pPr marL="0" indent="0" algn="ctr">
              <a:buNone/>
            </a:pPr>
            <a:r>
              <a:rPr lang="en-US" sz="1050" dirty="0">
                <a:solidFill>
                  <a:srgbClr val="9AD1D4"/>
                </a:solidFill>
                <a:latin typeface="Calibri" pitchFamily="34" charset="0"/>
                <a:ea typeface="Calibri" pitchFamily="34" charset="-122"/>
                <a:cs typeface="Calibri" pitchFamily="34" charset="-120"/>
              </a:rPr>
              <a:t>vaccine: yes / no</a:t>
            </a:r>
            <a:endParaRPr lang="en-US" sz="1050" dirty="0"/>
          </a:p>
        </p:txBody>
      </p:sp>
      <p:sp>
        <p:nvSpPr>
          <p:cNvPr id="47" name="Text 40"/>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9</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Modelling</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Four architectures compared; the strongest selected for deployment</a:t>
            </a:r>
            <a:endParaRPr lang="en-US" sz="1250" dirty="0"/>
          </a:p>
        </p:txBody>
      </p:sp>
      <p:sp>
        <p:nvSpPr>
          <p:cNvPr id="6" name="Shape 3"/>
          <p:cNvSpPr/>
          <p:nvPr/>
        </p:nvSpPr>
        <p:spPr>
          <a:xfrm>
            <a:off x="457200" y="1463040"/>
            <a:ext cx="1993392"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1170432" y="1645920"/>
            <a:ext cx="566928" cy="566928"/>
          </a:xfrm>
          <a:prstGeom prst="ellipse">
            <a:avLst/>
          </a:prstGeom>
          <a:solidFill>
            <a:srgbClr val="3E9D9B"/>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1317833" y="1793321"/>
            <a:ext cx="272125" cy="272125"/>
          </a:xfrm>
          <a:prstGeom prst="rect">
            <a:avLst/>
          </a:prstGeom>
        </p:spPr>
      </p:pic>
      <p:sp>
        <p:nvSpPr>
          <p:cNvPr id="9" name="Text 5"/>
          <p:cNvSpPr/>
          <p:nvPr/>
        </p:nvSpPr>
        <p:spPr>
          <a:xfrm>
            <a:off x="548640" y="2249424"/>
            <a:ext cx="1810512" cy="329184"/>
          </a:xfrm>
          <a:prstGeom prst="rect">
            <a:avLst/>
          </a:prstGeom>
          <a:noFill/>
          <a:ln/>
        </p:spPr>
        <p:txBody>
          <a:bodyPr wrap="square" lIns="0" tIns="0" rIns="0" bIns="0" rtlCol="0" anchor="ctr"/>
          <a:lstStyle/>
          <a:p>
            <a:pPr marL="0" indent="0" algn="ctr">
              <a:buNone/>
            </a:pPr>
            <a:r>
              <a:rPr lang="en-US" sz="1250" b="1" dirty="0">
                <a:solidFill>
                  <a:srgbClr val="0A2E36"/>
                </a:solidFill>
                <a:latin typeface="Cambria" pitchFamily="34" charset="0"/>
                <a:ea typeface="Cambria" pitchFamily="34" charset="-122"/>
                <a:cs typeface="Cambria" pitchFamily="34" charset="-120"/>
              </a:rPr>
              <a:t>Logistic Regression</a:t>
            </a:r>
            <a:endParaRPr lang="en-US" sz="1250" dirty="0"/>
          </a:p>
        </p:txBody>
      </p:sp>
      <p:sp>
        <p:nvSpPr>
          <p:cNvPr id="10" name="Text 6"/>
          <p:cNvSpPr/>
          <p:nvPr/>
        </p:nvSpPr>
        <p:spPr>
          <a:xfrm>
            <a:off x="548640" y="2542032"/>
            <a:ext cx="1810512" cy="256032"/>
          </a:xfrm>
          <a:prstGeom prst="rect">
            <a:avLst/>
          </a:prstGeom>
          <a:noFill/>
          <a:ln/>
        </p:spPr>
        <p:txBody>
          <a:bodyPr wrap="square" lIns="0" tIns="0" rIns="0" bIns="0" rtlCol="0" anchor="ctr"/>
          <a:lstStyle/>
          <a:p>
            <a:pPr marL="0" indent="0" algn="ctr">
              <a:buNone/>
            </a:pPr>
            <a:r>
              <a:rPr lang="en-US" sz="1050" dirty="0">
                <a:solidFill>
                  <a:srgbClr val="55686B"/>
                </a:solidFill>
                <a:latin typeface="Calibri" pitchFamily="34" charset="0"/>
                <a:ea typeface="Calibri" pitchFamily="34" charset="-122"/>
                <a:cs typeface="Calibri" pitchFamily="34" charset="-120"/>
              </a:rPr>
              <a:t>Linear baseline</a:t>
            </a:r>
            <a:endParaRPr lang="en-US" sz="1050" dirty="0"/>
          </a:p>
        </p:txBody>
      </p:sp>
      <p:sp>
        <p:nvSpPr>
          <p:cNvPr id="11" name="Shape 7"/>
          <p:cNvSpPr/>
          <p:nvPr/>
        </p:nvSpPr>
        <p:spPr>
          <a:xfrm>
            <a:off x="2560320" y="1463040"/>
            <a:ext cx="1993392"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3273552" y="1645920"/>
            <a:ext cx="566928" cy="566928"/>
          </a:xfrm>
          <a:prstGeom prst="ellipse">
            <a:avLst/>
          </a:prstGeom>
          <a:solidFill>
            <a:srgbClr val="3E9D9B"/>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3420953" y="1793321"/>
            <a:ext cx="272125" cy="272125"/>
          </a:xfrm>
          <a:prstGeom prst="rect">
            <a:avLst/>
          </a:prstGeom>
        </p:spPr>
      </p:pic>
      <p:sp>
        <p:nvSpPr>
          <p:cNvPr id="14" name="Text 9"/>
          <p:cNvSpPr/>
          <p:nvPr/>
        </p:nvSpPr>
        <p:spPr>
          <a:xfrm>
            <a:off x="2651760" y="2249424"/>
            <a:ext cx="1810512" cy="329184"/>
          </a:xfrm>
          <a:prstGeom prst="rect">
            <a:avLst/>
          </a:prstGeom>
          <a:noFill/>
          <a:ln/>
        </p:spPr>
        <p:txBody>
          <a:bodyPr wrap="square" lIns="0" tIns="0" rIns="0" bIns="0" rtlCol="0" anchor="ctr"/>
          <a:lstStyle/>
          <a:p>
            <a:pPr marL="0" indent="0" algn="ctr">
              <a:buNone/>
            </a:pPr>
            <a:r>
              <a:rPr lang="en-US" sz="1250" b="1" dirty="0">
                <a:solidFill>
                  <a:srgbClr val="0A2E36"/>
                </a:solidFill>
                <a:latin typeface="Cambria" pitchFamily="34" charset="0"/>
                <a:ea typeface="Cambria" pitchFamily="34" charset="-122"/>
                <a:cs typeface="Cambria" pitchFamily="34" charset="-120"/>
              </a:rPr>
              <a:t>Random Forest</a:t>
            </a:r>
            <a:endParaRPr lang="en-US" sz="1250" dirty="0"/>
          </a:p>
        </p:txBody>
      </p:sp>
      <p:sp>
        <p:nvSpPr>
          <p:cNvPr id="15" name="Text 10"/>
          <p:cNvSpPr/>
          <p:nvPr/>
        </p:nvSpPr>
        <p:spPr>
          <a:xfrm>
            <a:off x="2651760" y="2542032"/>
            <a:ext cx="1810512" cy="256032"/>
          </a:xfrm>
          <a:prstGeom prst="rect">
            <a:avLst/>
          </a:prstGeom>
          <a:noFill/>
          <a:ln/>
        </p:spPr>
        <p:txBody>
          <a:bodyPr wrap="square" lIns="0" tIns="0" rIns="0" bIns="0" rtlCol="0" anchor="ctr"/>
          <a:lstStyle/>
          <a:p>
            <a:pPr marL="0" indent="0" algn="ctr">
              <a:buNone/>
            </a:pPr>
            <a:r>
              <a:rPr lang="en-US" sz="1050" dirty="0">
                <a:solidFill>
                  <a:srgbClr val="55686B"/>
                </a:solidFill>
                <a:latin typeface="Calibri" pitchFamily="34" charset="0"/>
                <a:ea typeface="Calibri" pitchFamily="34" charset="-122"/>
                <a:cs typeface="Calibri" pitchFamily="34" charset="-120"/>
              </a:rPr>
              <a:t>Bagged trees</a:t>
            </a:r>
            <a:endParaRPr lang="en-US" sz="1050" dirty="0"/>
          </a:p>
        </p:txBody>
      </p:sp>
      <p:sp>
        <p:nvSpPr>
          <p:cNvPr id="16" name="Shape 11"/>
          <p:cNvSpPr/>
          <p:nvPr/>
        </p:nvSpPr>
        <p:spPr>
          <a:xfrm>
            <a:off x="4663440" y="1463040"/>
            <a:ext cx="1993392" cy="1371600"/>
          </a:xfrm>
          <a:prstGeom prst="roundRect">
            <a:avLst>
              <a:gd name="adj" fmla="val 5333"/>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5376672" y="1645920"/>
            <a:ext cx="566928" cy="566928"/>
          </a:xfrm>
          <a:prstGeom prst="ellipse">
            <a:avLst/>
          </a:prstGeom>
          <a:solidFill>
            <a:srgbClr val="E9B44C"/>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5524073" y="1793321"/>
            <a:ext cx="272125" cy="272125"/>
          </a:xfrm>
          <a:prstGeom prst="rect">
            <a:avLst/>
          </a:prstGeom>
        </p:spPr>
      </p:pic>
      <p:sp>
        <p:nvSpPr>
          <p:cNvPr id="19" name="Text 13"/>
          <p:cNvSpPr/>
          <p:nvPr/>
        </p:nvSpPr>
        <p:spPr>
          <a:xfrm>
            <a:off x="4754880" y="2249424"/>
            <a:ext cx="1810512" cy="329184"/>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XGBoost</a:t>
            </a:r>
            <a:endParaRPr lang="en-US" sz="1250" dirty="0"/>
          </a:p>
        </p:txBody>
      </p:sp>
      <p:sp>
        <p:nvSpPr>
          <p:cNvPr id="20" name="Text 14"/>
          <p:cNvSpPr/>
          <p:nvPr/>
        </p:nvSpPr>
        <p:spPr>
          <a:xfrm>
            <a:off x="4754880" y="2542032"/>
            <a:ext cx="1810512" cy="256032"/>
          </a:xfrm>
          <a:prstGeom prst="rect">
            <a:avLst/>
          </a:prstGeom>
          <a:noFill/>
          <a:ln/>
        </p:spPr>
        <p:txBody>
          <a:bodyPr wrap="square" lIns="0" tIns="0" rIns="0" bIns="0" rtlCol="0" anchor="ctr"/>
          <a:lstStyle/>
          <a:p>
            <a:pPr marL="0" indent="0" algn="ctr">
              <a:buNone/>
            </a:pPr>
            <a:r>
              <a:rPr lang="en-US" sz="1050" dirty="0">
                <a:solidFill>
                  <a:srgbClr val="9AD1D4"/>
                </a:solidFill>
                <a:latin typeface="Calibri" pitchFamily="34" charset="0"/>
                <a:ea typeface="Calibri" pitchFamily="34" charset="-122"/>
                <a:cs typeface="Calibri" pitchFamily="34" charset="-120"/>
              </a:rPr>
              <a:t>Boosted trees</a:t>
            </a:r>
            <a:endParaRPr lang="en-US" sz="1050" dirty="0"/>
          </a:p>
        </p:txBody>
      </p:sp>
      <p:sp>
        <p:nvSpPr>
          <p:cNvPr id="21" name="Text 15"/>
          <p:cNvSpPr/>
          <p:nvPr/>
        </p:nvSpPr>
        <p:spPr>
          <a:xfrm>
            <a:off x="4754880" y="1444752"/>
            <a:ext cx="1810512" cy="237744"/>
          </a:xfrm>
          <a:prstGeom prst="rect">
            <a:avLst/>
          </a:prstGeom>
          <a:noFill/>
          <a:ln/>
        </p:spPr>
        <p:txBody>
          <a:bodyPr wrap="square" lIns="0" tIns="0" rIns="0" bIns="0" rtlCol="0" anchor="ctr"/>
          <a:lstStyle/>
          <a:p>
            <a:pPr marL="0" indent="0" algn="ctr">
              <a:buNone/>
            </a:pPr>
            <a:r>
              <a:rPr lang="en-US" sz="900" b="1" kern="0" spc="200" dirty="0">
                <a:solidFill>
                  <a:srgbClr val="E9B44C"/>
                </a:solidFill>
                <a:latin typeface="Calibri" pitchFamily="34" charset="0"/>
                <a:ea typeface="Calibri" pitchFamily="34" charset="-122"/>
                <a:cs typeface="Calibri" pitchFamily="34" charset="-120"/>
              </a:rPr>
              <a:t>SELECTED</a:t>
            </a:r>
            <a:endParaRPr lang="en-US" sz="900" dirty="0"/>
          </a:p>
        </p:txBody>
      </p:sp>
      <p:sp>
        <p:nvSpPr>
          <p:cNvPr id="22" name="Shape 16"/>
          <p:cNvSpPr/>
          <p:nvPr/>
        </p:nvSpPr>
        <p:spPr>
          <a:xfrm>
            <a:off x="6766560" y="1463040"/>
            <a:ext cx="1993392"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Shape 17"/>
          <p:cNvSpPr/>
          <p:nvPr/>
        </p:nvSpPr>
        <p:spPr>
          <a:xfrm>
            <a:off x="7479792" y="1645920"/>
            <a:ext cx="566928" cy="566928"/>
          </a:xfrm>
          <a:prstGeom prst="ellipse">
            <a:avLst/>
          </a:prstGeom>
          <a:solidFill>
            <a:srgbClr val="3E9D9B"/>
          </a:solidFill>
          <a:ln/>
        </p:spPr>
        <p:txBody>
          <a:bodyPr/>
          <a:lstStyle/>
          <a:p>
            <a:endParaRPr lang="en-DE"/>
          </a:p>
        </p:txBody>
      </p:sp>
      <p:pic>
        <p:nvPicPr>
          <p:cNvPr id="24" name="Image 4" descr="preencoded.png"/>
          <p:cNvPicPr>
            <a:picLocks noChangeAspect="1"/>
          </p:cNvPicPr>
          <p:nvPr/>
        </p:nvPicPr>
        <p:blipFill>
          <a:blip r:embed="rId7"/>
          <a:stretch>
            <a:fillRect/>
          </a:stretch>
        </p:blipFill>
        <p:spPr>
          <a:xfrm>
            <a:off x="7627193" y="1793321"/>
            <a:ext cx="272125" cy="272125"/>
          </a:xfrm>
          <a:prstGeom prst="rect">
            <a:avLst/>
          </a:prstGeom>
        </p:spPr>
      </p:pic>
      <p:sp>
        <p:nvSpPr>
          <p:cNvPr id="25" name="Text 18"/>
          <p:cNvSpPr/>
          <p:nvPr/>
        </p:nvSpPr>
        <p:spPr>
          <a:xfrm>
            <a:off x="6858000" y="2249424"/>
            <a:ext cx="1810512" cy="329184"/>
          </a:xfrm>
          <a:prstGeom prst="rect">
            <a:avLst/>
          </a:prstGeom>
          <a:noFill/>
          <a:ln/>
        </p:spPr>
        <p:txBody>
          <a:bodyPr wrap="square" lIns="0" tIns="0" rIns="0" bIns="0" rtlCol="0" anchor="ctr"/>
          <a:lstStyle/>
          <a:p>
            <a:pPr marL="0" indent="0" algn="ctr">
              <a:buNone/>
            </a:pPr>
            <a:r>
              <a:rPr lang="en-US" sz="1250" b="1" dirty="0">
                <a:solidFill>
                  <a:srgbClr val="0A2E36"/>
                </a:solidFill>
                <a:latin typeface="Cambria" pitchFamily="34" charset="0"/>
                <a:ea typeface="Cambria" pitchFamily="34" charset="-122"/>
                <a:cs typeface="Cambria" pitchFamily="34" charset="-120"/>
              </a:rPr>
              <a:t>Multi-layer Perceptron</a:t>
            </a:r>
            <a:endParaRPr lang="en-US" sz="1250" dirty="0"/>
          </a:p>
        </p:txBody>
      </p:sp>
      <p:sp>
        <p:nvSpPr>
          <p:cNvPr id="26" name="Text 19"/>
          <p:cNvSpPr/>
          <p:nvPr/>
        </p:nvSpPr>
        <p:spPr>
          <a:xfrm>
            <a:off x="6858000" y="2542032"/>
            <a:ext cx="1810512" cy="256032"/>
          </a:xfrm>
          <a:prstGeom prst="rect">
            <a:avLst/>
          </a:prstGeom>
          <a:noFill/>
          <a:ln/>
        </p:spPr>
        <p:txBody>
          <a:bodyPr wrap="square" lIns="0" tIns="0" rIns="0" bIns="0" rtlCol="0" anchor="ctr"/>
          <a:lstStyle/>
          <a:p>
            <a:pPr marL="0" indent="0" algn="ctr">
              <a:buNone/>
            </a:pPr>
            <a:r>
              <a:rPr lang="en-US" sz="1050" dirty="0">
                <a:solidFill>
                  <a:srgbClr val="55686B"/>
                </a:solidFill>
                <a:latin typeface="Calibri" pitchFamily="34" charset="0"/>
                <a:ea typeface="Calibri" pitchFamily="34" charset="-122"/>
                <a:cs typeface="Calibri" pitchFamily="34" charset="-120"/>
              </a:rPr>
              <a:t>Neural network</a:t>
            </a:r>
            <a:endParaRPr lang="en-US" sz="1050" dirty="0"/>
          </a:p>
        </p:txBody>
      </p:sp>
      <p:sp>
        <p:nvSpPr>
          <p:cNvPr id="27" name="Shape 20"/>
          <p:cNvSpPr/>
          <p:nvPr/>
        </p:nvSpPr>
        <p:spPr>
          <a:xfrm>
            <a:off x="457200" y="3127248"/>
            <a:ext cx="5212080" cy="1444752"/>
          </a:xfrm>
          <a:prstGeom prst="roundRect">
            <a:avLst>
              <a:gd name="adj" fmla="val 506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8" name="Shape 21"/>
          <p:cNvSpPr/>
          <p:nvPr/>
        </p:nvSpPr>
        <p:spPr>
          <a:xfrm>
            <a:off x="658368" y="3310128"/>
            <a:ext cx="493776" cy="493776"/>
          </a:xfrm>
          <a:prstGeom prst="ellipse">
            <a:avLst/>
          </a:prstGeom>
          <a:solidFill>
            <a:srgbClr val="127475"/>
          </a:solidFill>
          <a:ln/>
        </p:spPr>
        <p:txBody>
          <a:bodyPr/>
          <a:lstStyle/>
          <a:p>
            <a:endParaRPr lang="en-DE"/>
          </a:p>
        </p:txBody>
      </p:sp>
      <p:pic>
        <p:nvPicPr>
          <p:cNvPr id="29" name="Image 5" descr="preencoded.png"/>
          <p:cNvPicPr>
            <a:picLocks noChangeAspect="1"/>
          </p:cNvPicPr>
          <p:nvPr/>
        </p:nvPicPr>
        <p:blipFill>
          <a:blip r:embed="rId8"/>
          <a:stretch>
            <a:fillRect/>
          </a:stretch>
        </p:blipFill>
        <p:spPr>
          <a:xfrm>
            <a:off x="786750" y="3438510"/>
            <a:ext cx="237012" cy="237012"/>
          </a:xfrm>
          <a:prstGeom prst="rect">
            <a:avLst/>
          </a:prstGeom>
        </p:spPr>
      </p:pic>
      <p:sp>
        <p:nvSpPr>
          <p:cNvPr id="30" name="Text 22"/>
          <p:cNvSpPr/>
          <p:nvPr/>
        </p:nvSpPr>
        <p:spPr>
          <a:xfrm>
            <a:off x="1298448" y="3346704"/>
            <a:ext cx="4206240" cy="310896"/>
          </a:xfrm>
          <a:prstGeom prst="rect">
            <a:avLst/>
          </a:prstGeom>
          <a:noFill/>
          <a:ln/>
        </p:spPr>
        <p:txBody>
          <a:bodyPr wrap="square" lIns="0" tIns="0" rIns="0" bIns="0" rtlCol="0" anchor="ctr"/>
          <a:lstStyle/>
          <a:p>
            <a:pPr marL="0" indent="0">
              <a:buNone/>
            </a:pPr>
            <a:r>
              <a:rPr lang="en-US" sz="1400" b="1" dirty="0">
                <a:solidFill>
                  <a:srgbClr val="0A2E36"/>
                </a:solidFill>
                <a:latin typeface="Cambria" pitchFamily="34" charset="0"/>
                <a:ea typeface="Cambria" pitchFamily="34" charset="-122"/>
                <a:cs typeface="Cambria" pitchFamily="34" charset="-120"/>
              </a:rPr>
              <a:t>Hyperparameter tuning</a:t>
            </a:r>
            <a:endParaRPr lang="en-US" sz="1400" dirty="0"/>
          </a:p>
        </p:txBody>
      </p:sp>
      <p:sp>
        <p:nvSpPr>
          <p:cNvPr id="31" name="Text 23"/>
          <p:cNvSpPr/>
          <p:nvPr/>
        </p:nvSpPr>
        <p:spPr>
          <a:xfrm>
            <a:off x="676656" y="3767328"/>
            <a:ext cx="4846320" cy="7772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83036"/>
                </a:solidFill>
                <a:latin typeface="Calibri" pitchFamily="34" charset="0"/>
                <a:ea typeface="Calibri" pitchFamily="34" charset="-122"/>
                <a:cs typeface="Calibri" pitchFamily="34" charset="-120"/>
              </a:rPr>
              <a:t>Randomised 5-fold cross-validated grid search</a:t>
            </a:r>
            <a:endParaRPr lang="en-US" sz="1150" dirty="0"/>
          </a:p>
          <a:p>
            <a:pPr marL="342900" indent="-342900">
              <a:spcAft>
                <a:spcPts val="400"/>
              </a:spcAft>
              <a:buSzPct val="100000"/>
              <a:buChar char="•"/>
            </a:pPr>
            <a:r>
              <a:rPr lang="en-US" sz="1150" dirty="0">
                <a:solidFill>
                  <a:srgbClr val="183036"/>
                </a:solidFill>
                <a:latin typeface="Calibri" pitchFamily="34" charset="0"/>
                <a:ea typeface="Calibri" pitchFamily="34" charset="-122"/>
                <a:cs typeface="Calibri" pitchFamily="34" charset="-120"/>
              </a:rPr>
              <a:t>50 iterations × 5 folds = 250 fits per model</a:t>
            </a:r>
            <a:endParaRPr lang="en-US" sz="1150" dirty="0"/>
          </a:p>
          <a:p>
            <a:pPr marL="342900" indent="-342900">
              <a:spcAft>
                <a:spcPts val="400"/>
              </a:spcAft>
              <a:buSzPct val="100000"/>
              <a:buChar char="•"/>
            </a:pPr>
            <a:r>
              <a:rPr lang="en-US" sz="1150" dirty="0">
                <a:solidFill>
                  <a:srgbClr val="183036"/>
                </a:solidFill>
                <a:latin typeface="Calibri" pitchFamily="34" charset="0"/>
                <a:ea typeface="Calibri" pitchFamily="34" charset="-122"/>
                <a:cs typeface="Calibri" pitchFamily="34" charset="-120"/>
              </a:rPr>
              <a:t>Best parameters chosen on ROC-AUC</a:t>
            </a:r>
            <a:endParaRPr lang="en-US" sz="1150" dirty="0"/>
          </a:p>
        </p:txBody>
      </p:sp>
      <p:sp>
        <p:nvSpPr>
          <p:cNvPr id="32" name="Shape 24"/>
          <p:cNvSpPr/>
          <p:nvPr/>
        </p:nvSpPr>
        <p:spPr>
          <a:xfrm>
            <a:off x="5852160" y="3127248"/>
            <a:ext cx="2834640" cy="1444752"/>
          </a:xfrm>
          <a:prstGeom prst="roundRect">
            <a:avLst>
              <a:gd name="adj" fmla="val 5063"/>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33" name="Text 25"/>
          <p:cNvSpPr/>
          <p:nvPr/>
        </p:nvSpPr>
        <p:spPr>
          <a:xfrm>
            <a:off x="6035040" y="3291840"/>
            <a:ext cx="2468880" cy="274320"/>
          </a:xfrm>
          <a:prstGeom prst="rect">
            <a:avLst/>
          </a:prstGeom>
          <a:noFill/>
          <a:ln/>
        </p:spPr>
        <p:txBody>
          <a:bodyPr wrap="square" lIns="0" tIns="0" rIns="0" bIns="0" rtlCol="0" anchor="ctr"/>
          <a:lstStyle/>
          <a:p>
            <a:pPr marL="0" indent="0">
              <a:buNone/>
            </a:pPr>
            <a:r>
              <a:rPr lang="en-US" sz="1200" b="1" kern="0" spc="100" dirty="0">
                <a:solidFill>
                  <a:srgbClr val="9AD1D4"/>
                </a:solidFill>
                <a:latin typeface="Calibri" pitchFamily="34" charset="0"/>
                <a:ea typeface="Calibri" pitchFamily="34" charset="-122"/>
                <a:cs typeface="Calibri" pitchFamily="34" charset="-120"/>
              </a:rPr>
              <a:t>Deployed model</a:t>
            </a:r>
            <a:endParaRPr lang="en-US" sz="1200" dirty="0"/>
          </a:p>
        </p:txBody>
      </p:sp>
      <p:sp>
        <p:nvSpPr>
          <p:cNvPr id="34" name="Text 26"/>
          <p:cNvSpPr/>
          <p:nvPr/>
        </p:nvSpPr>
        <p:spPr>
          <a:xfrm>
            <a:off x="6035040" y="3584448"/>
            <a:ext cx="2468880" cy="457200"/>
          </a:xfrm>
          <a:prstGeom prst="rect">
            <a:avLst/>
          </a:prstGeom>
          <a:noFill/>
          <a:ln/>
        </p:spPr>
        <p:txBody>
          <a:bodyPr wrap="square" lIns="0" tIns="0" rIns="0" bIns="0" rtlCol="0" anchor="ctr"/>
          <a:lstStyle/>
          <a:p>
            <a:pPr marL="0" indent="0">
              <a:buNone/>
            </a:pPr>
            <a:r>
              <a:rPr lang="en-US" sz="2600" b="1" dirty="0">
                <a:solidFill>
                  <a:srgbClr val="E9B44C"/>
                </a:solidFill>
                <a:latin typeface="Cambria" pitchFamily="34" charset="0"/>
                <a:ea typeface="Cambria" pitchFamily="34" charset="-122"/>
                <a:cs typeface="Cambria" pitchFamily="34" charset="-120"/>
              </a:rPr>
              <a:t>XGBoost</a:t>
            </a:r>
            <a:endParaRPr lang="en-US" sz="2600" dirty="0"/>
          </a:p>
        </p:txBody>
      </p:sp>
      <p:sp>
        <p:nvSpPr>
          <p:cNvPr id="35" name="Text 27"/>
          <p:cNvSpPr/>
          <p:nvPr/>
        </p:nvSpPr>
        <p:spPr>
          <a:xfrm>
            <a:off x="6035040" y="4078224"/>
            <a:ext cx="2514600" cy="457200"/>
          </a:xfrm>
          <a:prstGeom prst="rect">
            <a:avLst/>
          </a:prstGeom>
          <a:noFill/>
          <a:ln/>
        </p:spPr>
        <p:txBody>
          <a:bodyPr wrap="square" lIns="0" tIns="0" rIns="0" bIns="0" rtlCol="0" anchor="ctr"/>
          <a:lstStyle/>
          <a:p>
            <a:pPr marL="0" indent="0">
              <a:buNone/>
            </a:pPr>
            <a:r>
              <a:rPr lang="en-US" sz="1050" dirty="0">
                <a:solidFill>
                  <a:srgbClr val="F1F7F7"/>
                </a:solidFill>
                <a:latin typeface="Calibri" pitchFamily="34" charset="0"/>
                <a:ea typeface="Calibri" pitchFamily="34" charset="-122"/>
                <a:cs typeface="Calibri" pitchFamily="34" charset="-120"/>
              </a:rPr>
              <a:t>Highest ROC-AUC; exported for explanation with DALEX.</a:t>
            </a:r>
            <a:endParaRPr lang="en-US" sz="1050" dirty="0"/>
          </a:p>
        </p:txBody>
      </p:sp>
      <p:sp>
        <p:nvSpPr>
          <p:cNvPr id="36" name="Text 28"/>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Explanations — the XAI artefacts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Global, post-hoc methods the LLMs must read and explain</a:t>
            </a:r>
            <a:endParaRPr lang="en-US" sz="1250" dirty="0"/>
          </a:p>
        </p:txBody>
      </p:sp>
      <p:sp>
        <p:nvSpPr>
          <p:cNvPr id="6" name="Shape 3"/>
          <p:cNvSpPr/>
          <p:nvPr/>
        </p:nvSpPr>
        <p:spPr>
          <a:xfrm>
            <a:off x="457200"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40080" y="1554480"/>
            <a:ext cx="512064" cy="512064"/>
          </a:xfrm>
          <a:prstGeom prst="ellipse">
            <a:avLst/>
          </a:prstGeom>
          <a:solidFill>
            <a:srgbClr val="3E9D9B"/>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773217" y="1687617"/>
            <a:ext cx="245791" cy="245791"/>
          </a:xfrm>
          <a:prstGeom prst="rect">
            <a:avLst/>
          </a:prstGeom>
        </p:spPr>
      </p:pic>
      <p:sp>
        <p:nvSpPr>
          <p:cNvPr id="9" name="Text 5"/>
          <p:cNvSpPr/>
          <p:nvPr/>
        </p:nvSpPr>
        <p:spPr>
          <a:xfrm>
            <a:off x="1243584" y="1554480"/>
            <a:ext cx="1764792" cy="512064"/>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Confusion matrix</a:t>
            </a:r>
            <a:endParaRPr lang="en-US" sz="1350" dirty="0"/>
          </a:p>
        </p:txBody>
      </p:sp>
      <p:sp>
        <p:nvSpPr>
          <p:cNvPr id="10" name="Text 6"/>
          <p:cNvSpPr/>
          <p:nvPr/>
        </p:nvSpPr>
        <p:spPr>
          <a:xfrm>
            <a:off x="640080" y="2157984"/>
            <a:ext cx="2350008" cy="640080"/>
          </a:xfrm>
          <a:prstGeom prst="rect">
            <a:avLst/>
          </a:prstGeom>
          <a:noFill/>
          <a:ln/>
        </p:spPr>
        <p:txBody>
          <a:bodyPr wrap="square" lIns="0" tIns="0" rIns="0" bIns="0" rtlCol="0" anchor="ctr"/>
          <a:lstStyle/>
          <a:p>
            <a:pPr marL="0" indent="0">
              <a:buNone/>
            </a:pPr>
            <a:r>
              <a:rPr lang="en-US" sz="1100" dirty="0">
                <a:solidFill>
                  <a:srgbClr val="55686B"/>
                </a:solidFill>
                <a:latin typeface="Calibri" pitchFamily="34" charset="0"/>
                <a:ea typeface="Calibri" pitchFamily="34" charset="-122"/>
                <a:cs typeface="Calibri" pitchFamily="34" charset="-120"/>
              </a:rPr>
              <a:t>Precision, recall, accuracy, F1 per class.</a:t>
            </a:r>
            <a:endParaRPr lang="en-US" sz="1100" dirty="0"/>
          </a:p>
        </p:txBody>
      </p:sp>
      <p:sp>
        <p:nvSpPr>
          <p:cNvPr id="11" name="Shape 7"/>
          <p:cNvSpPr/>
          <p:nvPr/>
        </p:nvSpPr>
        <p:spPr>
          <a:xfrm>
            <a:off x="3232404"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3415284" y="1554480"/>
            <a:ext cx="512064" cy="512064"/>
          </a:xfrm>
          <a:prstGeom prst="ellipse">
            <a:avLst/>
          </a:prstGeom>
          <a:solidFill>
            <a:srgbClr val="3E9D9B"/>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3548421" y="1687617"/>
            <a:ext cx="245791" cy="245791"/>
          </a:xfrm>
          <a:prstGeom prst="rect">
            <a:avLst/>
          </a:prstGeom>
        </p:spPr>
      </p:pic>
      <p:sp>
        <p:nvSpPr>
          <p:cNvPr id="14" name="Text 9"/>
          <p:cNvSpPr/>
          <p:nvPr/>
        </p:nvSpPr>
        <p:spPr>
          <a:xfrm>
            <a:off x="4018788" y="1554480"/>
            <a:ext cx="1764792" cy="512064"/>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AUC-ROC</a:t>
            </a:r>
            <a:endParaRPr lang="en-US" sz="1350" dirty="0"/>
          </a:p>
        </p:txBody>
      </p:sp>
      <p:sp>
        <p:nvSpPr>
          <p:cNvPr id="15" name="Text 10"/>
          <p:cNvSpPr/>
          <p:nvPr/>
        </p:nvSpPr>
        <p:spPr>
          <a:xfrm>
            <a:off x="3415284" y="2157984"/>
            <a:ext cx="2350008" cy="640080"/>
          </a:xfrm>
          <a:prstGeom prst="rect">
            <a:avLst/>
          </a:prstGeom>
          <a:noFill/>
          <a:ln/>
        </p:spPr>
        <p:txBody>
          <a:bodyPr wrap="square" lIns="0" tIns="0" rIns="0" bIns="0" rtlCol="0" anchor="ctr"/>
          <a:lstStyle/>
          <a:p>
            <a:pPr marL="0" indent="0">
              <a:buNone/>
            </a:pPr>
            <a:r>
              <a:rPr lang="en-US" sz="1100" dirty="0">
                <a:solidFill>
                  <a:srgbClr val="55686B"/>
                </a:solidFill>
                <a:latin typeface="Calibri" pitchFamily="34" charset="0"/>
                <a:ea typeface="Calibri" pitchFamily="34" charset="-122"/>
                <a:cs typeface="Calibri" pitchFamily="34" charset="-120"/>
              </a:rPr>
              <a:t>Class separability across thresholds.</a:t>
            </a:r>
            <a:endParaRPr lang="en-US" sz="1100" dirty="0"/>
          </a:p>
        </p:txBody>
      </p:sp>
      <p:sp>
        <p:nvSpPr>
          <p:cNvPr id="16" name="Shape 11"/>
          <p:cNvSpPr/>
          <p:nvPr/>
        </p:nvSpPr>
        <p:spPr>
          <a:xfrm>
            <a:off x="6007608"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6190488" y="1554480"/>
            <a:ext cx="512064" cy="512064"/>
          </a:xfrm>
          <a:prstGeom prst="ellipse">
            <a:avLst/>
          </a:prstGeom>
          <a:solidFill>
            <a:srgbClr val="3E9D9B"/>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6323625" y="1687617"/>
            <a:ext cx="245791" cy="245791"/>
          </a:xfrm>
          <a:prstGeom prst="rect">
            <a:avLst/>
          </a:prstGeom>
        </p:spPr>
      </p:pic>
      <p:sp>
        <p:nvSpPr>
          <p:cNvPr id="19" name="Text 13"/>
          <p:cNvSpPr/>
          <p:nvPr/>
        </p:nvSpPr>
        <p:spPr>
          <a:xfrm>
            <a:off x="6793992" y="1554480"/>
            <a:ext cx="1764792" cy="512064"/>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Feature importance</a:t>
            </a:r>
            <a:endParaRPr lang="en-US" sz="1350" dirty="0"/>
          </a:p>
        </p:txBody>
      </p:sp>
      <p:sp>
        <p:nvSpPr>
          <p:cNvPr id="20" name="Text 14"/>
          <p:cNvSpPr/>
          <p:nvPr/>
        </p:nvSpPr>
        <p:spPr>
          <a:xfrm>
            <a:off x="6190488" y="2157984"/>
            <a:ext cx="2350008" cy="640080"/>
          </a:xfrm>
          <a:prstGeom prst="rect">
            <a:avLst/>
          </a:prstGeom>
          <a:noFill/>
          <a:ln/>
        </p:spPr>
        <p:txBody>
          <a:bodyPr wrap="square" lIns="0" tIns="0" rIns="0" bIns="0" rtlCol="0" anchor="ctr"/>
          <a:lstStyle/>
          <a:p>
            <a:pPr marL="0" indent="0">
              <a:buNone/>
            </a:pPr>
            <a:r>
              <a:rPr lang="en-US" sz="1100" dirty="0">
                <a:solidFill>
                  <a:srgbClr val="55686B"/>
                </a:solidFill>
                <a:latin typeface="Calibri" pitchFamily="34" charset="0"/>
                <a:ea typeface="Calibri" pitchFamily="34" charset="-122"/>
                <a:cs typeface="Calibri" pitchFamily="34" charset="-120"/>
              </a:rPr>
              <a:t>Permutation / dropout-loss ranking (DALEX).</a:t>
            </a:r>
            <a:endParaRPr lang="en-US" sz="1100" dirty="0"/>
          </a:p>
        </p:txBody>
      </p:sp>
      <p:sp>
        <p:nvSpPr>
          <p:cNvPr id="21" name="Shape 15"/>
          <p:cNvSpPr/>
          <p:nvPr/>
        </p:nvSpPr>
        <p:spPr>
          <a:xfrm>
            <a:off x="457200"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2" name="Shape 16"/>
          <p:cNvSpPr/>
          <p:nvPr/>
        </p:nvSpPr>
        <p:spPr>
          <a:xfrm>
            <a:off x="640080" y="3255264"/>
            <a:ext cx="512064" cy="512064"/>
          </a:xfrm>
          <a:prstGeom prst="ellipse">
            <a:avLst/>
          </a:prstGeom>
          <a:solidFill>
            <a:srgbClr val="3E9D9B"/>
          </a:solidFill>
          <a:ln/>
        </p:spPr>
        <p:txBody>
          <a:bodyPr/>
          <a:lstStyle/>
          <a:p>
            <a:endParaRPr lang="en-DE"/>
          </a:p>
        </p:txBody>
      </p:sp>
      <p:pic>
        <p:nvPicPr>
          <p:cNvPr id="23" name="Image 4" descr="preencoded.png"/>
          <p:cNvPicPr>
            <a:picLocks noChangeAspect="1"/>
          </p:cNvPicPr>
          <p:nvPr/>
        </p:nvPicPr>
        <p:blipFill>
          <a:blip r:embed="rId7"/>
          <a:stretch>
            <a:fillRect/>
          </a:stretch>
        </p:blipFill>
        <p:spPr>
          <a:xfrm>
            <a:off x="773217" y="3388401"/>
            <a:ext cx="245791" cy="245791"/>
          </a:xfrm>
          <a:prstGeom prst="rect">
            <a:avLst/>
          </a:prstGeom>
        </p:spPr>
      </p:pic>
      <p:sp>
        <p:nvSpPr>
          <p:cNvPr id="24" name="Text 17"/>
          <p:cNvSpPr/>
          <p:nvPr/>
        </p:nvSpPr>
        <p:spPr>
          <a:xfrm>
            <a:off x="1243584" y="3255264"/>
            <a:ext cx="1764792" cy="512064"/>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PDP &amp; ALE</a:t>
            </a:r>
            <a:endParaRPr lang="en-US" sz="1350" dirty="0"/>
          </a:p>
        </p:txBody>
      </p:sp>
      <p:sp>
        <p:nvSpPr>
          <p:cNvPr id="25" name="Text 18"/>
          <p:cNvSpPr/>
          <p:nvPr/>
        </p:nvSpPr>
        <p:spPr>
          <a:xfrm>
            <a:off x="640080" y="3858768"/>
            <a:ext cx="2350008" cy="640080"/>
          </a:xfrm>
          <a:prstGeom prst="rect">
            <a:avLst/>
          </a:prstGeom>
          <a:noFill/>
          <a:ln/>
        </p:spPr>
        <p:txBody>
          <a:bodyPr wrap="square" lIns="0" tIns="0" rIns="0" bIns="0" rtlCol="0" anchor="ctr"/>
          <a:lstStyle/>
          <a:p>
            <a:pPr marL="0" indent="0">
              <a:buNone/>
            </a:pPr>
            <a:r>
              <a:rPr lang="en-US" sz="1100" dirty="0">
                <a:solidFill>
                  <a:srgbClr val="55686B"/>
                </a:solidFill>
                <a:latin typeface="Calibri" pitchFamily="34" charset="0"/>
                <a:ea typeface="Calibri" pitchFamily="34" charset="-122"/>
                <a:cs typeface="Calibri" pitchFamily="34" charset="-120"/>
              </a:rPr>
              <a:t>Average feature effect; ALE handles correlation.</a:t>
            </a:r>
            <a:endParaRPr lang="en-US" sz="1100" dirty="0"/>
          </a:p>
        </p:txBody>
      </p:sp>
      <p:sp>
        <p:nvSpPr>
          <p:cNvPr id="26" name="Shape 19"/>
          <p:cNvSpPr/>
          <p:nvPr/>
        </p:nvSpPr>
        <p:spPr>
          <a:xfrm>
            <a:off x="3232404"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7" name="Shape 20"/>
          <p:cNvSpPr/>
          <p:nvPr/>
        </p:nvSpPr>
        <p:spPr>
          <a:xfrm>
            <a:off x="3415284" y="3255264"/>
            <a:ext cx="512064" cy="512064"/>
          </a:xfrm>
          <a:prstGeom prst="ellipse">
            <a:avLst/>
          </a:prstGeom>
          <a:solidFill>
            <a:srgbClr val="3E9D9B"/>
          </a:solidFill>
          <a:ln/>
        </p:spPr>
        <p:txBody>
          <a:bodyPr/>
          <a:lstStyle/>
          <a:p>
            <a:endParaRPr lang="en-DE"/>
          </a:p>
        </p:txBody>
      </p:sp>
      <p:pic>
        <p:nvPicPr>
          <p:cNvPr id="28" name="Image 5" descr="preencoded.png"/>
          <p:cNvPicPr>
            <a:picLocks noChangeAspect="1"/>
          </p:cNvPicPr>
          <p:nvPr/>
        </p:nvPicPr>
        <p:blipFill>
          <a:blip r:embed="rId8"/>
          <a:stretch>
            <a:fillRect/>
          </a:stretch>
        </p:blipFill>
        <p:spPr>
          <a:xfrm>
            <a:off x="3548421" y="3388401"/>
            <a:ext cx="245791" cy="245791"/>
          </a:xfrm>
          <a:prstGeom prst="rect">
            <a:avLst/>
          </a:prstGeom>
        </p:spPr>
      </p:pic>
      <p:sp>
        <p:nvSpPr>
          <p:cNvPr id="29" name="Text 21"/>
          <p:cNvSpPr/>
          <p:nvPr/>
        </p:nvSpPr>
        <p:spPr>
          <a:xfrm>
            <a:off x="4018788" y="3255264"/>
            <a:ext cx="1764792" cy="512064"/>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SHAP values</a:t>
            </a:r>
            <a:endParaRPr lang="en-US" sz="1350" dirty="0"/>
          </a:p>
        </p:txBody>
      </p:sp>
      <p:sp>
        <p:nvSpPr>
          <p:cNvPr id="30" name="Text 22"/>
          <p:cNvSpPr/>
          <p:nvPr/>
        </p:nvSpPr>
        <p:spPr>
          <a:xfrm>
            <a:off x="3415284" y="3858768"/>
            <a:ext cx="2350008" cy="640080"/>
          </a:xfrm>
          <a:prstGeom prst="rect">
            <a:avLst/>
          </a:prstGeom>
          <a:noFill/>
          <a:ln/>
        </p:spPr>
        <p:txBody>
          <a:bodyPr wrap="square" lIns="0" tIns="0" rIns="0" bIns="0" rtlCol="0" anchor="ctr"/>
          <a:lstStyle/>
          <a:p>
            <a:pPr marL="0" indent="0">
              <a:buNone/>
            </a:pPr>
            <a:r>
              <a:rPr lang="en-US" sz="1100" dirty="0">
                <a:solidFill>
                  <a:srgbClr val="55686B"/>
                </a:solidFill>
                <a:latin typeface="Calibri" pitchFamily="34" charset="0"/>
                <a:ea typeface="Calibri" pitchFamily="34" charset="-122"/>
                <a:cs typeface="Calibri" pitchFamily="34" charset="-120"/>
              </a:rPr>
              <a:t>Game-theoretic per-feature contributions.</a:t>
            </a:r>
            <a:endParaRPr lang="en-US" sz="1100" dirty="0"/>
          </a:p>
        </p:txBody>
      </p:sp>
      <p:sp>
        <p:nvSpPr>
          <p:cNvPr id="31" name="Shape 23"/>
          <p:cNvSpPr/>
          <p:nvPr/>
        </p:nvSpPr>
        <p:spPr>
          <a:xfrm>
            <a:off x="6007608"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32" name="Shape 24"/>
          <p:cNvSpPr/>
          <p:nvPr/>
        </p:nvSpPr>
        <p:spPr>
          <a:xfrm>
            <a:off x="6190488" y="3255264"/>
            <a:ext cx="512064" cy="512064"/>
          </a:xfrm>
          <a:prstGeom prst="ellipse">
            <a:avLst/>
          </a:prstGeom>
          <a:solidFill>
            <a:srgbClr val="3E9D9B"/>
          </a:solidFill>
          <a:ln/>
        </p:spPr>
        <p:txBody>
          <a:bodyPr/>
          <a:lstStyle/>
          <a:p>
            <a:endParaRPr lang="en-DE"/>
          </a:p>
        </p:txBody>
      </p:sp>
      <p:pic>
        <p:nvPicPr>
          <p:cNvPr id="33" name="Image 6" descr="preencoded.png"/>
          <p:cNvPicPr>
            <a:picLocks noChangeAspect="1"/>
          </p:cNvPicPr>
          <p:nvPr/>
        </p:nvPicPr>
        <p:blipFill>
          <a:blip r:embed="rId9"/>
          <a:stretch>
            <a:fillRect/>
          </a:stretch>
        </p:blipFill>
        <p:spPr>
          <a:xfrm>
            <a:off x="6323625" y="3388401"/>
            <a:ext cx="245791" cy="245791"/>
          </a:xfrm>
          <a:prstGeom prst="rect">
            <a:avLst/>
          </a:prstGeom>
        </p:spPr>
      </p:pic>
      <p:sp>
        <p:nvSpPr>
          <p:cNvPr id="34" name="Text 25"/>
          <p:cNvSpPr/>
          <p:nvPr/>
        </p:nvSpPr>
        <p:spPr>
          <a:xfrm>
            <a:off x="6793992" y="3255264"/>
            <a:ext cx="1764792" cy="512064"/>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Top features → UI</a:t>
            </a:r>
            <a:endParaRPr lang="en-US" sz="1350" dirty="0"/>
          </a:p>
        </p:txBody>
      </p:sp>
      <p:sp>
        <p:nvSpPr>
          <p:cNvPr id="35" name="Text 26"/>
          <p:cNvSpPr/>
          <p:nvPr/>
        </p:nvSpPr>
        <p:spPr>
          <a:xfrm>
            <a:off x="6190488" y="3858768"/>
            <a:ext cx="2350008" cy="640080"/>
          </a:xfrm>
          <a:prstGeom prst="rect">
            <a:avLst/>
          </a:prstGeom>
          <a:noFill/>
          <a:ln/>
        </p:spPr>
        <p:txBody>
          <a:bodyPr wrap="square" lIns="0" tIns="0" rIns="0" bIns="0" rtlCol="0" anchor="ctr"/>
          <a:lstStyle/>
          <a:p>
            <a:pPr marL="0" indent="0">
              <a:buNone/>
            </a:pPr>
            <a:r>
              <a:rPr lang="en-US" sz="1100" dirty="0">
                <a:solidFill>
                  <a:srgbClr val="55686B"/>
                </a:solidFill>
                <a:latin typeface="Calibri" pitchFamily="34" charset="0"/>
                <a:ea typeface="Calibri" pitchFamily="34" charset="-122"/>
                <a:cs typeface="Calibri" pitchFamily="34" charset="-120"/>
              </a:rPr>
              <a:t>Most important features drive the dashboard.</a:t>
            </a:r>
            <a:endParaRPr lang="en-US" sz="1100" dirty="0"/>
          </a:p>
        </p:txBody>
      </p:sp>
      <p:sp>
        <p:nvSpPr>
          <p:cNvPr id="36"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The What-If? dashboard</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An interactive UI — the system’s user-facing component</a:t>
            </a:r>
            <a:endParaRPr lang="en-US" sz="1250" dirty="0"/>
          </a:p>
        </p:txBody>
      </p:sp>
      <p:sp>
        <p:nvSpPr>
          <p:cNvPr id="6" name="Shape 3"/>
          <p:cNvSpPr/>
          <p:nvPr/>
        </p:nvSpPr>
        <p:spPr>
          <a:xfrm>
            <a:off x="457200" y="1417320"/>
            <a:ext cx="4023360" cy="3154680"/>
          </a:xfrm>
          <a:prstGeom prst="roundRect">
            <a:avLst>
              <a:gd name="adj" fmla="val 23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58368" y="1627632"/>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3"/>
          <a:stretch>
            <a:fillRect/>
          </a:stretch>
        </p:blipFill>
        <p:spPr>
          <a:xfrm>
            <a:off x="791505" y="1760769"/>
            <a:ext cx="245791" cy="245791"/>
          </a:xfrm>
          <a:prstGeom prst="rect">
            <a:avLst/>
          </a:prstGeom>
        </p:spPr>
      </p:pic>
      <p:sp>
        <p:nvSpPr>
          <p:cNvPr id="9" name="Text 5"/>
          <p:cNvSpPr/>
          <p:nvPr/>
        </p:nvSpPr>
        <p:spPr>
          <a:xfrm>
            <a:off x="1298448" y="1664208"/>
            <a:ext cx="2926080" cy="310896"/>
          </a:xfrm>
          <a:prstGeom prst="rect">
            <a:avLst/>
          </a:prstGeom>
          <a:noFill/>
          <a:ln/>
        </p:spPr>
        <p:txBody>
          <a:bodyPr wrap="square" lIns="0" tIns="0" rIns="0" bIns="0" rtlCol="0" anchor="ctr"/>
          <a:lstStyle/>
          <a:p>
            <a:pPr marL="0" indent="0">
              <a:buNone/>
            </a:pPr>
            <a:r>
              <a:rPr lang="en-US" sz="1500" b="1" dirty="0">
                <a:solidFill>
                  <a:srgbClr val="0A2E36"/>
                </a:solidFill>
                <a:latin typeface="Cambria" pitchFamily="34" charset="0"/>
                <a:ea typeface="Cambria" pitchFamily="34" charset="-122"/>
                <a:cs typeface="Cambria" pitchFamily="34" charset="-120"/>
              </a:rPr>
              <a:t>User controls</a:t>
            </a:r>
            <a:endParaRPr lang="en-US" sz="1500" dirty="0"/>
          </a:p>
        </p:txBody>
      </p:sp>
      <p:sp>
        <p:nvSpPr>
          <p:cNvPr id="10" name="Text 6"/>
          <p:cNvSpPr/>
          <p:nvPr/>
        </p:nvSpPr>
        <p:spPr>
          <a:xfrm>
            <a:off x="676656" y="2249424"/>
            <a:ext cx="3611880" cy="219456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Adjust the 6 most important features via select boxes</a:t>
            </a:r>
            <a:endParaRPr lang="en-US" sz="1200" dirty="0"/>
          </a:p>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Remaining features imputed to an “average” baseline</a:t>
            </a:r>
            <a:endParaRPr lang="en-US" sz="1200" dirty="0"/>
          </a:p>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Threshold slider sets how conservative the analysis is</a:t>
            </a:r>
            <a:endParaRPr lang="en-US" sz="1200" dirty="0"/>
          </a:p>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Outputs: prediction breakdown, SHAP, ceteris paribus</a:t>
            </a:r>
            <a:endParaRPr lang="en-US" sz="1200" dirty="0"/>
          </a:p>
        </p:txBody>
      </p:sp>
      <p:sp>
        <p:nvSpPr>
          <p:cNvPr id="11" name="Text 7"/>
          <p:cNvSpPr/>
          <p:nvPr/>
        </p:nvSpPr>
        <p:spPr>
          <a:xfrm>
            <a:off x="4663440" y="1417320"/>
            <a:ext cx="4023360" cy="292608"/>
          </a:xfrm>
          <a:prstGeom prst="rect">
            <a:avLst/>
          </a:prstGeom>
          <a:noFill/>
          <a:ln/>
        </p:spPr>
        <p:txBody>
          <a:bodyPr wrap="square" lIns="0" tIns="0" rIns="0" bIns="0" rtlCol="0" anchor="ctr"/>
          <a:lstStyle/>
          <a:p>
            <a:pPr marL="0" indent="0">
              <a:buNone/>
            </a:pPr>
            <a:r>
              <a:rPr lang="en-US" sz="1300" b="1" dirty="0">
                <a:solidFill>
                  <a:srgbClr val="0E5E5C"/>
                </a:solidFill>
                <a:latin typeface="Calibri" pitchFamily="34" charset="0"/>
                <a:ea typeface="Calibri" pitchFamily="34" charset="-122"/>
                <a:cs typeface="Calibri" pitchFamily="34" charset="-120"/>
              </a:rPr>
              <a:t>Six adjustable features</a:t>
            </a:r>
            <a:endParaRPr lang="en-US" sz="1300" dirty="0"/>
          </a:p>
        </p:txBody>
      </p:sp>
      <p:sp>
        <p:nvSpPr>
          <p:cNvPr id="12" name="Shape 8"/>
          <p:cNvSpPr/>
          <p:nvPr/>
        </p:nvSpPr>
        <p:spPr>
          <a:xfrm>
            <a:off x="4663440" y="1783080"/>
            <a:ext cx="4023360" cy="420624"/>
          </a:xfrm>
          <a:prstGeom prst="roundRect">
            <a:avLst>
              <a:gd name="adj" fmla="val 1739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3" name="Text 9"/>
          <p:cNvSpPr/>
          <p:nvPr/>
        </p:nvSpPr>
        <p:spPr>
          <a:xfrm>
            <a:off x="4882896" y="1783080"/>
            <a:ext cx="3566160" cy="42062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Doctor recommends H1N1 vaccine</a:t>
            </a:r>
            <a:endParaRPr lang="en-US" sz="1150" dirty="0"/>
          </a:p>
        </p:txBody>
      </p:sp>
      <p:sp>
        <p:nvSpPr>
          <p:cNvPr id="14" name="Shape 10"/>
          <p:cNvSpPr/>
          <p:nvPr/>
        </p:nvSpPr>
        <p:spPr>
          <a:xfrm>
            <a:off x="4663440" y="2258568"/>
            <a:ext cx="4023360" cy="420624"/>
          </a:xfrm>
          <a:prstGeom prst="roundRect">
            <a:avLst>
              <a:gd name="adj" fmla="val 1739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5" name="Text 11"/>
          <p:cNvSpPr/>
          <p:nvPr/>
        </p:nvSpPr>
        <p:spPr>
          <a:xfrm>
            <a:off x="4882896" y="2258568"/>
            <a:ext cx="3566160" cy="42062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Opinion: H1N1 vaccine is effective</a:t>
            </a:r>
            <a:endParaRPr lang="en-US" sz="1150" dirty="0"/>
          </a:p>
        </p:txBody>
      </p:sp>
      <p:sp>
        <p:nvSpPr>
          <p:cNvPr id="16" name="Shape 12"/>
          <p:cNvSpPr/>
          <p:nvPr/>
        </p:nvSpPr>
        <p:spPr>
          <a:xfrm>
            <a:off x="4663440" y="2734056"/>
            <a:ext cx="4023360" cy="420624"/>
          </a:xfrm>
          <a:prstGeom prst="roundRect">
            <a:avLst>
              <a:gd name="adj" fmla="val 1739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7" name="Text 13"/>
          <p:cNvSpPr/>
          <p:nvPr/>
        </p:nvSpPr>
        <p:spPr>
          <a:xfrm>
            <a:off x="4882896" y="2734056"/>
            <a:ext cx="3566160" cy="42062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Opinion: H1N1 is a risk</a:t>
            </a:r>
            <a:endParaRPr lang="en-US" sz="1150" dirty="0"/>
          </a:p>
        </p:txBody>
      </p:sp>
      <p:sp>
        <p:nvSpPr>
          <p:cNvPr id="18" name="Shape 14"/>
          <p:cNvSpPr/>
          <p:nvPr/>
        </p:nvSpPr>
        <p:spPr>
          <a:xfrm>
            <a:off x="4663440" y="3209544"/>
            <a:ext cx="4023360" cy="420624"/>
          </a:xfrm>
          <a:prstGeom prst="roundRect">
            <a:avLst>
              <a:gd name="adj" fmla="val 17391"/>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19" name="Shape 15"/>
          <p:cNvSpPr/>
          <p:nvPr/>
        </p:nvSpPr>
        <p:spPr>
          <a:xfrm>
            <a:off x="4663440" y="3209544"/>
            <a:ext cx="4023360" cy="420624"/>
          </a:xfrm>
          <a:prstGeom prst="roundRect">
            <a:avLst>
              <a:gd name="adj" fmla="val 13043"/>
            </a:avLst>
          </a:prstGeom>
          <a:ln w="12700">
            <a:solidFill>
              <a:srgbClr val="E7F0F0"/>
            </a:solidFill>
            <a:prstDash val="solid"/>
          </a:ln>
        </p:spPr>
        <p:txBody>
          <a:bodyPr/>
          <a:lstStyle/>
          <a:p>
            <a:endParaRPr lang="en-DE"/>
          </a:p>
        </p:txBody>
      </p:sp>
      <p:sp>
        <p:nvSpPr>
          <p:cNvPr id="20" name="Text 16"/>
          <p:cNvSpPr/>
          <p:nvPr/>
        </p:nvSpPr>
        <p:spPr>
          <a:xfrm>
            <a:off x="4882896" y="3209544"/>
            <a:ext cx="3566160" cy="420624"/>
          </a:xfrm>
          <a:prstGeom prst="rect">
            <a:avLst/>
          </a:prstGeom>
          <a:noFill/>
          <a:ln/>
        </p:spPr>
        <p:txBody>
          <a:bodyPr wrap="square" lIns="0" tIns="0" rIns="0" bIns="0" rtlCol="0" anchor="ctr"/>
          <a:lstStyle/>
          <a:p>
            <a:pPr marL="0" indent="0">
              <a:buNone/>
            </a:pPr>
            <a:r>
              <a:rPr lang="en-US" sz="1150" b="1" dirty="0">
                <a:solidFill>
                  <a:srgbClr val="183036"/>
                </a:solidFill>
                <a:latin typeface="Calibri" pitchFamily="34" charset="0"/>
                <a:ea typeface="Calibri" pitchFamily="34" charset="-122"/>
                <a:cs typeface="Calibri" pitchFamily="34" charset="-120"/>
              </a:rPr>
              <a:t>Age group</a:t>
            </a:r>
            <a:endParaRPr lang="en-US" sz="1150" dirty="0"/>
          </a:p>
        </p:txBody>
      </p:sp>
      <p:sp>
        <p:nvSpPr>
          <p:cNvPr id="21" name="Shape 17"/>
          <p:cNvSpPr/>
          <p:nvPr/>
        </p:nvSpPr>
        <p:spPr>
          <a:xfrm>
            <a:off x="4663440" y="3685032"/>
            <a:ext cx="4023360" cy="420624"/>
          </a:xfrm>
          <a:prstGeom prst="roundRect">
            <a:avLst>
              <a:gd name="adj" fmla="val 17391"/>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22" name="Shape 18"/>
          <p:cNvSpPr/>
          <p:nvPr/>
        </p:nvSpPr>
        <p:spPr>
          <a:xfrm>
            <a:off x="4663440" y="3685032"/>
            <a:ext cx="4023360" cy="420624"/>
          </a:xfrm>
          <a:prstGeom prst="roundRect">
            <a:avLst>
              <a:gd name="adj" fmla="val 13043"/>
            </a:avLst>
          </a:prstGeom>
          <a:ln w="12700">
            <a:solidFill>
              <a:srgbClr val="E7F0F0"/>
            </a:solidFill>
            <a:prstDash val="solid"/>
          </a:ln>
        </p:spPr>
        <p:txBody>
          <a:bodyPr/>
          <a:lstStyle/>
          <a:p>
            <a:endParaRPr lang="en-DE"/>
          </a:p>
        </p:txBody>
      </p:sp>
      <p:sp>
        <p:nvSpPr>
          <p:cNvPr id="23" name="Text 19"/>
          <p:cNvSpPr/>
          <p:nvPr/>
        </p:nvSpPr>
        <p:spPr>
          <a:xfrm>
            <a:off x="4882896" y="3685032"/>
            <a:ext cx="3566160" cy="420624"/>
          </a:xfrm>
          <a:prstGeom prst="rect">
            <a:avLst/>
          </a:prstGeom>
          <a:noFill/>
          <a:ln/>
        </p:spPr>
        <p:txBody>
          <a:bodyPr wrap="square" lIns="0" tIns="0" rIns="0" bIns="0" rtlCol="0" anchor="ctr"/>
          <a:lstStyle/>
          <a:p>
            <a:pPr marL="0" indent="0">
              <a:buNone/>
            </a:pPr>
            <a:r>
              <a:rPr lang="en-US" sz="1150" b="1" dirty="0">
                <a:solidFill>
                  <a:srgbClr val="183036"/>
                </a:solidFill>
                <a:latin typeface="Calibri" pitchFamily="34" charset="0"/>
                <a:ea typeface="Calibri" pitchFamily="34" charset="-122"/>
                <a:cs typeface="Calibri" pitchFamily="34" charset="-120"/>
              </a:rPr>
              <a:t>Race</a:t>
            </a:r>
            <a:endParaRPr lang="en-US" sz="1150" dirty="0"/>
          </a:p>
        </p:txBody>
      </p:sp>
      <p:sp>
        <p:nvSpPr>
          <p:cNvPr id="24" name="Shape 20"/>
          <p:cNvSpPr/>
          <p:nvPr/>
        </p:nvSpPr>
        <p:spPr>
          <a:xfrm>
            <a:off x="4663440" y="4160520"/>
            <a:ext cx="4023360" cy="420624"/>
          </a:xfrm>
          <a:prstGeom prst="roundRect">
            <a:avLst>
              <a:gd name="adj" fmla="val 17391"/>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25" name="Shape 21"/>
          <p:cNvSpPr/>
          <p:nvPr/>
        </p:nvSpPr>
        <p:spPr>
          <a:xfrm>
            <a:off x="4663440" y="4160520"/>
            <a:ext cx="4023360" cy="420624"/>
          </a:xfrm>
          <a:prstGeom prst="roundRect">
            <a:avLst>
              <a:gd name="adj" fmla="val 13043"/>
            </a:avLst>
          </a:prstGeom>
          <a:ln w="12700">
            <a:solidFill>
              <a:srgbClr val="E7F0F0"/>
            </a:solidFill>
            <a:prstDash val="solid"/>
          </a:ln>
        </p:spPr>
        <p:txBody>
          <a:bodyPr/>
          <a:lstStyle/>
          <a:p>
            <a:endParaRPr lang="en-DE"/>
          </a:p>
        </p:txBody>
      </p:sp>
      <p:sp>
        <p:nvSpPr>
          <p:cNvPr id="26" name="Text 22"/>
          <p:cNvSpPr/>
          <p:nvPr/>
        </p:nvSpPr>
        <p:spPr>
          <a:xfrm>
            <a:off x="4882896" y="4160520"/>
            <a:ext cx="3566160" cy="420624"/>
          </a:xfrm>
          <a:prstGeom prst="rect">
            <a:avLst/>
          </a:prstGeom>
          <a:noFill/>
          <a:ln/>
        </p:spPr>
        <p:txBody>
          <a:bodyPr wrap="square" lIns="0" tIns="0" rIns="0" bIns="0" rtlCol="0" anchor="ctr"/>
          <a:lstStyle/>
          <a:p>
            <a:pPr marL="0" indent="0">
              <a:buNone/>
            </a:pPr>
            <a:r>
              <a:rPr lang="en-US" sz="1150" b="1" dirty="0">
                <a:solidFill>
                  <a:srgbClr val="183036"/>
                </a:solidFill>
                <a:latin typeface="Calibri" pitchFamily="34" charset="0"/>
                <a:ea typeface="Calibri" pitchFamily="34" charset="-122"/>
                <a:cs typeface="Calibri" pitchFamily="34" charset="-120"/>
              </a:rPr>
              <a:t>Sex</a:t>
            </a:r>
            <a:endParaRPr lang="en-US" sz="1150" dirty="0"/>
          </a:p>
        </p:txBody>
      </p:sp>
      <p:sp>
        <p:nvSpPr>
          <p:cNvPr id="27" name="Text 23"/>
          <p:cNvSpPr/>
          <p:nvPr/>
        </p:nvSpPr>
        <p:spPr>
          <a:xfrm>
            <a:off x="4663440" y="4636008"/>
            <a:ext cx="4023360" cy="256032"/>
          </a:xfrm>
          <a:prstGeom prst="rect">
            <a:avLst/>
          </a:prstGeom>
          <a:noFill/>
          <a:ln/>
        </p:spPr>
        <p:txBody>
          <a:bodyPr wrap="square" lIns="0" tIns="0" rIns="0" bIns="0" rtlCol="0" anchor="ctr"/>
          <a:lstStyle/>
          <a:p>
            <a:pPr marL="0" indent="0">
              <a:buNone/>
            </a:pPr>
            <a:r>
              <a:rPr lang="en-US" sz="950" i="1" dirty="0">
                <a:solidFill>
                  <a:srgbClr val="8AA0A3"/>
                </a:solidFill>
                <a:latin typeface="Calibri" pitchFamily="34" charset="0"/>
                <a:ea typeface="Calibri" pitchFamily="34" charset="-122"/>
                <a:cs typeface="Calibri" pitchFamily="34" charset="-120"/>
              </a:rPr>
              <a:t>top 3 numerical (dark) + top 3 categorical features</a:t>
            </a:r>
            <a:endParaRPr lang="en-US" sz="950" dirty="0"/>
          </a:p>
        </p:txBody>
      </p:sp>
      <p:sp>
        <p:nvSpPr>
          <p:cNvPr id="28" name="Text 24"/>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The instructional template</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 JSON prompt for structured, repeatable LLM output</a:t>
            </a:r>
            <a:endParaRPr lang="en-US" sz="1250" dirty="0"/>
          </a:p>
        </p:txBody>
      </p:sp>
      <p:sp>
        <p:nvSpPr>
          <p:cNvPr id="6" name="Shape 3"/>
          <p:cNvSpPr/>
          <p:nvPr/>
        </p:nvSpPr>
        <p:spPr>
          <a:xfrm>
            <a:off x="45720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40080" y="1554480"/>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773217" y="1687617"/>
            <a:ext cx="245791" cy="245791"/>
          </a:xfrm>
          <a:prstGeom prst="rect">
            <a:avLst/>
          </a:prstGeom>
        </p:spPr>
      </p:pic>
      <p:sp>
        <p:nvSpPr>
          <p:cNvPr id="9" name="Text 5"/>
          <p:cNvSpPr/>
          <p:nvPr/>
        </p:nvSpPr>
        <p:spPr>
          <a:xfrm>
            <a:off x="1243584" y="1554480"/>
            <a:ext cx="3108960" cy="512064"/>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Metadata</a:t>
            </a:r>
            <a:endParaRPr lang="en-US" sz="1450" dirty="0"/>
          </a:p>
        </p:txBody>
      </p:sp>
      <p:sp>
        <p:nvSpPr>
          <p:cNvPr id="10" name="Text 6"/>
          <p:cNvSpPr/>
          <p:nvPr/>
        </p:nvSpPr>
        <p:spPr>
          <a:xfrm>
            <a:off x="640080" y="2139696"/>
            <a:ext cx="3675888" cy="548640"/>
          </a:xfrm>
          <a:prstGeom prst="rect">
            <a:avLst/>
          </a:prstGeom>
          <a:noFill/>
          <a:ln/>
        </p:spPr>
        <p:txBody>
          <a:bodyPr wrap="square" lIns="0" tIns="0" rIns="0" bIns="0" rtlCol="0" anchor="ctr"/>
          <a:lstStyle/>
          <a:p>
            <a:pPr marL="0" indent="0">
              <a:buNone/>
            </a:pPr>
            <a:r>
              <a:rPr lang="en-US" sz="1130" dirty="0">
                <a:solidFill>
                  <a:srgbClr val="55686B"/>
                </a:solidFill>
                <a:latin typeface="Calibri" pitchFamily="34" charset="0"/>
                <a:ea typeface="Calibri" pitchFamily="34" charset="-122"/>
                <a:cs typeface="Calibri" pitchFamily="34" charset="-120"/>
              </a:rPr>
              <a:t>Title, authors, description, version control.</a:t>
            </a:r>
            <a:endParaRPr lang="en-US" sz="1130" dirty="0"/>
          </a:p>
        </p:txBody>
      </p:sp>
      <p:sp>
        <p:nvSpPr>
          <p:cNvPr id="11" name="Shape 7"/>
          <p:cNvSpPr/>
          <p:nvPr/>
        </p:nvSpPr>
        <p:spPr>
          <a:xfrm>
            <a:off x="466344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4846320" y="1554480"/>
            <a:ext cx="512064" cy="512064"/>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4979457" y="1687617"/>
            <a:ext cx="245791" cy="245791"/>
          </a:xfrm>
          <a:prstGeom prst="rect">
            <a:avLst/>
          </a:prstGeom>
        </p:spPr>
      </p:pic>
      <p:sp>
        <p:nvSpPr>
          <p:cNvPr id="14" name="Text 9"/>
          <p:cNvSpPr/>
          <p:nvPr/>
        </p:nvSpPr>
        <p:spPr>
          <a:xfrm>
            <a:off x="5449824" y="1554480"/>
            <a:ext cx="3108960" cy="512064"/>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Persona</a:t>
            </a:r>
            <a:endParaRPr lang="en-US" sz="1450" dirty="0"/>
          </a:p>
        </p:txBody>
      </p:sp>
      <p:sp>
        <p:nvSpPr>
          <p:cNvPr id="15" name="Text 10"/>
          <p:cNvSpPr/>
          <p:nvPr/>
        </p:nvSpPr>
        <p:spPr>
          <a:xfrm>
            <a:off x="4846320" y="2139696"/>
            <a:ext cx="3675888" cy="548640"/>
          </a:xfrm>
          <a:prstGeom prst="rect">
            <a:avLst/>
          </a:prstGeom>
          <a:noFill/>
          <a:ln/>
        </p:spPr>
        <p:txBody>
          <a:bodyPr wrap="square" lIns="0" tIns="0" rIns="0" bIns="0" rtlCol="0" anchor="ctr"/>
          <a:lstStyle/>
          <a:p>
            <a:pPr marL="0" indent="0">
              <a:buNone/>
            </a:pPr>
            <a:r>
              <a:rPr lang="en-US" sz="1130" dirty="0">
                <a:solidFill>
                  <a:srgbClr val="55686B"/>
                </a:solidFill>
                <a:latin typeface="Calibri" pitchFamily="34" charset="0"/>
                <a:ea typeface="Calibri" pitchFamily="34" charset="-122"/>
                <a:cs typeface="Calibri" pitchFamily="34" charset="-120"/>
              </a:rPr>
              <a:t>“XAI specialist communicating with healthcare professionals” — sets audience &amp; tone.</a:t>
            </a:r>
            <a:endParaRPr lang="en-US" sz="1130" dirty="0"/>
          </a:p>
        </p:txBody>
      </p:sp>
      <p:sp>
        <p:nvSpPr>
          <p:cNvPr id="16" name="Shape 11"/>
          <p:cNvSpPr/>
          <p:nvPr/>
        </p:nvSpPr>
        <p:spPr>
          <a:xfrm>
            <a:off x="45720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640080" y="3090672"/>
            <a:ext cx="512064" cy="512064"/>
          </a:xfrm>
          <a:prstGeom prst="ellipse">
            <a:avLst/>
          </a:prstGeom>
          <a:solidFill>
            <a:srgbClr val="127475"/>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773217" y="3223809"/>
            <a:ext cx="245791" cy="245791"/>
          </a:xfrm>
          <a:prstGeom prst="rect">
            <a:avLst/>
          </a:prstGeom>
        </p:spPr>
      </p:pic>
      <p:sp>
        <p:nvSpPr>
          <p:cNvPr id="19" name="Text 13"/>
          <p:cNvSpPr/>
          <p:nvPr/>
        </p:nvSpPr>
        <p:spPr>
          <a:xfrm>
            <a:off x="1243584" y="3090672"/>
            <a:ext cx="3108960" cy="512064"/>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Instructions</a:t>
            </a:r>
            <a:endParaRPr lang="en-US" sz="1450" dirty="0"/>
          </a:p>
        </p:txBody>
      </p:sp>
      <p:sp>
        <p:nvSpPr>
          <p:cNvPr id="20" name="Text 14"/>
          <p:cNvSpPr/>
          <p:nvPr/>
        </p:nvSpPr>
        <p:spPr>
          <a:xfrm>
            <a:off x="640080" y="3675888"/>
            <a:ext cx="3675888" cy="548640"/>
          </a:xfrm>
          <a:prstGeom prst="rect">
            <a:avLst/>
          </a:prstGeom>
          <a:noFill/>
          <a:ln/>
        </p:spPr>
        <p:txBody>
          <a:bodyPr wrap="square" lIns="0" tIns="0" rIns="0" bIns="0" rtlCol="0" anchor="ctr"/>
          <a:lstStyle/>
          <a:p>
            <a:pPr marL="0" indent="0">
              <a:buNone/>
            </a:pPr>
            <a:r>
              <a:rPr lang="en-US" sz="1130" dirty="0">
                <a:solidFill>
                  <a:srgbClr val="55686B"/>
                </a:solidFill>
                <a:latin typeface="Calibri" pitchFamily="34" charset="0"/>
                <a:ea typeface="Calibri" pitchFamily="34" charset="-122"/>
                <a:cs typeface="Calibri" pitchFamily="34" charset="-120"/>
              </a:rPr>
              <a:t>Guidelines (clear, clinically relevant, British English) + output rules.</a:t>
            </a:r>
            <a:endParaRPr lang="en-US" sz="1130" dirty="0"/>
          </a:p>
        </p:txBody>
      </p:sp>
      <p:sp>
        <p:nvSpPr>
          <p:cNvPr id="21" name="Shape 15"/>
          <p:cNvSpPr/>
          <p:nvPr/>
        </p:nvSpPr>
        <p:spPr>
          <a:xfrm>
            <a:off x="466344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2" name="Shape 16"/>
          <p:cNvSpPr/>
          <p:nvPr/>
        </p:nvSpPr>
        <p:spPr>
          <a:xfrm>
            <a:off x="4846320" y="3090672"/>
            <a:ext cx="512064" cy="512064"/>
          </a:xfrm>
          <a:prstGeom prst="ellipse">
            <a:avLst/>
          </a:prstGeom>
          <a:solidFill>
            <a:srgbClr val="127475"/>
          </a:solidFill>
          <a:ln/>
        </p:spPr>
        <p:txBody>
          <a:bodyPr/>
          <a:lstStyle/>
          <a:p>
            <a:endParaRPr lang="en-DE"/>
          </a:p>
        </p:txBody>
      </p:sp>
      <p:pic>
        <p:nvPicPr>
          <p:cNvPr id="23" name="Image 4" descr="preencoded.png"/>
          <p:cNvPicPr>
            <a:picLocks noChangeAspect="1"/>
          </p:cNvPicPr>
          <p:nvPr/>
        </p:nvPicPr>
        <p:blipFill>
          <a:blip r:embed="rId7"/>
          <a:stretch>
            <a:fillRect/>
          </a:stretch>
        </p:blipFill>
        <p:spPr>
          <a:xfrm>
            <a:off x="4979457" y="3223809"/>
            <a:ext cx="245791" cy="245791"/>
          </a:xfrm>
          <a:prstGeom prst="rect">
            <a:avLst/>
          </a:prstGeom>
        </p:spPr>
      </p:pic>
      <p:sp>
        <p:nvSpPr>
          <p:cNvPr id="24" name="Text 17"/>
          <p:cNvSpPr/>
          <p:nvPr/>
        </p:nvSpPr>
        <p:spPr>
          <a:xfrm>
            <a:off x="5449824" y="3090672"/>
            <a:ext cx="3108960" cy="512064"/>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Questions</a:t>
            </a:r>
            <a:endParaRPr lang="en-US" sz="1450" dirty="0"/>
          </a:p>
        </p:txBody>
      </p:sp>
      <p:sp>
        <p:nvSpPr>
          <p:cNvPr id="25" name="Text 18"/>
          <p:cNvSpPr/>
          <p:nvPr/>
        </p:nvSpPr>
        <p:spPr>
          <a:xfrm>
            <a:off x="4846320" y="3675888"/>
            <a:ext cx="3675888" cy="548640"/>
          </a:xfrm>
          <a:prstGeom prst="rect">
            <a:avLst/>
          </a:prstGeom>
          <a:noFill/>
          <a:ln/>
        </p:spPr>
        <p:txBody>
          <a:bodyPr wrap="square" lIns="0" tIns="0" rIns="0" bIns="0" rtlCol="0" anchor="ctr"/>
          <a:lstStyle/>
          <a:p>
            <a:pPr marL="0" indent="0">
              <a:buNone/>
            </a:pPr>
            <a:r>
              <a:rPr lang="en-US" sz="1130" dirty="0">
                <a:solidFill>
                  <a:srgbClr val="55686B"/>
                </a:solidFill>
                <a:latin typeface="Calibri" pitchFamily="34" charset="0"/>
                <a:ea typeface="Calibri" pitchFamily="34" charset="-122"/>
                <a:cs typeface="Calibri" pitchFamily="34" charset="-120"/>
              </a:rPr>
              <a:t>The selected XAI-QB questions, each with an empty answer to fill.</a:t>
            </a:r>
            <a:endParaRPr lang="en-US" sz="1130" dirty="0"/>
          </a:p>
        </p:txBody>
      </p:sp>
      <p:sp>
        <p:nvSpPr>
          <p:cNvPr id="26" name="Text 19"/>
          <p:cNvSpPr/>
          <p:nvPr/>
        </p:nvSpPr>
        <p:spPr>
          <a:xfrm>
            <a:off x="457200" y="4608576"/>
            <a:ext cx="8229600" cy="310896"/>
          </a:xfrm>
          <a:prstGeom prst="rect">
            <a:avLst/>
          </a:prstGeom>
          <a:noFill/>
          <a:ln/>
        </p:spPr>
        <p:txBody>
          <a:bodyPr wrap="square" lIns="0" tIns="0" rIns="0" bIns="0" rtlCol="0" anchor="ctr"/>
          <a:lstStyle/>
          <a:p>
            <a:pPr marL="0" indent="0" algn="ctr">
              <a:buNone/>
            </a:pPr>
            <a:r>
              <a:rPr lang="en-US" sz="1200" b="1" i="1" dirty="0">
                <a:solidFill>
                  <a:srgbClr val="0E5E5C"/>
                </a:solidFill>
                <a:latin typeface="Calibri" pitchFamily="34" charset="0"/>
                <a:ea typeface="Calibri" pitchFamily="34" charset="-122"/>
                <a:cs typeface="Calibri" pitchFamily="34" charset="-120"/>
              </a:rPr>
              <a:t>Fine-tuned over three major iterations of prompt engineering; reference human answers written in the same JSON format.</a:t>
            </a:r>
            <a:endParaRPr lang="en-US" sz="1200" dirty="0"/>
          </a:p>
        </p:txBody>
      </p:sp>
      <p:sp>
        <p:nvSpPr>
          <p:cNvPr id="27" name="Text 20"/>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1188720" y="-1280160"/>
            <a:ext cx="3291840" cy="3291840"/>
          </a:xfrm>
          <a:prstGeom prst="ellipse">
            <a:avLst/>
          </a:prstGeom>
          <a:solidFill>
            <a:srgbClr val="127475">
              <a:alpha val="18000"/>
            </a:srgbClr>
          </a:solidFill>
          <a:ln/>
        </p:spPr>
        <p:txBody>
          <a:bodyPr/>
          <a:lstStyle/>
          <a:p>
            <a:endParaRPr lang="en-DE"/>
          </a:p>
        </p:txBody>
      </p:sp>
      <p:sp>
        <p:nvSpPr>
          <p:cNvPr id="3" name="Shape 1"/>
          <p:cNvSpPr/>
          <p:nvPr/>
        </p:nvSpPr>
        <p:spPr>
          <a:xfrm>
            <a:off x="548640" y="457200"/>
            <a:ext cx="603504" cy="603504"/>
          </a:xfrm>
          <a:prstGeom prst="ellipse">
            <a:avLst/>
          </a:prstGeom>
          <a:solidFill>
            <a:srgbClr val="E9B44C"/>
          </a:solidFill>
          <a:ln/>
        </p:spPr>
        <p:txBody>
          <a:bodyPr/>
          <a:lstStyle/>
          <a:p>
            <a:endParaRPr lang="en-DE"/>
          </a:p>
        </p:txBody>
      </p:sp>
      <p:pic>
        <p:nvPicPr>
          <p:cNvPr id="4" name="Image 0" descr="preencoded.png"/>
          <p:cNvPicPr>
            <a:picLocks noChangeAspect="1"/>
          </p:cNvPicPr>
          <p:nvPr/>
        </p:nvPicPr>
        <p:blipFill>
          <a:blip r:embed="rId3"/>
          <a:stretch>
            <a:fillRect/>
          </a:stretch>
        </p:blipFill>
        <p:spPr>
          <a:xfrm>
            <a:off x="705551" y="614111"/>
            <a:ext cx="289682" cy="289682"/>
          </a:xfrm>
          <a:prstGeom prst="rect">
            <a:avLst/>
          </a:prstGeom>
        </p:spPr>
      </p:pic>
      <p:sp>
        <p:nvSpPr>
          <p:cNvPr id="5" name="Text 2"/>
          <p:cNvSpPr/>
          <p:nvPr/>
        </p:nvSpPr>
        <p:spPr>
          <a:xfrm>
            <a:off x="1280160" y="475488"/>
            <a:ext cx="73152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Experimental setup</a:t>
            </a:r>
            <a:endParaRPr lang="en-US" sz="2600" dirty="0"/>
          </a:p>
        </p:txBody>
      </p:sp>
      <p:sp>
        <p:nvSpPr>
          <p:cNvPr id="6" name="Text 3"/>
          <p:cNvSpPr/>
          <p:nvPr/>
        </p:nvSpPr>
        <p:spPr>
          <a:xfrm>
            <a:off x="548640" y="1170432"/>
            <a:ext cx="8046720" cy="310896"/>
          </a:xfrm>
          <a:prstGeom prst="rect">
            <a:avLst/>
          </a:prstGeom>
          <a:noFill/>
          <a:ln/>
        </p:spPr>
        <p:txBody>
          <a:bodyPr wrap="square" lIns="0" tIns="0" rIns="0" bIns="0" rtlCol="0" anchor="ctr"/>
          <a:lstStyle/>
          <a:p>
            <a:pPr marL="0" indent="0">
              <a:buNone/>
            </a:pPr>
            <a:r>
              <a:rPr lang="en-US" sz="1300" i="1" dirty="0">
                <a:solidFill>
                  <a:srgbClr val="9AD1D4"/>
                </a:solidFill>
                <a:latin typeface="Calibri" pitchFamily="34" charset="0"/>
                <a:ea typeface="Calibri" pitchFamily="34" charset="-122"/>
                <a:cs typeface="Calibri" pitchFamily="34" charset="-120"/>
              </a:rPr>
              <a:t>Source code uploaded to each model’s native platform; same questions, fresh instance per run.</a:t>
            </a:r>
            <a:endParaRPr lang="en-US" sz="1300" dirty="0"/>
          </a:p>
        </p:txBody>
      </p:sp>
      <p:sp>
        <p:nvSpPr>
          <p:cNvPr id="7" name="Shape 4"/>
          <p:cNvSpPr/>
          <p:nvPr/>
        </p:nvSpPr>
        <p:spPr>
          <a:xfrm>
            <a:off x="548640"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8" name="Text 5"/>
          <p:cNvSpPr/>
          <p:nvPr/>
        </p:nvSpPr>
        <p:spPr>
          <a:xfrm>
            <a:off x="640080" y="1810512"/>
            <a:ext cx="1764792" cy="603504"/>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Text 6"/>
          <p:cNvSpPr/>
          <p:nvPr/>
        </p:nvSpPr>
        <p:spPr>
          <a:xfrm>
            <a:off x="640080" y="2487168"/>
            <a:ext cx="1764792" cy="365760"/>
          </a:xfrm>
          <a:prstGeom prst="rect">
            <a:avLst/>
          </a:prstGeom>
          <a:noFill/>
          <a:ln/>
        </p:spPr>
        <p:txBody>
          <a:bodyPr wrap="square" lIns="0" tIns="0" rIns="0" bIns="0" rtlCol="0" anchor="ctr"/>
          <a:lstStyle/>
          <a:p>
            <a:pPr marL="0" indent="0" algn="ctr">
              <a:buNone/>
            </a:pPr>
            <a:r>
              <a:rPr lang="en-US" sz="1150" dirty="0">
                <a:solidFill>
                  <a:srgbClr val="9AD1D4"/>
                </a:solidFill>
                <a:latin typeface="Calibri" pitchFamily="34" charset="0"/>
                <a:ea typeface="Calibri" pitchFamily="34" charset="-122"/>
                <a:cs typeface="Calibri" pitchFamily="34" charset="-120"/>
              </a:rPr>
              <a:t>LLMs evaluated</a:t>
            </a:r>
            <a:endParaRPr lang="en-US" sz="1150" dirty="0"/>
          </a:p>
        </p:txBody>
      </p:sp>
      <p:sp>
        <p:nvSpPr>
          <p:cNvPr id="10" name="Shape 7"/>
          <p:cNvSpPr/>
          <p:nvPr/>
        </p:nvSpPr>
        <p:spPr>
          <a:xfrm>
            <a:off x="2624328"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1" name="Text 8"/>
          <p:cNvSpPr/>
          <p:nvPr/>
        </p:nvSpPr>
        <p:spPr>
          <a:xfrm>
            <a:off x="2715768" y="1810512"/>
            <a:ext cx="1764792" cy="603504"/>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36</a:t>
            </a:r>
            <a:endParaRPr lang="en-US" sz="4000" dirty="0"/>
          </a:p>
        </p:txBody>
      </p:sp>
      <p:sp>
        <p:nvSpPr>
          <p:cNvPr id="12" name="Text 9"/>
          <p:cNvSpPr/>
          <p:nvPr/>
        </p:nvSpPr>
        <p:spPr>
          <a:xfrm>
            <a:off x="2715768" y="2487168"/>
            <a:ext cx="1764792" cy="365760"/>
          </a:xfrm>
          <a:prstGeom prst="rect">
            <a:avLst/>
          </a:prstGeom>
          <a:noFill/>
          <a:ln/>
        </p:spPr>
        <p:txBody>
          <a:bodyPr wrap="square" lIns="0" tIns="0" rIns="0" bIns="0" rtlCol="0" anchor="ctr"/>
          <a:lstStyle/>
          <a:p>
            <a:pPr marL="0" indent="0" algn="ctr">
              <a:buNone/>
            </a:pPr>
            <a:r>
              <a:rPr lang="en-US" sz="1150" dirty="0">
                <a:solidFill>
                  <a:srgbClr val="9AD1D4"/>
                </a:solidFill>
                <a:latin typeface="Calibri" pitchFamily="34" charset="0"/>
                <a:ea typeface="Calibri" pitchFamily="34" charset="-122"/>
                <a:cs typeface="Calibri" pitchFamily="34" charset="-120"/>
              </a:rPr>
              <a:t>XAI-QB questions</a:t>
            </a:r>
            <a:endParaRPr lang="en-US" sz="1150" dirty="0"/>
          </a:p>
        </p:txBody>
      </p:sp>
      <p:sp>
        <p:nvSpPr>
          <p:cNvPr id="13" name="Shape 10"/>
          <p:cNvSpPr/>
          <p:nvPr/>
        </p:nvSpPr>
        <p:spPr>
          <a:xfrm>
            <a:off x="4700016"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4" name="Text 11"/>
          <p:cNvSpPr/>
          <p:nvPr/>
        </p:nvSpPr>
        <p:spPr>
          <a:xfrm>
            <a:off x="4791456" y="1810512"/>
            <a:ext cx="1764792" cy="603504"/>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15" name="Text 12"/>
          <p:cNvSpPr/>
          <p:nvPr/>
        </p:nvSpPr>
        <p:spPr>
          <a:xfrm>
            <a:off x="4791456" y="2487168"/>
            <a:ext cx="1764792" cy="365760"/>
          </a:xfrm>
          <a:prstGeom prst="rect">
            <a:avLst/>
          </a:prstGeom>
          <a:noFill/>
          <a:ln/>
        </p:spPr>
        <p:txBody>
          <a:bodyPr wrap="square" lIns="0" tIns="0" rIns="0" bIns="0" rtlCol="0" anchor="ctr"/>
          <a:lstStyle/>
          <a:p>
            <a:pPr marL="0" indent="0" algn="ctr">
              <a:buNone/>
            </a:pPr>
            <a:r>
              <a:rPr lang="en-US" sz="1150" dirty="0">
                <a:solidFill>
                  <a:srgbClr val="9AD1D4"/>
                </a:solidFill>
                <a:latin typeface="Calibri" pitchFamily="34" charset="0"/>
                <a:ea typeface="Calibri" pitchFamily="34" charset="-122"/>
                <a:cs typeface="Calibri" pitchFamily="34" charset="-120"/>
              </a:rPr>
              <a:t>runs per model</a:t>
            </a:r>
            <a:endParaRPr lang="en-US" sz="1150" dirty="0"/>
          </a:p>
        </p:txBody>
      </p:sp>
      <p:sp>
        <p:nvSpPr>
          <p:cNvPr id="16" name="Shape 13"/>
          <p:cNvSpPr/>
          <p:nvPr/>
        </p:nvSpPr>
        <p:spPr>
          <a:xfrm>
            <a:off x="6775704"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7" name="Text 14"/>
          <p:cNvSpPr/>
          <p:nvPr/>
        </p:nvSpPr>
        <p:spPr>
          <a:xfrm>
            <a:off x="6867144" y="1810512"/>
            <a:ext cx="1764792" cy="603504"/>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324</a:t>
            </a:r>
            <a:endParaRPr lang="en-US" sz="4000" dirty="0"/>
          </a:p>
        </p:txBody>
      </p:sp>
      <p:sp>
        <p:nvSpPr>
          <p:cNvPr id="18" name="Text 15"/>
          <p:cNvSpPr/>
          <p:nvPr/>
        </p:nvSpPr>
        <p:spPr>
          <a:xfrm>
            <a:off x="6867144" y="2487168"/>
            <a:ext cx="1764792" cy="365760"/>
          </a:xfrm>
          <a:prstGeom prst="rect">
            <a:avLst/>
          </a:prstGeom>
          <a:noFill/>
          <a:ln/>
        </p:spPr>
        <p:txBody>
          <a:bodyPr wrap="square" lIns="0" tIns="0" rIns="0" bIns="0" rtlCol="0" anchor="ctr"/>
          <a:lstStyle/>
          <a:p>
            <a:pPr marL="0" indent="0" algn="ctr">
              <a:buNone/>
            </a:pPr>
            <a:r>
              <a:rPr lang="en-US" sz="1150" dirty="0">
                <a:solidFill>
                  <a:srgbClr val="9AD1D4"/>
                </a:solidFill>
                <a:latin typeface="Calibri" pitchFamily="34" charset="0"/>
                <a:ea typeface="Calibri" pitchFamily="34" charset="-122"/>
                <a:cs typeface="Calibri" pitchFamily="34" charset="-120"/>
              </a:rPr>
              <a:t>answers scored</a:t>
            </a:r>
            <a:endParaRPr lang="en-US" sz="1150" dirty="0"/>
          </a:p>
        </p:txBody>
      </p:sp>
      <p:sp>
        <p:nvSpPr>
          <p:cNvPr id="19" name="Text 16"/>
          <p:cNvSpPr/>
          <p:nvPr/>
        </p:nvSpPr>
        <p:spPr>
          <a:xfrm>
            <a:off x="548640" y="3200400"/>
            <a:ext cx="7315200" cy="274320"/>
          </a:xfrm>
          <a:prstGeom prst="rect">
            <a:avLst/>
          </a:prstGeom>
          <a:noFill/>
          <a:ln/>
        </p:spPr>
        <p:txBody>
          <a:bodyPr wrap="square" lIns="0" tIns="0" rIns="0" bIns="0" rtlCol="0" anchor="ctr"/>
          <a:lstStyle/>
          <a:p>
            <a:pPr marL="0" indent="0">
              <a:buNone/>
            </a:pPr>
            <a:r>
              <a:rPr lang="en-US" sz="1200" b="1" kern="0" spc="100" dirty="0">
                <a:solidFill>
                  <a:srgbClr val="9AD1D4"/>
                </a:solidFill>
                <a:latin typeface="Calibri" pitchFamily="34" charset="0"/>
                <a:ea typeface="Calibri" pitchFamily="34" charset="-122"/>
                <a:cs typeface="Calibri" pitchFamily="34" charset="-120"/>
              </a:rPr>
              <a:t>The three models</a:t>
            </a:r>
            <a:endParaRPr lang="en-US" sz="1200" dirty="0"/>
          </a:p>
        </p:txBody>
      </p:sp>
      <p:sp>
        <p:nvSpPr>
          <p:cNvPr id="20" name="Shape 17"/>
          <p:cNvSpPr/>
          <p:nvPr/>
        </p:nvSpPr>
        <p:spPr>
          <a:xfrm>
            <a:off x="548640" y="3529584"/>
            <a:ext cx="2651760" cy="960120"/>
          </a:xfrm>
          <a:prstGeom prst="roundRect">
            <a:avLst>
              <a:gd name="adj" fmla="val 7619"/>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21" name="Shape 18"/>
          <p:cNvSpPr/>
          <p:nvPr/>
        </p:nvSpPr>
        <p:spPr>
          <a:xfrm>
            <a:off x="749808" y="3767328"/>
            <a:ext cx="457200" cy="457200"/>
          </a:xfrm>
          <a:prstGeom prst="ellipse">
            <a:avLst/>
          </a:prstGeom>
          <a:solidFill>
            <a:srgbClr val="127475"/>
          </a:solidFill>
          <a:ln/>
        </p:spPr>
        <p:txBody>
          <a:bodyPr/>
          <a:lstStyle/>
          <a:p>
            <a:endParaRPr lang="en-DE"/>
          </a:p>
        </p:txBody>
      </p:sp>
      <p:sp>
        <p:nvSpPr>
          <p:cNvPr id="22" name="Text 19"/>
          <p:cNvSpPr/>
          <p:nvPr/>
        </p:nvSpPr>
        <p:spPr>
          <a:xfrm>
            <a:off x="1335024" y="3529584"/>
            <a:ext cx="1783080" cy="9601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ChatGPT 5.2</a:t>
            </a:r>
            <a:endParaRPr lang="en-US" sz="1400" dirty="0"/>
          </a:p>
        </p:txBody>
      </p:sp>
      <p:sp>
        <p:nvSpPr>
          <p:cNvPr id="23" name="Shape 20"/>
          <p:cNvSpPr/>
          <p:nvPr/>
        </p:nvSpPr>
        <p:spPr>
          <a:xfrm>
            <a:off x="3328416" y="3529584"/>
            <a:ext cx="2651760" cy="960120"/>
          </a:xfrm>
          <a:prstGeom prst="roundRect">
            <a:avLst>
              <a:gd name="adj" fmla="val 7619"/>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24" name="Shape 21"/>
          <p:cNvSpPr/>
          <p:nvPr/>
        </p:nvSpPr>
        <p:spPr>
          <a:xfrm>
            <a:off x="3529584" y="3767328"/>
            <a:ext cx="457200" cy="457200"/>
          </a:xfrm>
          <a:prstGeom prst="ellipse">
            <a:avLst/>
          </a:prstGeom>
          <a:solidFill>
            <a:srgbClr val="E07A5F"/>
          </a:solidFill>
          <a:ln/>
        </p:spPr>
        <p:txBody>
          <a:bodyPr/>
          <a:lstStyle/>
          <a:p>
            <a:endParaRPr lang="en-DE"/>
          </a:p>
        </p:txBody>
      </p:sp>
      <p:sp>
        <p:nvSpPr>
          <p:cNvPr id="25" name="Text 22"/>
          <p:cNvSpPr/>
          <p:nvPr/>
        </p:nvSpPr>
        <p:spPr>
          <a:xfrm>
            <a:off x="4114800" y="3529584"/>
            <a:ext cx="1783080" cy="9601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Claude Opus 4.6</a:t>
            </a:r>
            <a:endParaRPr lang="en-US" sz="1400" dirty="0"/>
          </a:p>
        </p:txBody>
      </p:sp>
      <p:sp>
        <p:nvSpPr>
          <p:cNvPr id="26" name="Shape 23"/>
          <p:cNvSpPr/>
          <p:nvPr/>
        </p:nvSpPr>
        <p:spPr>
          <a:xfrm>
            <a:off x="6108192" y="3529584"/>
            <a:ext cx="2651760" cy="960120"/>
          </a:xfrm>
          <a:prstGeom prst="roundRect">
            <a:avLst>
              <a:gd name="adj" fmla="val 7619"/>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27" name="Shape 24"/>
          <p:cNvSpPr/>
          <p:nvPr/>
        </p:nvSpPr>
        <p:spPr>
          <a:xfrm>
            <a:off x="6309360" y="3767328"/>
            <a:ext cx="457200" cy="457200"/>
          </a:xfrm>
          <a:prstGeom prst="ellipse">
            <a:avLst/>
          </a:prstGeom>
          <a:solidFill>
            <a:srgbClr val="3D5A80"/>
          </a:solidFill>
          <a:ln/>
        </p:spPr>
        <p:txBody>
          <a:bodyPr/>
          <a:lstStyle/>
          <a:p>
            <a:endParaRPr lang="en-DE"/>
          </a:p>
        </p:txBody>
      </p:sp>
      <p:sp>
        <p:nvSpPr>
          <p:cNvPr id="28" name="Text 25"/>
          <p:cNvSpPr/>
          <p:nvPr/>
        </p:nvSpPr>
        <p:spPr>
          <a:xfrm>
            <a:off x="6894576" y="3529584"/>
            <a:ext cx="1783080" cy="9601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Gemini 3 Pro</a:t>
            </a:r>
            <a:endParaRPr lang="en-US" sz="1400" dirty="0"/>
          </a:p>
        </p:txBody>
      </p:sp>
      <p:sp>
        <p:nvSpPr>
          <p:cNvPr id="29" name="Text 26"/>
          <p:cNvSpPr/>
          <p:nvPr/>
        </p:nvSpPr>
        <p:spPr>
          <a:xfrm>
            <a:off x="548640" y="4590288"/>
            <a:ext cx="8046720" cy="274320"/>
          </a:xfrm>
          <a:prstGeom prst="rect">
            <a:avLst/>
          </a:prstGeom>
          <a:noFill/>
          <a:ln/>
        </p:spPr>
        <p:txBody>
          <a:bodyPr wrap="square" lIns="0" tIns="0" rIns="0" bIns="0" rtlCol="0" anchor="ctr"/>
          <a:lstStyle/>
          <a:p>
            <a:pPr marL="0" indent="0">
              <a:buNone/>
            </a:pPr>
            <a:r>
              <a:rPr lang="en-US" sz="1050" i="1" dirty="0">
                <a:solidFill>
                  <a:srgbClr val="8AA0A3"/>
                </a:solidFill>
                <a:latin typeface="Calibri" pitchFamily="34" charset="0"/>
                <a:ea typeface="Calibri" pitchFamily="34" charset="-122"/>
                <a:cs typeface="Calibri" pitchFamily="34" charset="-120"/>
              </a:rPr>
              <a:t>Local, prediction-level questions (Why, Why not, What if, …) were excluded — only global system behaviour.</a:t>
            </a:r>
            <a:endParaRPr lang="en-US" sz="1050" dirty="0"/>
          </a:p>
        </p:txBody>
      </p:sp>
      <p:sp>
        <p:nvSpPr>
          <p:cNvPr id="30"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Evaluation framework</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Three quantitative components combine into one ACF score</a:t>
            </a:r>
            <a:endParaRPr lang="en-US" sz="1250" dirty="0"/>
          </a:p>
        </p:txBody>
      </p:sp>
      <p:sp>
        <p:nvSpPr>
          <p:cNvPr id="6" name="Shape 3"/>
          <p:cNvSpPr/>
          <p:nvPr/>
        </p:nvSpPr>
        <p:spPr>
          <a:xfrm>
            <a:off x="457200" y="1371600"/>
            <a:ext cx="2679192" cy="1783080"/>
          </a:xfrm>
          <a:prstGeom prst="roundRect">
            <a:avLst>
              <a:gd name="adj" fmla="val 41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1513332" y="1536192"/>
            <a:ext cx="566928" cy="566928"/>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1660733" y="1683593"/>
            <a:ext cx="272125" cy="272125"/>
          </a:xfrm>
          <a:prstGeom prst="rect">
            <a:avLst/>
          </a:prstGeom>
        </p:spPr>
      </p:pic>
      <p:sp>
        <p:nvSpPr>
          <p:cNvPr id="9" name="Text 5"/>
          <p:cNvSpPr/>
          <p:nvPr/>
        </p:nvSpPr>
        <p:spPr>
          <a:xfrm>
            <a:off x="548640" y="2157984"/>
            <a:ext cx="2496312" cy="310896"/>
          </a:xfrm>
          <a:prstGeom prst="rect">
            <a:avLst/>
          </a:prstGeom>
          <a:noFill/>
          <a:ln/>
        </p:spPr>
        <p:txBody>
          <a:bodyPr wrap="square" lIns="0" tIns="0" rIns="0" bIns="0" rtlCol="0" anchor="ctr"/>
          <a:lstStyle/>
          <a:p>
            <a:pPr marL="0" indent="0" algn="ctr">
              <a:buNone/>
            </a:pPr>
            <a:r>
              <a:rPr lang="en-US" sz="1550" b="1" dirty="0">
                <a:solidFill>
                  <a:srgbClr val="0A2E36"/>
                </a:solidFill>
                <a:latin typeface="Cambria" pitchFamily="34" charset="0"/>
                <a:ea typeface="Cambria" pitchFamily="34" charset="-122"/>
                <a:cs typeface="Cambria" pitchFamily="34" charset="-120"/>
              </a:rPr>
              <a:t>Accuracy</a:t>
            </a:r>
            <a:endParaRPr lang="en-US" sz="1550" dirty="0"/>
          </a:p>
        </p:txBody>
      </p:sp>
      <p:sp>
        <p:nvSpPr>
          <p:cNvPr id="10" name="Text 6"/>
          <p:cNvSpPr/>
          <p:nvPr/>
        </p:nvSpPr>
        <p:spPr>
          <a:xfrm>
            <a:off x="621792" y="2468880"/>
            <a:ext cx="2350008" cy="384048"/>
          </a:xfrm>
          <a:prstGeom prst="rect">
            <a:avLst/>
          </a:prstGeom>
          <a:noFill/>
          <a:ln/>
        </p:spPr>
        <p:txBody>
          <a:bodyPr wrap="square" lIns="0" tIns="0" rIns="0" bIns="0" rtlCol="0" anchor="ctr"/>
          <a:lstStyle/>
          <a:p>
            <a:pPr marL="0" indent="0" algn="ctr">
              <a:buNone/>
            </a:pPr>
            <a:r>
              <a:rPr lang="en-US" sz="1080" dirty="0">
                <a:solidFill>
                  <a:srgbClr val="55686B"/>
                </a:solidFill>
                <a:latin typeface="Calibri" pitchFamily="34" charset="0"/>
                <a:ea typeface="Calibri" pitchFamily="34" charset="-122"/>
                <a:cs typeface="Calibri" pitchFamily="34" charset="-120"/>
              </a:rPr>
              <a:t>Manual scoring vs. human ground-truth</a:t>
            </a:r>
            <a:endParaRPr lang="en-US" sz="1080" dirty="0"/>
          </a:p>
        </p:txBody>
      </p:sp>
      <p:sp>
        <p:nvSpPr>
          <p:cNvPr id="11" name="Shape 7"/>
          <p:cNvSpPr/>
          <p:nvPr/>
        </p:nvSpPr>
        <p:spPr>
          <a:xfrm>
            <a:off x="731520" y="2816352"/>
            <a:ext cx="2130552" cy="274320"/>
          </a:xfrm>
          <a:prstGeom prst="roundRect">
            <a:avLst>
              <a:gd name="adj" fmla="val 16667"/>
            </a:avLst>
          </a:prstGeom>
          <a:solidFill>
            <a:srgbClr val="127475"/>
          </a:solidFill>
          <a:ln/>
        </p:spPr>
        <p:txBody>
          <a:bodyPr/>
          <a:lstStyle/>
          <a:p>
            <a:endParaRPr lang="en-DE"/>
          </a:p>
        </p:txBody>
      </p:sp>
      <p:sp>
        <p:nvSpPr>
          <p:cNvPr id="12" name="Text 8"/>
          <p:cNvSpPr/>
          <p:nvPr/>
        </p:nvSpPr>
        <p:spPr>
          <a:xfrm>
            <a:off x="731520" y="2816352"/>
            <a:ext cx="213055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 · 0.5 · 1</a:t>
            </a:r>
            <a:endParaRPr lang="en-US" sz="1000" dirty="0"/>
          </a:p>
        </p:txBody>
      </p:sp>
      <p:sp>
        <p:nvSpPr>
          <p:cNvPr id="13" name="Shape 9"/>
          <p:cNvSpPr/>
          <p:nvPr/>
        </p:nvSpPr>
        <p:spPr>
          <a:xfrm>
            <a:off x="3232404" y="1371600"/>
            <a:ext cx="2679192" cy="1783080"/>
          </a:xfrm>
          <a:prstGeom prst="roundRect">
            <a:avLst>
              <a:gd name="adj" fmla="val 41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4" name="Shape 10"/>
          <p:cNvSpPr/>
          <p:nvPr/>
        </p:nvSpPr>
        <p:spPr>
          <a:xfrm>
            <a:off x="4288536" y="1536192"/>
            <a:ext cx="566928" cy="566928"/>
          </a:xfrm>
          <a:prstGeom prst="ellipse">
            <a:avLst/>
          </a:prstGeom>
          <a:solidFill>
            <a:srgbClr val="3E9D9B"/>
          </a:solidFill>
          <a:ln/>
        </p:spPr>
        <p:txBody>
          <a:bodyPr/>
          <a:lstStyle/>
          <a:p>
            <a:endParaRPr lang="en-DE"/>
          </a:p>
        </p:txBody>
      </p:sp>
      <p:pic>
        <p:nvPicPr>
          <p:cNvPr id="15" name="Image 2" descr="preencoded.png"/>
          <p:cNvPicPr>
            <a:picLocks noChangeAspect="1"/>
          </p:cNvPicPr>
          <p:nvPr/>
        </p:nvPicPr>
        <p:blipFill>
          <a:blip r:embed="rId5"/>
          <a:stretch>
            <a:fillRect/>
          </a:stretch>
        </p:blipFill>
        <p:spPr>
          <a:xfrm>
            <a:off x="4435937" y="1683593"/>
            <a:ext cx="272125" cy="272125"/>
          </a:xfrm>
          <a:prstGeom prst="rect">
            <a:avLst/>
          </a:prstGeom>
        </p:spPr>
      </p:pic>
      <p:sp>
        <p:nvSpPr>
          <p:cNvPr id="16" name="Text 11"/>
          <p:cNvSpPr/>
          <p:nvPr/>
        </p:nvSpPr>
        <p:spPr>
          <a:xfrm>
            <a:off x="3323844" y="2157984"/>
            <a:ext cx="2496312" cy="310896"/>
          </a:xfrm>
          <a:prstGeom prst="rect">
            <a:avLst/>
          </a:prstGeom>
          <a:noFill/>
          <a:ln/>
        </p:spPr>
        <p:txBody>
          <a:bodyPr wrap="square" lIns="0" tIns="0" rIns="0" bIns="0" rtlCol="0" anchor="ctr"/>
          <a:lstStyle/>
          <a:p>
            <a:pPr marL="0" indent="0" algn="ctr">
              <a:buNone/>
            </a:pPr>
            <a:r>
              <a:rPr lang="en-US" sz="1550" b="1" dirty="0">
                <a:solidFill>
                  <a:srgbClr val="0A2E36"/>
                </a:solidFill>
                <a:latin typeface="Cambria" pitchFamily="34" charset="0"/>
                <a:ea typeface="Cambria" pitchFamily="34" charset="-122"/>
                <a:cs typeface="Cambria" pitchFamily="34" charset="-120"/>
              </a:rPr>
              <a:t>Completeness</a:t>
            </a:r>
            <a:endParaRPr lang="en-US" sz="1550" dirty="0"/>
          </a:p>
        </p:txBody>
      </p:sp>
      <p:sp>
        <p:nvSpPr>
          <p:cNvPr id="17" name="Text 12"/>
          <p:cNvSpPr/>
          <p:nvPr/>
        </p:nvSpPr>
        <p:spPr>
          <a:xfrm>
            <a:off x="3396996" y="2468880"/>
            <a:ext cx="2350008" cy="384048"/>
          </a:xfrm>
          <a:prstGeom prst="rect">
            <a:avLst/>
          </a:prstGeom>
          <a:noFill/>
          <a:ln/>
        </p:spPr>
        <p:txBody>
          <a:bodyPr wrap="square" lIns="0" tIns="0" rIns="0" bIns="0" rtlCol="0" anchor="ctr"/>
          <a:lstStyle/>
          <a:p>
            <a:pPr marL="0" indent="0" algn="ctr">
              <a:buNone/>
            </a:pPr>
            <a:r>
              <a:rPr lang="en-US" sz="1080" dirty="0">
                <a:solidFill>
                  <a:srgbClr val="55686B"/>
                </a:solidFill>
                <a:latin typeface="Calibri" pitchFamily="34" charset="0"/>
                <a:ea typeface="Calibri" pitchFamily="34" charset="-122"/>
                <a:cs typeface="Calibri" pitchFamily="34" charset="-120"/>
              </a:rPr>
              <a:t>Information units found in the answer</a:t>
            </a:r>
            <a:endParaRPr lang="en-US" sz="1080" dirty="0"/>
          </a:p>
        </p:txBody>
      </p:sp>
      <p:sp>
        <p:nvSpPr>
          <p:cNvPr id="18" name="Shape 13"/>
          <p:cNvSpPr/>
          <p:nvPr/>
        </p:nvSpPr>
        <p:spPr>
          <a:xfrm>
            <a:off x="3506724" y="2816352"/>
            <a:ext cx="2130552" cy="274320"/>
          </a:xfrm>
          <a:prstGeom prst="roundRect">
            <a:avLst>
              <a:gd name="adj" fmla="val 16667"/>
            </a:avLst>
          </a:prstGeom>
          <a:solidFill>
            <a:srgbClr val="3E9D9B"/>
          </a:solidFill>
          <a:ln/>
        </p:spPr>
        <p:txBody>
          <a:bodyPr/>
          <a:lstStyle/>
          <a:p>
            <a:endParaRPr lang="en-DE"/>
          </a:p>
        </p:txBody>
      </p:sp>
      <p:sp>
        <p:nvSpPr>
          <p:cNvPr id="19" name="Text 14"/>
          <p:cNvSpPr/>
          <p:nvPr/>
        </p:nvSpPr>
        <p:spPr>
          <a:xfrm>
            <a:off x="3506724" y="2816352"/>
            <a:ext cx="213055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½(ROUGE-L + BERTScore)</a:t>
            </a:r>
            <a:endParaRPr lang="en-US" sz="1000" dirty="0"/>
          </a:p>
        </p:txBody>
      </p:sp>
      <p:sp>
        <p:nvSpPr>
          <p:cNvPr id="20" name="Shape 15"/>
          <p:cNvSpPr/>
          <p:nvPr/>
        </p:nvSpPr>
        <p:spPr>
          <a:xfrm>
            <a:off x="6007608" y="1371600"/>
            <a:ext cx="2679192" cy="1783080"/>
          </a:xfrm>
          <a:prstGeom prst="roundRect">
            <a:avLst>
              <a:gd name="adj" fmla="val 41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1" name="Shape 16"/>
          <p:cNvSpPr/>
          <p:nvPr/>
        </p:nvSpPr>
        <p:spPr>
          <a:xfrm>
            <a:off x="7063740" y="1536192"/>
            <a:ext cx="566928" cy="566928"/>
          </a:xfrm>
          <a:prstGeom prst="ellipse">
            <a:avLst/>
          </a:prstGeom>
          <a:solidFill>
            <a:srgbClr val="E07A5F"/>
          </a:solidFill>
          <a:ln/>
        </p:spPr>
        <p:txBody>
          <a:bodyPr/>
          <a:lstStyle/>
          <a:p>
            <a:endParaRPr lang="en-DE"/>
          </a:p>
        </p:txBody>
      </p:sp>
      <p:pic>
        <p:nvPicPr>
          <p:cNvPr id="22" name="Image 3" descr="preencoded.png"/>
          <p:cNvPicPr>
            <a:picLocks noChangeAspect="1"/>
          </p:cNvPicPr>
          <p:nvPr/>
        </p:nvPicPr>
        <p:blipFill>
          <a:blip r:embed="rId6"/>
          <a:stretch>
            <a:fillRect/>
          </a:stretch>
        </p:blipFill>
        <p:spPr>
          <a:xfrm>
            <a:off x="7211141" y="1683593"/>
            <a:ext cx="272125" cy="272125"/>
          </a:xfrm>
          <a:prstGeom prst="rect">
            <a:avLst/>
          </a:prstGeom>
        </p:spPr>
      </p:pic>
      <p:sp>
        <p:nvSpPr>
          <p:cNvPr id="23" name="Text 17"/>
          <p:cNvSpPr/>
          <p:nvPr/>
        </p:nvSpPr>
        <p:spPr>
          <a:xfrm>
            <a:off x="6099048" y="2157984"/>
            <a:ext cx="2496312" cy="310896"/>
          </a:xfrm>
          <a:prstGeom prst="rect">
            <a:avLst/>
          </a:prstGeom>
          <a:noFill/>
          <a:ln/>
        </p:spPr>
        <p:txBody>
          <a:bodyPr wrap="square" lIns="0" tIns="0" rIns="0" bIns="0" rtlCol="0" anchor="ctr"/>
          <a:lstStyle/>
          <a:p>
            <a:pPr marL="0" indent="0" algn="ctr">
              <a:buNone/>
            </a:pPr>
            <a:r>
              <a:rPr lang="en-US" sz="1550" b="1" dirty="0">
                <a:solidFill>
                  <a:srgbClr val="0A2E36"/>
                </a:solidFill>
                <a:latin typeface="Cambria" pitchFamily="34" charset="0"/>
                <a:ea typeface="Cambria" pitchFamily="34" charset="-122"/>
                <a:cs typeface="Cambria" pitchFamily="34" charset="-120"/>
              </a:rPr>
              <a:t>Faithfulness</a:t>
            </a:r>
            <a:endParaRPr lang="en-US" sz="1550" dirty="0"/>
          </a:p>
        </p:txBody>
      </p:sp>
      <p:sp>
        <p:nvSpPr>
          <p:cNvPr id="24" name="Text 18"/>
          <p:cNvSpPr/>
          <p:nvPr/>
        </p:nvSpPr>
        <p:spPr>
          <a:xfrm>
            <a:off x="6172200" y="2468880"/>
            <a:ext cx="2350008" cy="384048"/>
          </a:xfrm>
          <a:prstGeom prst="rect">
            <a:avLst/>
          </a:prstGeom>
          <a:noFill/>
          <a:ln/>
        </p:spPr>
        <p:txBody>
          <a:bodyPr wrap="square" lIns="0" tIns="0" rIns="0" bIns="0" rtlCol="0" anchor="ctr"/>
          <a:lstStyle/>
          <a:p>
            <a:pPr marL="0" indent="0" algn="ctr">
              <a:buNone/>
            </a:pPr>
            <a:r>
              <a:rPr lang="en-US" sz="1080" dirty="0">
                <a:solidFill>
                  <a:srgbClr val="55686B"/>
                </a:solidFill>
                <a:latin typeface="Calibri" pitchFamily="34" charset="0"/>
                <a:ea typeface="Calibri" pitchFamily="34" charset="-122"/>
                <a:cs typeface="Calibri" pitchFamily="34" charset="-120"/>
              </a:rPr>
              <a:t>Semantic similarity to human answer</a:t>
            </a:r>
            <a:endParaRPr lang="en-US" sz="1080" dirty="0"/>
          </a:p>
        </p:txBody>
      </p:sp>
      <p:sp>
        <p:nvSpPr>
          <p:cNvPr id="25" name="Shape 19"/>
          <p:cNvSpPr/>
          <p:nvPr/>
        </p:nvSpPr>
        <p:spPr>
          <a:xfrm>
            <a:off x="6281928" y="2816352"/>
            <a:ext cx="2130552" cy="274320"/>
          </a:xfrm>
          <a:prstGeom prst="roundRect">
            <a:avLst>
              <a:gd name="adj" fmla="val 16667"/>
            </a:avLst>
          </a:prstGeom>
          <a:solidFill>
            <a:srgbClr val="E07A5F"/>
          </a:solidFill>
          <a:ln/>
        </p:spPr>
        <p:txBody>
          <a:bodyPr/>
          <a:lstStyle/>
          <a:p>
            <a:endParaRPr lang="en-DE"/>
          </a:p>
        </p:txBody>
      </p:sp>
      <p:sp>
        <p:nvSpPr>
          <p:cNvPr id="26" name="Text 20"/>
          <p:cNvSpPr/>
          <p:nvPr/>
        </p:nvSpPr>
        <p:spPr>
          <a:xfrm>
            <a:off x="6281928" y="2816352"/>
            <a:ext cx="213055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SBERT</a:t>
            </a:r>
            <a:endParaRPr lang="en-US" sz="1000" dirty="0"/>
          </a:p>
        </p:txBody>
      </p:sp>
      <p:sp>
        <p:nvSpPr>
          <p:cNvPr id="27" name="Shape 21"/>
          <p:cNvSpPr/>
          <p:nvPr/>
        </p:nvSpPr>
        <p:spPr>
          <a:xfrm>
            <a:off x="457200" y="3346704"/>
            <a:ext cx="8229600" cy="713232"/>
          </a:xfrm>
          <a:prstGeom prst="roundRect">
            <a:avLst>
              <a:gd name="adj" fmla="val 1025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28" name="Text 22"/>
          <p:cNvSpPr/>
          <p:nvPr/>
        </p:nvSpPr>
        <p:spPr>
          <a:xfrm>
            <a:off x="548640" y="3346704"/>
            <a:ext cx="8046720" cy="71323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ACF  =  </a:t>
            </a:r>
            <a:r>
              <a:rPr lang="en-US" sz="1700" b="1" dirty="0">
                <a:solidFill>
                  <a:srgbClr val="E9B44C"/>
                </a:solidFill>
                <a:latin typeface="Calibri" pitchFamily="34" charset="0"/>
                <a:ea typeface="Calibri" pitchFamily="34" charset="-122"/>
                <a:cs typeface="Calibri" pitchFamily="34" charset="-120"/>
              </a:rPr>
              <a:t>⅓</a:t>
            </a:r>
            <a:r>
              <a:rPr lang="en-US" sz="1700" dirty="0">
                <a:solidFill>
                  <a:srgbClr val="FFFFFF"/>
                </a:solidFill>
                <a:latin typeface="Calibri" pitchFamily="34" charset="0"/>
                <a:ea typeface="Calibri" pitchFamily="34" charset="-122"/>
                <a:cs typeface="Calibri" pitchFamily="34" charset="-120"/>
              </a:rPr>
              <a:t> [  </a:t>
            </a:r>
            <a:r>
              <a:rPr lang="en-US" sz="1700" b="1" dirty="0">
                <a:solidFill>
                  <a:srgbClr val="9AD1D4"/>
                </a:solidFill>
                <a:latin typeface="Calibri" pitchFamily="34" charset="0"/>
                <a:ea typeface="Calibri" pitchFamily="34" charset="-122"/>
                <a:cs typeface="Calibri" pitchFamily="34" charset="-120"/>
              </a:rPr>
              <a:t>Accuracy</a:t>
            </a:r>
            <a:r>
              <a:rPr lang="en-US" sz="1700" dirty="0">
                <a:solidFill>
                  <a:srgbClr val="FFFFFF"/>
                </a:solidFill>
                <a:latin typeface="Calibri" pitchFamily="34" charset="0"/>
                <a:ea typeface="Calibri" pitchFamily="34" charset="-122"/>
                <a:cs typeface="Calibri" pitchFamily="34" charset="-120"/>
              </a:rPr>
              <a:t>  +  ½(</a:t>
            </a:r>
            <a:r>
              <a:rPr lang="en-US" sz="1700" b="1" dirty="0">
                <a:solidFill>
                  <a:srgbClr val="8FD3D5"/>
                </a:solidFill>
                <a:latin typeface="Calibri" pitchFamily="34" charset="0"/>
                <a:ea typeface="Calibri" pitchFamily="34" charset="-122"/>
                <a:cs typeface="Calibri" pitchFamily="34" charset="-120"/>
              </a:rPr>
              <a:t>ROUGE-L + BERTScore</a:t>
            </a:r>
            <a:r>
              <a:rPr lang="en-US" sz="1700" dirty="0">
                <a:solidFill>
                  <a:srgbClr val="FFFFFF"/>
                </a:solidFill>
                <a:latin typeface="Calibri" pitchFamily="34" charset="0"/>
                <a:ea typeface="Calibri" pitchFamily="34" charset="-122"/>
                <a:cs typeface="Calibri" pitchFamily="34" charset="-120"/>
              </a:rPr>
              <a:t>)  +  </a:t>
            </a:r>
            <a:r>
              <a:rPr lang="en-US" sz="1700" b="1" dirty="0">
                <a:solidFill>
                  <a:srgbClr val="E07A5F"/>
                </a:solidFill>
                <a:latin typeface="Calibri" pitchFamily="34" charset="0"/>
                <a:ea typeface="Calibri" pitchFamily="34" charset="-122"/>
                <a:cs typeface="Calibri" pitchFamily="34" charset="-120"/>
              </a:rPr>
              <a:t>SBERT</a:t>
            </a:r>
            <a:r>
              <a:rPr lang="en-US" sz="1700" dirty="0">
                <a:solidFill>
                  <a:srgbClr val="FFFFFF"/>
                </a:solidFill>
                <a:latin typeface="Calibri" pitchFamily="34" charset="0"/>
                <a:ea typeface="Calibri" pitchFamily="34" charset="-122"/>
                <a:cs typeface="Calibri" pitchFamily="34" charset="-120"/>
              </a:rPr>
              <a:t>  ]</a:t>
            </a:r>
            <a:endParaRPr lang="en-US" sz="1700" dirty="0"/>
          </a:p>
        </p:txBody>
      </p:sp>
      <p:sp>
        <p:nvSpPr>
          <p:cNvPr id="29" name="Shape 23"/>
          <p:cNvSpPr/>
          <p:nvPr/>
        </p:nvSpPr>
        <p:spPr>
          <a:xfrm>
            <a:off x="457200" y="4187952"/>
            <a:ext cx="5212080" cy="566928"/>
          </a:xfrm>
          <a:prstGeom prst="roundRect">
            <a:avLst>
              <a:gd name="adj" fmla="val 129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30" name="Text 24"/>
          <p:cNvSpPr/>
          <p:nvPr/>
        </p:nvSpPr>
        <p:spPr>
          <a:xfrm>
            <a:off x="640080" y="4187952"/>
            <a:ext cx="4846320" cy="566928"/>
          </a:xfrm>
          <a:prstGeom prst="rect">
            <a:avLst/>
          </a:prstGeom>
          <a:noFill/>
          <a:ln/>
        </p:spPr>
        <p:txBody>
          <a:bodyPr wrap="square" lIns="0" tIns="0" rIns="0" bIns="0" rtlCol="0" anchor="ctr"/>
          <a:lstStyle/>
          <a:p>
            <a:pPr marL="0" indent="0">
              <a:buNone/>
            </a:pPr>
            <a:r>
              <a:rPr lang="en-US" sz="1100" b="1" dirty="0">
                <a:solidFill>
                  <a:srgbClr val="0E5E5C"/>
                </a:solidFill>
                <a:latin typeface="Calibri" pitchFamily="34" charset="0"/>
                <a:ea typeface="Calibri" pitchFamily="34" charset="-122"/>
                <a:cs typeface="Calibri" pitchFamily="34" charset="-120"/>
              </a:rPr>
              <a:t>Information units  </a:t>
            </a:r>
            <a:r>
              <a:rPr lang="en-US" sz="1100" i="1" dirty="0">
                <a:solidFill>
                  <a:srgbClr val="55686B"/>
                </a:solidFill>
                <a:latin typeface="Calibri" pitchFamily="34" charset="0"/>
                <a:ea typeface="Calibri" pitchFamily="34" charset="-122"/>
                <a:cs typeface="Calibri" pitchFamily="34" charset="-120"/>
              </a:rPr>
              <a:t>“What is the sample size?” → </a:t>
            </a:r>
            <a:r>
              <a:rPr lang="en-US" sz="1100" b="1" dirty="0">
                <a:solidFill>
                  <a:srgbClr val="0A2E36"/>
                </a:solidFill>
                <a:latin typeface="Calibri" pitchFamily="34" charset="0"/>
                <a:ea typeface="Calibri" pitchFamily="34" charset="-122"/>
                <a:cs typeface="Calibri" pitchFamily="34" charset="-120"/>
              </a:rPr>
              <a:t>[ “21,365”, “37” ]</a:t>
            </a:r>
            <a:endParaRPr lang="en-US" sz="1100" dirty="0"/>
          </a:p>
        </p:txBody>
      </p:sp>
      <p:sp>
        <p:nvSpPr>
          <p:cNvPr id="31" name="Shape 25"/>
          <p:cNvSpPr/>
          <p:nvPr/>
        </p:nvSpPr>
        <p:spPr>
          <a:xfrm>
            <a:off x="5852160" y="4187952"/>
            <a:ext cx="2834640" cy="566928"/>
          </a:xfrm>
          <a:prstGeom prst="roundRect">
            <a:avLst>
              <a:gd name="adj" fmla="val 12903"/>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32" name="Text 26"/>
          <p:cNvSpPr/>
          <p:nvPr/>
        </p:nvSpPr>
        <p:spPr>
          <a:xfrm>
            <a:off x="5943600" y="4187952"/>
            <a:ext cx="2651760" cy="566928"/>
          </a:xfrm>
          <a:prstGeom prst="rect">
            <a:avLst/>
          </a:prstGeom>
          <a:noFill/>
          <a:ln/>
        </p:spPr>
        <p:txBody>
          <a:bodyPr wrap="square" lIns="0" tIns="0" rIns="0" bIns="0" rtlCol="0" anchor="ctr"/>
          <a:lstStyle/>
          <a:p>
            <a:pPr marL="0" indent="0" algn="ctr">
              <a:buNone/>
            </a:pPr>
            <a:r>
              <a:rPr lang="en-US" sz="1200" b="1" dirty="0">
                <a:solidFill>
                  <a:srgbClr val="0A2E36"/>
                </a:solidFill>
                <a:latin typeface="Calibri" pitchFamily="34" charset="0"/>
                <a:ea typeface="Calibri" pitchFamily="34" charset="-122"/>
                <a:cs typeface="Calibri" pitchFamily="34" charset="-120"/>
              </a:rPr>
              <a:t>+ 4th axis:  Readability</a:t>
            </a:r>
            <a:endParaRPr lang="en-US" sz="1200" dirty="0"/>
          </a:p>
        </p:txBody>
      </p:sp>
      <p:sp>
        <p:nvSpPr>
          <p:cNvPr id="33"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accuracy</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97% of answers were at least partially correct — and no hallucinations</a:t>
            </a:r>
            <a:endParaRPr lang="en-US" sz="1250" dirty="0"/>
          </a:p>
        </p:txBody>
      </p:sp>
      <p:graphicFrame>
        <p:nvGraphicFramePr>
          <p:cNvPr id="6" name="Chart 0"/>
          <p:cNvGraphicFramePr/>
          <p:nvPr/>
        </p:nvGraphicFramePr>
        <p:xfrm>
          <a:off x="365760" y="1463040"/>
          <a:ext cx="521208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5806440" y="1481328"/>
            <a:ext cx="2880360" cy="274320"/>
          </a:xfrm>
          <a:prstGeom prst="rect">
            <a:avLst/>
          </a:prstGeom>
          <a:noFill/>
          <a:ln/>
        </p:spPr>
        <p:txBody>
          <a:bodyPr wrap="square" lIns="0" tIns="0" rIns="0" bIns="0" rtlCol="0" anchor="ctr"/>
          <a:lstStyle/>
          <a:p>
            <a:pPr marL="0" indent="0">
              <a:buNone/>
            </a:pPr>
            <a:r>
              <a:rPr lang="en-US" sz="1250" b="1" dirty="0">
                <a:solidFill>
                  <a:srgbClr val="0E5E5C"/>
                </a:solidFill>
                <a:latin typeface="Calibri" pitchFamily="34" charset="0"/>
                <a:ea typeface="Calibri" pitchFamily="34" charset="-122"/>
                <a:cs typeface="Calibri" pitchFamily="34" charset="-120"/>
              </a:rPr>
              <a:t>Overall accuracy</a:t>
            </a:r>
            <a:endParaRPr lang="en-US" sz="1250" dirty="0"/>
          </a:p>
        </p:txBody>
      </p:sp>
      <p:sp>
        <p:nvSpPr>
          <p:cNvPr id="8" name="Shape 4"/>
          <p:cNvSpPr/>
          <p:nvPr/>
        </p:nvSpPr>
        <p:spPr>
          <a:xfrm>
            <a:off x="5806440" y="1810512"/>
            <a:ext cx="288036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Shape 5"/>
          <p:cNvSpPr/>
          <p:nvPr/>
        </p:nvSpPr>
        <p:spPr>
          <a:xfrm>
            <a:off x="5989320" y="1993392"/>
            <a:ext cx="237744" cy="237744"/>
          </a:xfrm>
          <a:prstGeom prst="ellipse">
            <a:avLst/>
          </a:prstGeom>
          <a:solidFill>
            <a:srgbClr val="127475"/>
          </a:solidFill>
          <a:ln/>
        </p:spPr>
        <p:txBody>
          <a:bodyPr/>
          <a:lstStyle/>
          <a:p>
            <a:endParaRPr lang="en-DE"/>
          </a:p>
        </p:txBody>
      </p:sp>
      <p:sp>
        <p:nvSpPr>
          <p:cNvPr id="10" name="Text 6"/>
          <p:cNvSpPr/>
          <p:nvPr/>
        </p:nvSpPr>
        <p:spPr>
          <a:xfrm>
            <a:off x="6355080" y="1810512"/>
            <a:ext cx="1463040" cy="603504"/>
          </a:xfrm>
          <a:prstGeom prst="rect">
            <a:avLst/>
          </a:prstGeom>
          <a:noFill/>
          <a:ln/>
        </p:spPr>
        <p:txBody>
          <a:bodyPr wrap="square" lIns="0" tIns="0" rIns="0" bIns="0" rtlCol="0" anchor="ctr"/>
          <a:lstStyle/>
          <a:p>
            <a:pPr marL="0" indent="0">
              <a:buNone/>
            </a:pPr>
            <a:r>
              <a:rPr lang="en-US" sz="1150" b="1" dirty="0">
                <a:solidFill>
                  <a:srgbClr val="183036"/>
                </a:solidFill>
                <a:latin typeface="Calibri" pitchFamily="34" charset="0"/>
                <a:ea typeface="Calibri" pitchFamily="34" charset="-122"/>
                <a:cs typeface="Calibri" pitchFamily="34" charset="-120"/>
              </a:rPr>
              <a:t>ChatGPT 5.2</a:t>
            </a:r>
            <a:endParaRPr lang="en-US" sz="1150" dirty="0"/>
          </a:p>
        </p:txBody>
      </p:sp>
      <p:sp>
        <p:nvSpPr>
          <p:cNvPr id="11" name="Text 7"/>
          <p:cNvSpPr/>
          <p:nvPr/>
        </p:nvSpPr>
        <p:spPr>
          <a:xfrm>
            <a:off x="7772400" y="1810512"/>
            <a:ext cx="841248" cy="603504"/>
          </a:xfrm>
          <a:prstGeom prst="rect">
            <a:avLst/>
          </a:prstGeom>
          <a:noFill/>
          <a:ln/>
        </p:spPr>
        <p:txBody>
          <a:bodyPr wrap="square" lIns="0" tIns="0" rIns="0" bIns="0" rtlCol="0" anchor="ctr"/>
          <a:lstStyle/>
          <a:p>
            <a:pPr marL="0" indent="0" algn="r">
              <a:buNone/>
            </a:pPr>
            <a:r>
              <a:rPr lang="en-US" sz="1700" b="1" dirty="0">
                <a:solidFill>
                  <a:srgbClr val="127475"/>
                </a:solidFill>
                <a:latin typeface="Cambria" pitchFamily="34" charset="0"/>
                <a:ea typeface="Cambria" pitchFamily="34" charset="-122"/>
                <a:cs typeface="Cambria" pitchFamily="34" charset="-120"/>
              </a:rPr>
              <a:t>88.9%</a:t>
            </a:r>
            <a:endParaRPr lang="en-US" sz="1700" dirty="0"/>
          </a:p>
        </p:txBody>
      </p:sp>
      <p:sp>
        <p:nvSpPr>
          <p:cNvPr id="12" name="Shape 8"/>
          <p:cNvSpPr/>
          <p:nvPr/>
        </p:nvSpPr>
        <p:spPr>
          <a:xfrm>
            <a:off x="5806440" y="2487168"/>
            <a:ext cx="288036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Shape 9"/>
          <p:cNvSpPr/>
          <p:nvPr/>
        </p:nvSpPr>
        <p:spPr>
          <a:xfrm>
            <a:off x="5989320" y="2670048"/>
            <a:ext cx="237744" cy="237744"/>
          </a:xfrm>
          <a:prstGeom prst="ellipse">
            <a:avLst/>
          </a:prstGeom>
          <a:solidFill>
            <a:srgbClr val="E07A5F"/>
          </a:solidFill>
          <a:ln/>
        </p:spPr>
        <p:txBody>
          <a:bodyPr/>
          <a:lstStyle/>
          <a:p>
            <a:endParaRPr lang="en-DE"/>
          </a:p>
        </p:txBody>
      </p:sp>
      <p:sp>
        <p:nvSpPr>
          <p:cNvPr id="14" name="Text 10"/>
          <p:cNvSpPr/>
          <p:nvPr/>
        </p:nvSpPr>
        <p:spPr>
          <a:xfrm>
            <a:off x="6355080" y="2487168"/>
            <a:ext cx="1463040" cy="603504"/>
          </a:xfrm>
          <a:prstGeom prst="rect">
            <a:avLst/>
          </a:prstGeom>
          <a:noFill/>
          <a:ln/>
        </p:spPr>
        <p:txBody>
          <a:bodyPr wrap="square" lIns="0" tIns="0" rIns="0" bIns="0" rtlCol="0" anchor="ctr"/>
          <a:lstStyle/>
          <a:p>
            <a:pPr marL="0" indent="0">
              <a:buNone/>
            </a:pPr>
            <a:r>
              <a:rPr lang="en-US" sz="1150" b="1" dirty="0">
                <a:solidFill>
                  <a:srgbClr val="183036"/>
                </a:solidFill>
                <a:latin typeface="Calibri" pitchFamily="34" charset="0"/>
                <a:ea typeface="Calibri" pitchFamily="34" charset="-122"/>
                <a:cs typeface="Calibri" pitchFamily="34" charset="-120"/>
              </a:rPr>
              <a:t>Claude Opus 4.6</a:t>
            </a:r>
            <a:endParaRPr lang="en-US" sz="1150" dirty="0"/>
          </a:p>
        </p:txBody>
      </p:sp>
      <p:sp>
        <p:nvSpPr>
          <p:cNvPr id="15" name="Text 11"/>
          <p:cNvSpPr/>
          <p:nvPr/>
        </p:nvSpPr>
        <p:spPr>
          <a:xfrm>
            <a:off x="7772400" y="2487168"/>
            <a:ext cx="841248" cy="603504"/>
          </a:xfrm>
          <a:prstGeom prst="rect">
            <a:avLst/>
          </a:prstGeom>
          <a:noFill/>
          <a:ln/>
        </p:spPr>
        <p:txBody>
          <a:bodyPr wrap="square" lIns="0" tIns="0" rIns="0" bIns="0" rtlCol="0" anchor="ctr"/>
          <a:lstStyle/>
          <a:p>
            <a:pPr marL="0" indent="0" algn="r">
              <a:buNone/>
            </a:pPr>
            <a:r>
              <a:rPr lang="en-US" sz="1700" b="1" dirty="0">
                <a:solidFill>
                  <a:srgbClr val="E07A5F"/>
                </a:solidFill>
                <a:latin typeface="Cambria" pitchFamily="34" charset="0"/>
                <a:ea typeface="Cambria" pitchFamily="34" charset="-122"/>
                <a:cs typeface="Cambria" pitchFamily="34" charset="-120"/>
              </a:rPr>
              <a:t>83.3%</a:t>
            </a:r>
            <a:endParaRPr lang="en-US" sz="1700" dirty="0"/>
          </a:p>
        </p:txBody>
      </p:sp>
      <p:sp>
        <p:nvSpPr>
          <p:cNvPr id="16" name="Shape 12"/>
          <p:cNvSpPr/>
          <p:nvPr/>
        </p:nvSpPr>
        <p:spPr>
          <a:xfrm>
            <a:off x="5806440" y="3163824"/>
            <a:ext cx="288036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3"/>
          <p:cNvSpPr/>
          <p:nvPr/>
        </p:nvSpPr>
        <p:spPr>
          <a:xfrm>
            <a:off x="5989320" y="3346704"/>
            <a:ext cx="237744" cy="237744"/>
          </a:xfrm>
          <a:prstGeom prst="ellipse">
            <a:avLst/>
          </a:prstGeom>
          <a:solidFill>
            <a:srgbClr val="3D5A80"/>
          </a:solidFill>
          <a:ln/>
        </p:spPr>
        <p:txBody>
          <a:bodyPr/>
          <a:lstStyle/>
          <a:p>
            <a:endParaRPr lang="en-DE"/>
          </a:p>
        </p:txBody>
      </p:sp>
      <p:sp>
        <p:nvSpPr>
          <p:cNvPr id="18" name="Text 14"/>
          <p:cNvSpPr/>
          <p:nvPr/>
        </p:nvSpPr>
        <p:spPr>
          <a:xfrm>
            <a:off x="6355080" y="3163824"/>
            <a:ext cx="1463040" cy="603504"/>
          </a:xfrm>
          <a:prstGeom prst="rect">
            <a:avLst/>
          </a:prstGeom>
          <a:noFill/>
          <a:ln/>
        </p:spPr>
        <p:txBody>
          <a:bodyPr wrap="square" lIns="0" tIns="0" rIns="0" bIns="0" rtlCol="0" anchor="ctr"/>
          <a:lstStyle/>
          <a:p>
            <a:pPr marL="0" indent="0">
              <a:buNone/>
            </a:pPr>
            <a:r>
              <a:rPr lang="en-US" sz="1150" b="1" dirty="0">
                <a:solidFill>
                  <a:srgbClr val="183036"/>
                </a:solidFill>
                <a:latin typeface="Calibri" pitchFamily="34" charset="0"/>
                <a:ea typeface="Calibri" pitchFamily="34" charset="-122"/>
                <a:cs typeface="Calibri" pitchFamily="34" charset="-120"/>
              </a:rPr>
              <a:t>Gemini 3 Pro</a:t>
            </a:r>
            <a:endParaRPr lang="en-US" sz="1150" dirty="0"/>
          </a:p>
        </p:txBody>
      </p:sp>
      <p:sp>
        <p:nvSpPr>
          <p:cNvPr id="19" name="Text 15"/>
          <p:cNvSpPr/>
          <p:nvPr/>
        </p:nvSpPr>
        <p:spPr>
          <a:xfrm>
            <a:off x="7772400" y="3163824"/>
            <a:ext cx="841248" cy="603504"/>
          </a:xfrm>
          <a:prstGeom prst="rect">
            <a:avLst/>
          </a:prstGeom>
          <a:noFill/>
          <a:ln/>
        </p:spPr>
        <p:txBody>
          <a:bodyPr wrap="square" lIns="0" tIns="0" rIns="0" bIns="0" rtlCol="0" anchor="ctr"/>
          <a:lstStyle/>
          <a:p>
            <a:pPr marL="0" indent="0" algn="r">
              <a:buNone/>
            </a:pPr>
            <a:r>
              <a:rPr lang="en-US" sz="1700" b="1" dirty="0">
                <a:solidFill>
                  <a:srgbClr val="3D5A80"/>
                </a:solidFill>
                <a:latin typeface="Cambria" pitchFamily="34" charset="0"/>
                <a:ea typeface="Cambria" pitchFamily="34" charset="-122"/>
                <a:cs typeface="Cambria" pitchFamily="34" charset="-120"/>
              </a:rPr>
              <a:t>80.6%</a:t>
            </a:r>
            <a:endParaRPr lang="en-US" sz="1700" dirty="0"/>
          </a:p>
        </p:txBody>
      </p:sp>
      <p:sp>
        <p:nvSpPr>
          <p:cNvPr id="20" name="Shape 16"/>
          <p:cNvSpPr/>
          <p:nvPr/>
        </p:nvSpPr>
        <p:spPr>
          <a:xfrm>
            <a:off x="5806440" y="3913632"/>
            <a:ext cx="2880360" cy="658368"/>
          </a:xfrm>
          <a:prstGeom prst="roundRect">
            <a:avLst>
              <a:gd name="adj" fmla="val 1111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21" name="Text 17"/>
          <p:cNvSpPr/>
          <p:nvPr/>
        </p:nvSpPr>
        <p:spPr>
          <a:xfrm>
            <a:off x="5989320" y="3913632"/>
            <a:ext cx="2560320" cy="65836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Only 3 incorrect answers</a:t>
            </a:r>
            <a:endParaRPr lang="en-US" sz="1050" dirty="0"/>
          </a:p>
          <a:p>
            <a:pPr marL="0" indent="0">
              <a:buNone/>
            </a:pPr>
            <a:r>
              <a:rPr lang="en-US" sz="1050" i="1" dirty="0">
                <a:solidFill>
                  <a:srgbClr val="9AD1D4"/>
                </a:solidFill>
                <a:latin typeface="Calibri" pitchFamily="34" charset="0"/>
                <a:ea typeface="Calibri" pitchFamily="34" charset="-122"/>
                <a:cs typeface="Calibri" pitchFamily="34" charset="-120"/>
              </a:rPr>
              <a:t>all from misreading, none from hallucination</a:t>
            </a:r>
            <a:endParaRPr lang="en-US" sz="1050" dirty="0"/>
          </a:p>
        </p:txBody>
      </p:sp>
      <p:sp>
        <p:nvSpPr>
          <p:cNvPr id="22" name="Text 18"/>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the ACF score</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Comparable performance, with each model strong on a different axis</a:t>
            </a:r>
            <a:endParaRPr lang="en-US" sz="1250" dirty="0"/>
          </a:p>
        </p:txBody>
      </p:sp>
      <p:graphicFrame>
        <p:nvGraphicFramePr>
          <p:cNvPr id="6" name="Chart 0"/>
          <p:cNvGraphicFramePr/>
          <p:nvPr/>
        </p:nvGraphicFramePr>
        <p:xfrm>
          <a:off x="365760" y="1417320"/>
          <a:ext cx="56692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6172200" y="1417320"/>
            <a:ext cx="2514600" cy="274320"/>
          </a:xfrm>
          <a:prstGeom prst="rect">
            <a:avLst/>
          </a:prstGeom>
          <a:noFill/>
          <a:ln/>
        </p:spPr>
        <p:txBody>
          <a:bodyPr wrap="square" lIns="0" tIns="0" rIns="0" bIns="0" rtlCol="0" anchor="ctr"/>
          <a:lstStyle/>
          <a:p>
            <a:pPr marL="0" indent="0">
              <a:buNone/>
            </a:pPr>
            <a:r>
              <a:rPr lang="en-US" sz="1250" b="1" dirty="0">
                <a:solidFill>
                  <a:srgbClr val="0E5E5C"/>
                </a:solidFill>
                <a:latin typeface="Calibri" pitchFamily="34" charset="0"/>
                <a:ea typeface="Calibri" pitchFamily="34" charset="-122"/>
                <a:cs typeface="Calibri" pitchFamily="34" charset="-120"/>
              </a:rPr>
              <a:t>Who wins where</a:t>
            </a:r>
            <a:endParaRPr lang="en-US" sz="1250" dirty="0"/>
          </a:p>
        </p:txBody>
      </p:sp>
      <p:sp>
        <p:nvSpPr>
          <p:cNvPr id="8" name="Shape 4"/>
          <p:cNvSpPr/>
          <p:nvPr/>
        </p:nvSpPr>
        <p:spPr>
          <a:xfrm>
            <a:off x="6172200" y="1755648"/>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Text 5"/>
          <p:cNvSpPr/>
          <p:nvPr/>
        </p:nvSpPr>
        <p:spPr>
          <a:xfrm>
            <a:off x="6355080" y="1865376"/>
            <a:ext cx="2194560" cy="274320"/>
          </a:xfrm>
          <a:prstGeom prst="rect">
            <a:avLst/>
          </a:prstGeom>
          <a:noFill/>
          <a:ln/>
        </p:spPr>
        <p:txBody>
          <a:bodyPr wrap="square" lIns="0" tIns="0" rIns="0" bIns="0" rtlCol="0" anchor="ctr"/>
          <a:lstStyle/>
          <a:p>
            <a:pPr marL="0" indent="0">
              <a:buNone/>
            </a:pPr>
            <a:r>
              <a:rPr lang="en-US" sz="1250" b="1" dirty="0">
                <a:solidFill>
                  <a:srgbClr val="127475"/>
                </a:solidFill>
                <a:latin typeface="Cambria" pitchFamily="34" charset="0"/>
                <a:ea typeface="Cambria" pitchFamily="34" charset="-122"/>
                <a:cs typeface="Cambria" pitchFamily="34" charset="-120"/>
              </a:rPr>
              <a:t>ChatGPT 5.2</a:t>
            </a:r>
            <a:endParaRPr lang="en-US" sz="1250" dirty="0"/>
          </a:p>
        </p:txBody>
      </p:sp>
      <p:sp>
        <p:nvSpPr>
          <p:cNvPr id="10" name="Text 6"/>
          <p:cNvSpPr/>
          <p:nvPr/>
        </p:nvSpPr>
        <p:spPr>
          <a:xfrm>
            <a:off x="6355080" y="2139696"/>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ea typeface="Calibri" pitchFamily="34" charset="-122"/>
                <a:cs typeface="Calibri" pitchFamily="34" charset="-120"/>
              </a:rPr>
              <a:t>Accuracy · Faithfulness · best overall ACF (0.720)</a:t>
            </a:r>
            <a:endParaRPr lang="en-US" sz="1000" dirty="0"/>
          </a:p>
        </p:txBody>
      </p:sp>
      <p:sp>
        <p:nvSpPr>
          <p:cNvPr id="11" name="Shape 7"/>
          <p:cNvSpPr/>
          <p:nvPr/>
        </p:nvSpPr>
        <p:spPr>
          <a:xfrm>
            <a:off x="6172200" y="2706624"/>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Text 8"/>
          <p:cNvSpPr/>
          <p:nvPr/>
        </p:nvSpPr>
        <p:spPr>
          <a:xfrm>
            <a:off x="6355080" y="2816352"/>
            <a:ext cx="2194560" cy="274320"/>
          </a:xfrm>
          <a:prstGeom prst="rect">
            <a:avLst/>
          </a:prstGeom>
          <a:noFill/>
          <a:ln/>
        </p:spPr>
        <p:txBody>
          <a:bodyPr wrap="square" lIns="0" tIns="0" rIns="0" bIns="0" rtlCol="0" anchor="ctr"/>
          <a:lstStyle/>
          <a:p>
            <a:pPr marL="0" indent="0">
              <a:buNone/>
            </a:pPr>
            <a:r>
              <a:rPr lang="en-US" sz="1250" b="1" dirty="0">
                <a:solidFill>
                  <a:srgbClr val="E07A5F"/>
                </a:solidFill>
                <a:latin typeface="Cambria" pitchFamily="34" charset="0"/>
                <a:ea typeface="Cambria" pitchFamily="34" charset="-122"/>
                <a:cs typeface="Cambria" pitchFamily="34" charset="-120"/>
              </a:rPr>
              <a:t>Claude Opus 4.6</a:t>
            </a:r>
            <a:endParaRPr lang="en-US" sz="1250" dirty="0"/>
          </a:p>
        </p:txBody>
      </p:sp>
      <p:sp>
        <p:nvSpPr>
          <p:cNvPr id="13" name="Text 9"/>
          <p:cNvSpPr/>
          <p:nvPr/>
        </p:nvSpPr>
        <p:spPr>
          <a:xfrm>
            <a:off x="6355080" y="3090672"/>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ea typeface="Calibri" pitchFamily="34" charset="-122"/>
                <a:cs typeface="Calibri" pitchFamily="34" charset="-120"/>
              </a:rPr>
              <a:t>Most complete answers (ACF 0.706)</a:t>
            </a:r>
            <a:endParaRPr lang="en-US" sz="1000" dirty="0"/>
          </a:p>
        </p:txBody>
      </p:sp>
      <p:sp>
        <p:nvSpPr>
          <p:cNvPr id="14" name="Shape 10"/>
          <p:cNvSpPr/>
          <p:nvPr/>
        </p:nvSpPr>
        <p:spPr>
          <a:xfrm>
            <a:off x="6172200" y="3657600"/>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5" name="Text 11"/>
          <p:cNvSpPr/>
          <p:nvPr/>
        </p:nvSpPr>
        <p:spPr>
          <a:xfrm>
            <a:off x="6355080" y="3767328"/>
            <a:ext cx="2194560" cy="274320"/>
          </a:xfrm>
          <a:prstGeom prst="rect">
            <a:avLst/>
          </a:prstGeom>
          <a:noFill/>
          <a:ln/>
        </p:spPr>
        <p:txBody>
          <a:bodyPr wrap="square" lIns="0" tIns="0" rIns="0" bIns="0" rtlCol="0" anchor="ctr"/>
          <a:lstStyle/>
          <a:p>
            <a:pPr marL="0" indent="0">
              <a:buNone/>
            </a:pPr>
            <a:r>
              <a:rPr lang="en-US" sz="1250" b="1" dirty="0">
                <a:solidFill>
                  <a:srgbClr val="3D5A80"/>
                </a:solidFill>
                <a:latin typeface="Cambria" pitchFamily="34" charset="0"/>
                <a:ea typeface="Cambria" pitchFamily="34" charset="-122"/>
                <a:cs typeface="Cambria" pitchFamily="34" charset="-120"/>
              </a:rPr>
              <a:t>Gemini 3 Pro</a:t>
            </a:r>
            <a:endParaRPr lang="en-US" sz="1250" dirty="0"/>
          </a:p>
        </p:txBody>
      </p:sp>
      <p:sp>
        <p:nvSpPr>
          <p:cNvPr id="16" name="Text 12"/>
          <p:cNvSpPr/>
          <p:nvPr/>
        </p:nvSpPr>
        <p:spPr>
          <a:xfrm>
            <a:off x="6355080" y="4041648"/>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ea typeface="Calibri" pitchFamily="34" charset="-122"/>
                <a:cs typeface="Calibri" pitchFamily="34" charset="-120"/>
              </a:rPr>
              <a:t>Strong BERTScore; most concise</a:t>
            </a:r>
            <a:endParaRPr lang="en-US" sz="1000" dirty="0"/>
          </a:p>
        </p:txBody>
      </p:sp>
      <p:sp>
        <p:nvSpPr>
          <p:cNvPr id="17" name="Text 13"/>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readability</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Human answers set the baseline; Gemini is closest, Claude hardest</a:t>
            </a:r>
            <a:endParaRPr lang="en-US" sz="1250" dirty="0"/>
          </a:p>
        </p:txBody>
      </p:sp>
      <p:graphicFrame>
        <p:nvGraphicFramePr>
          <p:cNvPr id="6" name="Chart 0"/>
          <p:cNvGraphicFramePr/>
          <p:nvPr/>
        </p:nvGraphicFramePr>
        <p:xfrm>
          <a:off x="365760" y="1463040"/>
          <a:ext cx="576072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365760" y="4608576"/>
            <a:ext cx="5760720" cy="274320"/>
          </a:xfrm>
          <a:prstGeom prst="rect">
            <a:avLst/>
          </a:prstGeom>
          <a:noFill/>
          <a:ln/>
        </p:spPr>
        <p:txBody>
          <a:bodyPr wrap="square" lIns="0" tIns="0" rIns="0" bIns="0" rtlCol="0" anchor="ctr"/>
          <a:lstStyle/>
          <a:p>
            <a:pPr marL="0" indent="0" algn="ctr">
              <a:buNone/>
            </a:pPr>
            <a:r>
              <a:rPr lang="en-US" sz="950" i="1" dirty="0">
                <a:solidFill>
                  <a:srgbClr val="8AA0A3"/>
                </a:solidFill>
                <a:latin typeface="Calibri" pitchFamily="34" charset="0"/>
                <a:ea typeface="Calibri" pitchFamily="34" charset="-122"/>
                <a:cs typeface="Calibri" pitchFamily="34" charset="-120"/>
              </a:rPr>
              <a:t>US grade level (lower = easier)</a:t>
            </a:r>
            <a:endParaRPr lang="en-US" sz="950" dirty="0"/>
          </a:p>
        </p:txBody>
      </p:sp>
      <p:sp>
        <p:nvSpPr>
          <p:cNvPr id="8" name="Shape 4"/>
          <p:cNvSpPr/>
          <p:nvPr/>
        </p:nvSpPr>
        <p:spPr>
          <a:xfrm>
            <a:off x="6263640" y="1481328"/>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Text 5"/>
          <p:cNvSpPr/>
          <p:nvPr/>
        </p:nvSpPr>
        <p:spPr>
          <a:xfrm>
            <a:off x="6419088" y="1572768"/>
            <a:ext cx="1554480" cy="274320"/>
          </a:xfrm>
          <a:prstGeom prst="rect">
            <a:avLst/>
          </a:prstGeom>
          <a:noFill/>
          <a:ln/>
        </p:spPr>
        <p:txBody>
          <a:bodyPr wrap="square" lIns="0" tIns="0" rIns="0" bIns="0" rtlCol="0" anchor="ctr"/>
          <a:lstStyle/>
          <a:p>
            <a:pPr marL="0" indent="0">
              <a:buNone/>
            </a:pPr>
            <a:r>
              <a:rPr lang="en-US" sz="1150" b="1" dirty="0">
                <a:solidFill>
                  <a:srgbClr val="81B29A"/>
                </a:solidFill>
                <a:latin typeface="Cambria" pitchFamily="34" charset="0"/>
                <a:ea typeface="Cambria" pitchFamily="34" charset="-122"/>
                <a:cs typeface="Cambria" pitchFamily="34" charset="-120"/>
              </a:rPr>
              <a:t>Human</a:t>
            </a:r>
            <a:endParaRPr lang="en-US" sz="1150" dirty="0"/>
          </a:p>
        </p:txBody>
      </p:sp>
      <p:sp>
        <p:nvSpPr>
          <p:cNvPr id="10" name="Text 6"/>
          <p:cNvSpPr/>
          <p:nvPr/>
        </p:nvSpPr>
        <p:spPr>
          <a:xfrm>
            <a:off x="6419088" y="1847088"/>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baseline</a:t>
            </a:r>
            <a:endParaRPr lang="en-US" sz="900" dirty="0"/>
          </a:p>
        </p:txBody>
      </p:sp>
      <p:sp>
        <p:nvSpPr>
          <p:cNvPr id="11" name="Text 7"/>
          <p:cNvSpPr/>
          <p:nvPr/>
        </p:nvSpPr>
        <p:spPr>
          <a:xfrm>
            <a:off x="7818120" y="1481328"/>
            <a:ext cx="749808" cy="713232"/>
          </a:xfrm>
          <a:prstGeom prst="rect">
            <a:avLst/>
          </a:prstGeom>
          <a:noFill/>
          <a:ln/>
        </p:spPr>
        <p:txBody>
          <a:bodyPr wrap="square" lIns="0" tIns="0" rIns="0" bIns="0" rtlCol="0" anchor="ctr"/>
          <a:lstStyle/>
          <a:p>
            <a:pPr marL="0" indent="0" algn="r">
              <a:buNone/>
            </a:pPr>
            <a:r>
              <a:rPr lang="en-US" sz="1900" b="1" dirty="0">
                <a:solidFill>
                  <a:srgbClr val="81B29A"/>
                </a:solidFill>
                <a:latin typeface="Cambria" pitchFamily="34" charset="0"/>
                <a:ea typeface="Cambria" pitchFamily="34" charset="-122"/>
                <a:cs typeface="Cambria" pitchFamily="34" charset="-120"/>
              </a:rPr>
              <a:t>13.1</a:t>
            </a:r>
            <a:endParaRPr lang="en-US" sz="1900" dirty="0"/>
          </a:p>
        </p:txBody>
      </p:sp>
      <p:sp>
        <p:nvSpPr>
          <p:cNvPr id="12" name="Shape 8"/>
          <p:cNvSpPr/>
          <p:nvPr/>
        </p:nvSpPr>
        <p:spPr>
          <a:xfrm>
            <a:off x="6263640" y="2267712"/>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Text 9"/>
          <p:cNvSpPr/>
          <p:nvPr/>
        </p:nvSpPr>
        <p:spPr>
          <a:xfrm>
            <a:off x="6419088" y="2359152"/>
            <a:ext cx="1554480" cy="274320"/>
          </a:xfrm>
          <a:prstGeom prst="rect">
            <a:avLst/>
          </a:prstGeom>
          <a:noFill/>
          <a:ln/>
        </p:spPr>
        <p:txBody>
          <a:bodyPr wrap="square" lIns="0" tIns="0" rIns="0" bIns="0" rtlCol="0" anchor="ctr"/>
          <a:lstStyle/>
          <a:p>
            <a:pPr marL="0" indent="0">
              <a:buNone/>
            </a:pPr>
            <a:r>
              <a:rPr lang="en-US" sz="1150" b="1" dirty="0">
                <a:solidFill>
                  <a:srgbClr val="3D5A80"/>
                </a:solidFill>
                <a:latin typeface="Cambria" pitchFamily="34" charset="0"/>
                <a:ea typeface="Cambria" pitchFamily="34" charset="-122"/>
                <a:cs typeface="Cambria" pitchFamily="34" charset="-120"/>
              </a:rPr>
              <a:t>Gemini 3 Pro</a:t>
            </a:r>
            <a:endParaRPr lang="en-US" sz="1150" dirty="0"/>
          </a:p>
        </p:txBody>
      </p:sp>
      <p:sp>
        <p:nvSpPr>
          <p:cNvPr id="14" name="Text 10"/>
          <p:cNvSpPr/>
          <p:nvPr/>
        </p:nvSpPr>
        <p:spPr>
          <a:xfrm>
            <a:off x="6419088" y="2633472"/>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easiest LLM</a:t>
            </a:r>
            <a:endParaRPr lang="en-US" sz="900" dirty="0"/>
          </a:p>
        </p:txBody>
      </p:sp>
      <p:sp>
        <p:nvSpPr>
          <p:cNvPr id="15" name="Text 11"/>
          <p:cNvSpPr/>
          <p:nvPr/>
        </p:nvSpPr>
        <p:spPr>
          <a:xfrm>
            <a:off x="7818120" y="2267712"/>
            <a:ext cx="749808" cy="713232"/>
          </a:xfrm>
          <a:prstGeom prst="rect">
            <a:avLst/>
          </a:prstGeom>
          <a:noFill/>
          <a:ln/>
        </p:spPr>
        <p:txBody>
          <a:bodyPr wrap="square" lIns="0" tIns="0" rIns="0" bIns="0" rtlCol="0" anchor="ctr"/>
          <a:lstStyle/>
          <a:p>
            <a:pPr marL="0" indent="0" algn="r">
              <a:buNone/>
            </a:pPr>
            <a:r>
              <a:rPr lang="en-US" sz="1900" b="1" dirty="0">
                <a:solidFill>
                  <a:srgbClr val="3D5A80"/>
                </a:solidFill>
                <a:latin typeface="Cambria" pitchFamily="34" charset="0"/>
                <a:ea typeface="Cambria" pitchFamily="34" charset="-122"/>
                <a:cs typeface="Cambria" pitchFamily="34" charset="-120"/>
              </a:rPr>
              <a:t>13.8</a:t>
            </a:r>
            <a:endParaRPr lang="en-US" sz="1900" dirty="0"/>
          </a:p>
        </p:txBody>
      </p:sp>
      <p:sp>
        <p:nvSpPr>
          <p:cNvPr id="16" name="Shape 12"/>
          <p:cNvSpPr/>
          <p:nvPr/>
        </p:nvSpPr>
        <p:spPr>
          <a:xfrm>
            <a:off x="6263640" y="3054096"/>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Text 13"/>
          <p:cNvSpPr/>
          <p:nvPr/>
        </p:nvSpPr>
        <p:spPr>
          <a:xfrm>
            <a:off x="6419088" y="3145536"/>
            <a:ext cx="1554480" cy="274320"/>
          </a:xfrm>
          <a:prstGeom prst="rect">
            <a:avLst/>
          </a:prstGeom>
          <a:noFill/>
          <a:ln/>
        </p:spPr>
        <p:txBody>
          <a:bodyPr wrap="square" lIns="0" tIns="0" rIns="0" bIns="0" rtlCol="0" anchor="ctr"/>
          <a:lstStyle/>
          <a:p>
            <a:pPr marL="0" indent="0">
              <a:buNone/>
            </a:pPr>
            <a:r>
              <a:rPr lang="en-US" sz="1150" b="1" dirty="0">
                <a:solidFill>
                  <a:srgbClr val="127475"/>
                </a:solidFill>
                <a:latin typeface="Cambria" pitchFamily="34" charset="0"/>
                <a:ea typeface="Cambria" pitchFamily="34" charset="-122"/>
                <a:cs typeface="Cambria" pitchFamily="34" charset="-120"/>
              </a:rPr>
              <a:t>ChatGPT 5.2</a:t>
            </a:r>
            <a:endParaRPr lang="en-US" sz="1150" dirty="0"/>
          </a:p>
        </p:txBody>
      </p:sp>
      <p:sp>
        <p:nvSpPr>
          <p:cNvPr id="18" name="Text 14"/>
          <p:cNvSpPr/>
          <p:nvPr/>
        </p:nvSpPr>
        <p:spPr>
          <a:xfrm>
            <a:off x="6419088" y="3419856"/>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most consistent</a:t>
            </a:r>
            <a:endParaRPr lang="en-US" sz="900" dirty="0"/>
          </a:p>
        </p:txBody>
      </p:sp>
      <p:sp>
        <p:nvSpPr>
          <p:cNvPr id="19" name="Text 15"/>
          <p:cNvSpPr/>
          <p:nvPr/>
        </p:nvSpPr>
        <p:spPr>
          <a:xfrm>
            <a:off x="7818120" y="3054096"/>
            <a:ext cx="749808" cy="713232"/>
          </a:xfrm>
          <a:prstGeom prst="rect">
            <a:avLst/>
          </a:prstGeom>
          <a:noFill/>
          <a:ln/>
        </p:spPr>
        <p:txBody>
          <a:bodyPr wrap="square" lIns="0" tIns="0" rIns="0" bIns="0" rtlCol="0" anchor="ctr"/>
          <a:lstStyle/>
          <a:p>
            <a:pPr marL="0" indent="0" algn="r">
              <a:buNone/>
            </a:pPr>
            <a:r>
              <a:rPr lang="en-US" sz="1900" b="1" dirty="0">
                <a:solidFill>
                  <a:srgbClr val="127475"/>
                </a:solidFill>
                <a:latin typeface="Cambria" pitchFamily="34" charset="0"/>
                <a:ea typeface="Cambria" pitchFamily="34" charset="-122"/>
                <a:cs typeface="Cambria" pitchFamily="34" charset="-120"/>
              </a:rPr>
              <a:t>14.8</a:t>
            </a:r>
            <a:endParaRPr lang="en-US" sz="1900" dirty="0"/>
          </a:p>
        </p:txBody>
      </p:sp>
      <p:sp>
        <p:nvSpPr>
          <p:cNvPr id="20" name="Shape 16"/>
          <p:cNvSpPr/>
          <p:nvPr/>
        </p:nvSpPr>
        <p:spPr>
          <a:xfrm>
            <a:off x="6263640" y="3840480"/>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1" name="Text 17"/>
          <p:cNvSpPr/>
          <p:nvPr/>
        </p:nvSpPr>
        <p:spPr>
          <a:xfrm>
            <a:off x="6419088" y="3931920"/>
            <a:ext cx="1554480" cy="274320"/>
          </a:xfrm>
          <a:prstGeom prst="rect">
            <a:avLst/>
          </a:prstGeom>
          <a:noFill/>
          <a:ln/>
        </p:spPr>
        <p:txBody>
          <a:bodyPr wrap="square" lIns="0" tIns="0" rIns="0" bIns="0" rtlCol="0" anchor="ctr"/>
          <a:lstStyle/>
          <a:p>
            <a:pPr marL="0" indent="0">
              <a:buNone/>
            </a:pPr>
            <a:r>
              <a:rPr lang="en-US" sz="1150" b="1" dirty="0">
                <a:solidFill>
                  <a:srgbClr val="E07A5F"/>
                </a:solidFill>
                <a:latin typeface="Cambria" pitchFamily="34" charset="0"/>
                <a:ea typeface="Cambria" pitchFamily="34" charset="-122"/>
                <a:cs typeface="Cambria" pitchFamily="34" charset="-120"/>
              </a:rPr>
              <a:t>Claude Opus 4.6</a:t>
            </a:r>
            <a:endParaRPr lang="en-US" sz="1150" dirty="0"/>
          </a:p>
        </p:txBody>
      </p:sp>
      <p:sp>
        <p:nvSpPr>
          <p:cNvPr id="22" name="Text 18"/>
          <p:cNvSpPr/>
          <p:nvPr/>
        </p:nvSpPr>
        <p:spPr>
          <a:xfrm>
            <a:off x="6419088" y="4206240"/>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hardest · most verbose</a:t>
            </a:r>
            <a:endParaRPr lang="en-US" sz="900" dirty="0"/>
          </a:p>
        </p:txBody>
      </p:sp>
      <p:sp>
        <p:nvSpPr>
          <p:cNvPr id="23" name="Text 19"/>
          <p:cNvSpPr/>
          <p:nvPr/>
        </p:nvSpPr>
        <p:spPr>
          <a:xfrm>
            <a:off x="7818120" y="3840480"/>
            <a:ext cx="749808" cy="713232"/>
          </a:xfrm>
          <a:prstGeom prst="rect">
            <a:avLst/>
          </a:prstGeom>
          <a:noFill/>
          <a:ln/>
        </p:spPr>
        <p:txBody>
          <a:bodyPr wrap="square" lIns="0" tIns="0" rIns="0" bIns="0" rtlCol="0" anchor="ctr"/>
          <a:lstStyle/>
          <a:p>
            <a:pPr marL="0" indent="0" algn="r">
              <a:buNone/>
            </a:pPr>
            <a:r>
              <a:rPr lang="en-US" sz="1900" b="1" dirty="0">
                <a:solidFill>
                  <a:srgbClr val="E07A5F"/>
                </a:solidFill>
                <a:latin typeface="Cambria" pitchFamily="34" charset="0"/>
                <a:ea typeface="Cambria" pitchFamily="34" charset="-122"/>
                <a:cs typeface="Cambria" pitchFamily="34" charset="-120"/>
              </a:rPr>
              <a:t>16.7</a:t>
            </a:r>
            <a:endParaRPr lang="en-US" sz="1900" dirty="0"/>
          </a:p>
        </p:txBody>
      </p:sp>
      <p:sp>
        <p:nvSpPr>
          <p:cNvPr id="24" name="Text 20"/>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What the scores reveal</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ACF tracks how open-ended a question is — a feedback signal</a:t>
            </a:r>
            <a:endParaRPr lang="en-US" sz="1250" dirty="0"/>
          </a:p>
        </p:txBody>
      </p:sp>
      <p:graphicFrame>
        <p:nvGraphicFramePr>
          <p:cNvPr id="6" name="Chart 0"/>
          <p:cNvGraphicFramePr/>
          <p:nvPr/>
        </p:nvGraphicFramePr>
        <p:xfrm>
          <a:off x="365760" y="1463040"/>
          <a:ext cx="512064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365760" y="4608576"/>
            <a:ext cx="5120640" cy="274320"/>
          </a:xfrm>
          <a:prstGeom prst="rect">
            <a:avLst/>
          </a:prstGeom>
          <a:noFill/>
          <a:ln/>
        </p:spPr>
        <p:txBody>
          <a:bodyPr wrap="square" lIns="0" tIns="0" rIns="0" bIns="0" rtlCol="0" anchor="ctr"/>
          <a:lstStyle/>
          <a:p>
            <a:pPr marL="0" indent="0" algn="ctr">
              <a:buNone/>
            </a:pPr>
            <a:r>
              <a:rPr lang="en-US" sz="950" i="1" dirty="0">
                <a:solidFill>
                  <a:srgbClr val="8AA0A3"/>
                </a:solidFill>
                <a:latin typeface="Calibri" pitchFamily="34" charset="0"/>
                <a:ea typeface="Calibri" pitchFamily="34" charset="-122"/>
                <a:cs typeface="Calibri" pitchFamily="34" charset="-120"/>
              </a:rPr>
              <a:t>Avg ACF score by question category</a:t>
            </a:r>
            <a:endParaRPr lang="en-US" sz="950" dirty="0"/>
          </a:p>
        </p:txBody>
      </p:sp>
      <p:sp>
        <p:nvSpPr>
          <p:cNvPr id="8" name="Shape 4"/>
          <p:cNvSpPr/>
          <p:nvPr/>
        </p:nvSpPr>
        <p:spPr>
          <a:xfrm>
            <a:off x="5669280" y="1463040"/>
            <a:ext cx="3017520" cy="1097280"/>
          </a:xfrm>
          <a:prstGeom prst="roundRect">
            <a:avLst>
              <a:gd name="adj" fmla="val 6667"/>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Text 5"/>
          <p:cNvSpPr/>
          <p:nvPr/>
        </p:nvSpPr>
        <p:spPr>
          <a:xfrm>
            <a:off x="5852160" y="1572768"/>
            <a:ext cx="2743200" cy="256032"/>
          </a:xfrm>
          <a:prstGeom prst="rect">
            <a:avLst/>
          </a:prstGeom>
          <a:noFill/>
          <a:ln/>
        </p:spPr>
        <p:txBody>
          <a:bodyPr wrap="square" lIns="0" tIns="0" rIns="0" bIns="0" rtlCol="0" anchor="ctr"/>
          <a:lstStyle/>
          <a:p>
            <a:pPr marL="0" indent="0">
              <a:buNone/>
            </a:pPr>
            <a:r>
              <a:rPr lang="en-US" sz="1050" b="1" dirty="0">
                <a:solidFill>
                  <a:srgbClr val="0E5E5C"/>
                </a:solidFill>
                <a:latin typeface="Calibri" pitchFamily="34" charset="0"/>
                <a:ea typeface="Calibri" pitchFamily="34" charset="-122"/>
                <a:cs typeface="Calibri" pitchFamily="34" charset="-120"/>
              </a:rPr>
              <a:t>Best-answered question</a:t>
            </a:r>
            <a:endParaRPr lang="en-US" sz="1050" dirty="0"/>
          </a:p>
        </p:txBody>
      </p:sp>
      <p:sp>
        <p:nvSpPr>
          <p:cNvPr id="10" name="Text 6"/>
          <p:cNvSpPr/>
          <p:nvPr/>
        </p:nvSpPr>
        <p:spPr>
          <a:xfrm>
            <a:off x="5852160" y="1828800"/>
            <a:ext cx="2743200" cy="457200"/>
          </a:xfrm>
          <a:prstGeom prst="rect">
            <a:avLst/>
          </a:prstGeom>
          <a:noFill/>
          <a:ln/>
        </p:spPr>
        <p:txBody>
          <a:bodyPr wrap="square" lIns="0" tIns="0" rIns="0" bIns="0" rtlCol="0" anchor="ctr"/>
          <a:lstStyle/>
          <a:p>
            <a:pPr marL="0" indent="0">
              <a:buNone/>
            </a:pPr>
            <a:r>
              <a:rPr lang="en-US" sz="1150" b="1" i="1" dirty="0">
                <a:solidFill>
                  <a:srgbClr val="0A2E36"/>
                </a:solidFill>
                <a:latin typeface="Calibri" pitchFamily="34" charset="0"/>
                <a:ea typeface="Calibri" pitchFamily="34" charset="-122"/>
                <a:cs typeface="Calibri" pitchFamily="34" charset="-120"/>
              </a:rPr>
              <a:t>“What is the source of the training data?”</a:t>
            </a:r>
            <a:endParaRPr lang="en-US" sz="1150" dirty="0"/>
          </a:p>
        </p:txBody>
      </p:sp>
      <p:sp>
        <p:nvSpPr>
          <p:cNvPr id="11" name="Text 7"/>
          <p:cNvSpPr/>
          <p:nvPr/>
        </p:nvSpPr>
        <p:spPr>
          <a:xfrm>
            <a:off x="5852160" y="2249424"/>
            <a:ext cx="2743200" cy="274320"/>
          </a:xfrm>
          <a:prstGeom prst="rect">
            <a:avLst/>
          </a:prstGeom>
          <a:noFill/>
          <a:ln/>
        </p:spPr>
        <p:txBody>
          <a:bodyPr wrap="square" lIns="0" tIns="0" rIns="0" bIns="0" rtlCol="0" anchor="ctr"/>
          <a:lstStyle/>
          <a:p>
            <a:pPr marL="0" indent="0">
              <a:buNone/>
            </a:pPr>
            <a:r>
              <a:rPr lang="en-US" sz="1300" b="1" dirty="0">
                <a:solidFill>
                  <a:srgbClr val="2E8B7F"/>
                </a:solidFill>
                <a:latin typeface="Cambria" pitchFamily="34" charset="0"/>
                <a:ea typeface="Cambria" pitchFamily="34" charset="-122"/>
                <a:cs typeface="Cambria" pitchFamily="34" charset="-120"/>
              </a:rPr>
              <a:t>ACF 0.909</a:t>
            </a:r>
            <a:endParaRPr lang="en-US" sz="1300" dirty="0"/>
          </a:p>
        </p:txBody>
      </p:sp>
      <p:sp>
        <p:nvSpPr>
          <p:cNvPr id="12" name="Shape 8"/>
          <p:cNvSpPr/>
          <p:nvPr/>
        </p:nvSpPr>
        <p:spPr>
          <a:xfrm>
            <a:off x="5669280" y="2670048"/>
            <a:ext cx="3017520" cy="1097280"/>
          </a:xfrm>
          <a:prstGeom prst="roundRect">
            <a:avLst>
              <a:gd name="adj" fmla="val 6667"/>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Text 9"/>
          <p:cNvSpPr/>
          <p:nvPr/>
        </p:nvSpPr>
        <p:spPr>
          <a:xfrm>
            <a:off x="5852160" y="2779776"/>
            <a:ext cx="2743200" cy="256032"/>
          </a:xfrm>
          <a:prstGeom prst="rect">
            <a:avLst/>
          </a:prstGeom>
          <a:noFill/>
          <a:ln/>
        </p:spPr>
        <p:txBody>
          <a:bodyPr wrap="square" lIns="0" tIns="0" rIns="0" bIns="0" rtlCol="0" anchor="ctr"/>
          <a:lstStyle/>
          <a:p>
            <a:pPr marL="0" indent="0">
              <a:buNone/>
            </a:pPr>
            <a:r>
              <a:rPr lang="en-US" sz="1050" b="1" dirty="0">
                <a:solidFill>
                  <a:srgbClr val="0E5E5C"/>
                </a:solidFill>
                <a:latin typeface="Calibri" pitchFamily="34" charset="0"/>
                <a:ea typeface="Calibri" pitchFamily="34" charset="-122"/>
                <a:cs typeface="Calibri" pitchFamily="34" charset="-120"/>
              </a:rPr>
              <a:t>Worst-answered question</a:t>
            </a:r>
            <a:endParaRPr lang="en-US" sz="1050" dirty="0"/>
          </a:p>
        </p:txBody>
      </p:sp>
      <p:sp>
        <p:nvSpPr>
          <p:cNvPr id="14" name="Text 10"/>
          <p:cNvSpPr/>
          <p:nvPr/>
        </p:nvSpPr>
        <p:spPr>
          <a:xfrm>
            <a:off x="5852160" y="3035808"/>
            <a:ext cx="2743200" cy="457200"/>
          </a:xfrm>
          <a:prstGeom prst="rect">
            <a:avLst/>
          </a:prstGeom>
          <a:noFill/>
          <a:ln/>
        </p:spPr>
        <p:txBody>
          <a:bodyPr wrap="square" lIns="0" tIns="0" rIns="0" bIns="0" rtlCol="0" anchor="ctr"/>
          <a:lstStyle/>
          <a:p>
            <a:pPr marL="0" indent="0">
              <a:buNone/>
            </a:pPr>
            <a:r>
              <a:rPr lang="en-US" sz="1150" b="1" i="1" dirty="0">
                <a:solidFill>
                  <a:srgbClr val="0A2E36"/>
                </a:solidFill>
                <a:latin typeface="Calibri" pitchFamily="34" charset="0"/>
                <a:ea typeface="Calibri" pitchFamily="34" charset="-122"/>
                <a:cs typeface="Calibri" pitchFamily="34" charset="-120"/>
              </a:rPr>
              <a:t>“How does it weigh different features?”</a:t>
            </a:r>
            <a:endParaRPr lang="en-US" sz="1150" dirty="0"/>
          </a:p>
        </p:txBody>
      </p:sp>
      <p:sp>
        <p:nvSpPr>
          <p:cNvPr id="15" name="Text 11"/>
          <p:cNvSpPr/>
          <p:nvPr/>
        </p:nvSpPr>
        <p:spPr>
          <a:xfrm>
            <a:off x="5852160" y="3456432"/>
            <a:ext cx="2743200" cy="274320"/>
          </a:xfrm>
          <a:prstGeom prst="rect">
            <a:avLst/>
          </a:prstGeom>
          <a:noFill/>
          <a:ln/>
        </p:spPr>
        <p:txBody>
          <a:bodyPr wrap="square" lIns="0" tIns="0" rIns="0" bIns="0" rtlCol="0" anchor="ctr"/>
          <a:lstStyle/>
          <a:p>
            <a:pPr marL="0" indent="0">
              <a:buNone/>
            </a:pPr>
            <a:r>
              <a:rPr lang="en-US" sz="1300" b="1" dirty="0">
                <a:solidFill>
                  <a:srgbClr val="C25A4B"/>
                </a:solidFill>
                <a:latin typeface="Cambria" pitchFamily="34" charset="0"/>
                <a:ea typeface="Cambria" pitchFamily="34" charset="-122"/>
                <a:cs typeface="Cambria" pitchFamily="34" charset="-120"/>
              </a:rPr>
              <a:t>ACF 0.441</a:t>
            </a:r>
            <a:endParaRPr lang="en-US" sz="1300" dirty="0"/>
          </a:p>
        </p:txBody>
      </p:sp>
      <p:sp>
        <p:nvSpPr>
          <p:cNvPr id="16" name="Shape 12"/>
          <p:cNvSpPr/>
          <p:nvPr/>
        </p:nvSpPr>
        <p:spPr>
          <a:xfrm>
            <a:off x="5669280" y="3877056"/>
            <a:ext cx="3017520" cy="713232"/>
          </a:xfrm>
          <a:prstGeom prst="roundRect">
            <a:avLst>
              <a:gd name="adj" fmla="val 1025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7" name="Text 13"/>
          <p:cNvSpPr/>
          <p:nvPr/>
        </p:nvSpPr>
        <p:spPr>
          <a:xfrm>
            <a:off x="5852160" y="3877056"/>
            <a:ext cx="2697480" cy="71323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Specific questions score high; </a:t>
            </a:r>
            <a:r>
              <a:rPr lang="en-US" sz="1050" b="1" dirty="0">
                <a:solidFill>
                  <a:srgbClr val="E9B44C"/>
                </a:solidFill>
                <a:latin typeface="Calibri" pitchFamily="34" charset="0"/>
                <a:ea typeface="Calibri" pitchFamily="34" charset="-122"/>
                <a:cs typeface="Calibri" pitchFamily="34" charset="-120"/>
              </a:rPr>
              <a:t>vague, open-ended ones score low</a:t>
            </a:r>
            <a:r>
              <a:rPr lang="en-US" sz="1050" dirty="0">
                <a:solidFill>
                  <a:srgbClr val="FFFFFF"/>
                </a:solidFill>
                <a:latin typeface="Calibri" pitchFamily="34" charset="0"/>
                <a:ea typeface="Calibri" pitchFamily="34" charset="-122"/>
                <a:cs typeface="Calibri" pitchFamily="34" charset="-120"/>
              </a:rPr>
              <a:t> — these need refining.</a:t>
            </a:r>
            <a:endParaRPr lang="en-US" sz="1050" dirty="0"/>
          </a:p>
        </p:txBody>
      </p:sp>
      <p:sp>
        <p:nvSpPr>
          <p:cNvPr id="18" name="Text 14"/>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Model benchmarking</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Different strengths suggest different best-fit use-cases</a:t>
            </a:r>
            <a:endParaRPr lang="en-US" sz="1250" dirty="0"/>
          </a:p>
        </p:txBody>
      </p:sp>
      <p:sp>
        <p:nvSpPr>
          <p:cNvPr id="6" name="Shape 3"/>
          <p:cNvSpPr/>
          <p:nvPr/>
        </p:nvSpPr>
        <p:spPr>
          <a:xfrm>
            <a:off x="457200" y="1371600"/>
            <a:ext cx="2679192" cy="3200400"/>
          </a:xfrm>
          <a:prstGeom prst="roundRect">
            <a:avLst>
              <a:gd name="adj" fmla="val 273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1522476" y="1572768"/>
            <a:ext cx="548640" cy="548640"/>
          </a:xfrm>
          <a:prstGeom prst="ellipse">
            <a:avLst/>
          </a:prstGeom>
          <a:solidFill>
            <a:srgbClr val="127475"/>
          </a:solidFill>
          <a:ln/>
        </p:spPr>
        <p:txBody>
          <a:bodyPr/>
          <a:lstStyle/>
          <a:p>
            <a:endParaRPr lang="en-DE"/>
          </a:p>
        </p:txBody>
      </p:sp>
      <p:sp>
        <p:nvSpPr>
          <p:cNvPr id="8" name="Text 5"/>
          <p:cNvSpPr/>
          <p:nvPr/>
        </p:nvSpPr>
        <p:spPr>
          <a:xfrm>
            <a:off x="1522476" y="157276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548640" y="2212848"/>
            <a:ext cx="2496312" cy="274320"/>
          </a:xfrm>
          <a:prstGeom prst="rect">
            <a:avLst/>
          </a:prstGeom>
          <a:noFill/>
          <a:ln/>
        </p:spPr>
        <p:txBody>
          <a:bodyPr wrap="square" lIns="0" tIns="0" rIns="0" bIns="0" rtlCol="0" anchor="ctr"/>
          <a:lstStyle/>
          <a:p>
            <a:pPr marL="0" indent="0" algn="ctr">
              <a:buNone/>
            </a:pPr>
            <a:r>
              <a:rPr lang="en-US" sz="1400" b="1" dirty="0">
                <a:solidFill>
                  <a:srgbClr val="0A2E36"/>
                </a:solidFill>
                <a:latin typeface="Cambria" pitchFamily="34" charset="0"/>
                <a:ea typeface="Cambria" pitchFamily="34" charset="-122"/>
                <a:cs typeface="Cambria" pitchFamily="34" charset="-120"/>
              </a:rPr>
              <a:t>ChatGPT 5.2</a:t>
            </a:r>
            <a:endParaRPr lang="en-US" sz="1400" dirty="0"/>
          </a:p>
        </p:txBody>
      </p:sp>
      <p:sp>
        <p:nvSpPr>
          <p:cNvPr id="10" name="Text 7"/>
          <p:cNvSpPr/>
          <p:nvPr/>
        </p:nvSpPr>
        <p:spPr>
          <a:xfrm>
            <a:off x="548640" y="2487168"/>
            <a:ext cx="2496312" cy="274320"/>
          </a:xfrm>
          <a:prstGeom prst="rect">
            <a:avLst/>
          </a:prstGeom>
          <a:noFill/>
          <a:ln/>
        </p:spPr>
        <p:txBody>
          <a:bodyPr wrap="square" lIns="0" tIns="0" rIns="0" bIns="0" rtlCol="0" anchor="ctr"/>
          <a:lstStyle/>
          <a:p>
            <a:pPr marL="0" indent="0" algn="ctr">
              <a:buNone/>
            </a:pPr>
            <a:r>
              <a:rPr lang="en-US" sz="1100" i="1" dirty="0">
                <a:solidFill>
                  <a:srgbClr val="127475"/>
                </a:solidFill>
                <a:latin typeface="Calibri" pitchFamily="34" charset="0"/>
                <a:ea typeface="Calibri" pitchFamily="34" charset="-122"/>
                <a:cs typeface="Calibri" pitchFamily="34" charset="-120"/>
              </a:rPr>
              <a:t>Best all-rounder</a:t>
            </a:r>
            <a:endParaRPr lang="en-US" sz="1100" dirty="0"/>
          </a:p>
        </p:txBody>
      </p:sp>
      <p:sp>
        <p:nvSpPr>
          <p:cNvPr id="11" name="Text 8"/>
          <p:cNvSpPr/>
          <p:nvPr/>
        </p:nvSpPr>
        <p:spPr>
          <a:xfrm>
            <a:off x="658368" y="2852928"/>
            <a:ext cx="2313432" cy="1051560"/>
          </a:xfrm>
          <a:prstGeom prst="rect">
            <a:avLst/>
          </a:prstGeom>
          <a:noFill/>
          <a:ln/>
        </p:spPr>
        <p:txBody>
          <a:bodyPr wrap="square" lIns="0" tIns="0" rIns="0" bIns="0" rtlCol="0" anchor="ctr"/>
          <a:lstStyle/>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Highest accuracy &amp; faithfulness</a:t>
            </a:r>
            <a:endParaRPr lang="en-US" sz="1050" dirty="0"/>
          </a:p>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Most consistent readability</a:t>
            </a:r>
            <a:endParaRPr lang="en-US" sz="1050" dirty="0"/>
          </a:p>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Best overall ACF (0.720)</a:t>
            </a:r>
            <a:endParaRPr lang="en-US" sz="1050" dirty="0"/>
          </a:p>
        </p:txBody>
      </p:sp>
      <p:sp>
        <p:nvSpPr>
          <p:cNvPr id="12" name="Shape 9"/>
          <p:cNvSpPr/>
          <p:nvPr/>
        </p:nvSpPr>
        <p:spPr>
          <a:xfrm>
            <a:off x="621792" y="3968496"/>
            <a:ext cx="2350008" cy="493776"/>
          </a:xfrm>
          <a:prstGeom prst="roundRect">
            <a:avLst>
              <a:gd name="adj" fmla="val 9259"/>
            </a:avLst>
          </a:prstGeom>
          <a:solidFill>
            <a:srgbClr val="127475"/>
          </a:solidFill>
          <a:ln/>
        </p:spPr>
        <p:txBody>
          <a:bodyPr/>
          <a:lstStyle/>
          <a:p>
            <a:endParaRPr lang="en-DE"/>
          </a:p>
        </p:txBody>
      </p:sp>
      <p:sp>
        <p:nvSpPr>
          <p:cNvPr id="13" name="Text 10"/>
          <p:cNvSpPr/>
          <p:nvPr/>
        </p:nvSpPr>
        <p:spPr>
          <a:xfrm>
            <a:off x="694944" y="3968496"/>
            <a:ext cx="2203704" cy="493776"/>
          </a:xfrm>
          <a:prstGeom prst="rect">
            <a:avLst/>
          </a:prstGeom>
          <a:noFill/>
          <a:ln/>
        </p:spPr>
        <p:txBody>
          <a:bodyPr wrap="square" lIns="0" tIns="0" rIns="0" bIns="0" rtlCol="0" anchor="ctr"/>
          <a:lstStyle/>
          <a:p>
            <a:pPr marL="0" indent="0" algn="ctr">
              <a:buNone/>
            </a:pPr>
            <a:r>
              <a:rPr lang="en-US" sz="980" b="1" dirty="0">
                <a:solidFill>
                  <a:srgbClr val="FFFFFF"/>
                </a:solidFill>
                <a:latin typeface="Calibri" pitchFamily="34" charset="0"/>
                <a:ea typeface="Calibri" pitchFamily="34" charset="-122"/>
                <a:cs typeface="Calibri" pitchFamily="34" charset="-120"/>
              </a:rPr>
              <a:t>High-stakes domains where balance matters</a:t>
            </a:r>
            <a:endParaRPr lang="en-US" sz="980" dirty="0"/>
          </a:p>
        </p:txBody>
      </p:sp>
      <p:sp>
        <p:nvSpPr>
          <p:cNvPr id="14" name="Shape 11"/>
          <p:cNvSpPr/>
          <p:nvPr/>
        </p:nvSpPr>
        <p:spPr>
          <a:xfrm>
            <a:off x="3232404" y="1371600"/>
            <a:ext cx="2679192" cy="3200400"/>
          </a:xfrm>
          <a:prstGeom prst="roundRect">
            <a:avLst>
              <a:gd name="adj" fmla="val 273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5" name="Shape 12"/>
          <p:cNvSpPr/>
          <p:nvPr/>
        </p:nvSpPr>
        <p:spPr>
          <a:xfrm>
            <a:off x="4297680" y="1572768"/>
            <a:ext cx="548640" cy="548640"/>
          </a:xfrm>
          <a:prstGeom prst="ellipse">
            <a:avLst/>
          </a:prstGeom>
          <a:solidFill>
            <a:srgbClr val="E07A5F"/>
          </a:solidFill>
          <a:ln/>
        </p:spPr>
        <p:txBody>
          <a:bodyPr/>
          <a:lstStyle/>
          <a:p>
            <a:endParaRPr lang="en-DE"/>
          </a:p>
        </p:txBody>
      </p:sp>
      <p:sp>
        <p:nvSpPr>
          <p:cNvPr id="16" name="Text 13"/>
          <p:cNvSpPr/>
          <p:nvPr/>
        </p:nvSpPr>
        <p:spPr>
          <a:xfrm>
            <a:off x="4297680" y="157276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7" name="Text 14"/>
          <p:cNvSpPr/>
          <p:nvPr/>
        </p:nvSpPr>
        <p:spPr>
          <a:xfrm>
            <a:off x="3323844" y="2212848"/>
            <a:ext cx="2496312" cy="274320"/>
          </a:xfrm>
          <a:prstGeom prst="rect">
            <a:avLst/>
          </a:prstGeom>
          <a:noFill/>
          <a:ln/>
        </p:spPr>
        <p:txBody>
          <a:bodyPr wrap="square" lIns="0" tIns="0" rIns="0" bIns="0" rtlCol="0" anchor="ctr"/>
          <a:lstStyle/>
          <a:p>
            <a:pPr marL="0" indent="0" algn="ctr">
              <a:buNone/>
            </a:pPr>
            <a:r>
              <a:rPr lang="en-US" sz="1400" b="1" dirty="0">
                <a:solidFill>
                  <a:srgbClr val="0A2E36"/>
                </a:solidFill>
                <a:latin typeface="Cambria" pitchFamily="34" charset="0"/>
                <a:ea typeface="Cambria" pitchFamily="34" charset="-122"/>
                <a:cs typeface="Cambria" pitchFamily="34" charset="-120"/>
              </a:rPr>
              <a:t>Claude Opus 4.6</a:t>
            </a:r>
            <a:endParaRPr lang="en-US" sz="1400" dirty="0"/>
          </a:p>
        </p:txBody>
      </p:sp>
      <p:sp>
        <p:nvSpPr>
          <p:cNvPr id="18" name="Text 15"/>
          <p:cNvSpPr/>
          <p:nvPr/>
        </p:nvSpPr>
        <p:spPr>
          <a:xfrm>
            <a:off x="3323844" y="2487168"/>
            <a:ext cx="2496312" cy="274320"/>
          </a:xfrm>
          <a:prstGeom prst="rect">
            <a:avLst/>
          </a:prstGeom>
          <a:noFill/>
          <a:ln/>
        </p:spPr>
        <p:txBody>
          <a:bodyPr wrap="square" lIns="0" tIns="0" rIns="0" bIns="0" rtlCol="0" anchor="ctr"/>
          <a:lstStyle/>
          <a:p>
            <a:pPr marL="0" indent="0" algn="ctr">
              <a:buNone/>
            </a:pPr>
            <a:r>
              <a:rPr lang="en-US" sz="1100" i="1" dirty="0">
                <a:solidFill>
                  <a:srgbClr val="E07A5F"/>
                </a:solidFill>
                <a:latin typeface="Calibri" pitchFamily="34" charset="0"/>
                <a:ea typeface="Calibri" pitchFamily="34" charset="-122"/>
                <a:cs typeface="Calibri" pitchFamily="34" charset="-120"/>
              </a:rPr>
              <a:t>The specialist</a:t>
            </a:r>
            <a:endParaRPr lang="en-US" sz="1100" dirty="0"/>
          </a:p>
        </p:txBody>
      </p:sp>
      <p:sp>
        <p:nvSpPr>
          <p:cNvPr id="19" name="Text 16"/>
          <p:cNvSpPr/>
          <p:nvPr/>
        </p:nvSpPr>
        <p:spPr>
          <a:xfrm>
            <a:off x="3433572" y="2852928"/>
            <a:ext cx="2313432" cy="1051560"/>
          </a:xfrm>
          <a:prstGeom prst="rect">
            <a:avLst/>
          </a:prstGeom>
          <a:noFill/>
          <a:ln/>
        </p:spPr>
        <p:txBody>
          <a:bodyPr wrap="square" lIns="0" tIns="0" rIns="0" bIns="0" rtlCol="0" anchor="ctr"/>
          <a:lstStyle/>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Most complete answers</a:t>
            </a:r>
            <a:endParaRPr lang="en-US" sz="1050" dirty="0"/>
          </a:p>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In-depth, analytical, technical</a:t>
            </a:r>
            <a:endParaRPr lang="en-US" sz="1050" dirty="0"/>
          </a:p>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Most verbose — hardest to read</a:t>
            </a:r>
            <a:endParaRPr lang="en-US" sz="1050" dirty="0"/>
          </a:p>
        </p:txBody>
      </p:sp>
      <p:sp>
        <p:nvSpPr>
          <p:cNvPr id="20" name="Shape 17"/>
          <p:cNvSpPr/>
          <p:nvPr/>
        </p:nvSpPr>
        <p:spPr>
          <a:xfrm>
            <a:off x="3396996" y="3968496"/>
            <a:ext cx="2350008" cy="493776"/>
          </a:xfrm>
          <a:prstGeom prst="roundRect">
            <a:avLst>
              <a:gd name="adj" fmla="val 9259"/>
            </a:avLst>
          </a:prstGeom>
          <a:solidFill>
            <a:srgbClr val="E07A5F"/>
          </a:solidFill>
          <a:ln/>
        </p:spPr>
        <p:txBody>
          <a:bodyPr/>
          <a:lstStyle/>
          <a:p>
            <a:endParaRPr lang="en-DE"/>
          </a:p>
        </p:txBody>
      </p:sp>
      <p:sp>
        <p:nvSpPr>
          <p:cNvPr id="21" name="Text 18"/>
          <p:cNvSpPr/>
          <p:nvPr/>
        </p:nvSpPr>
        <p:spPr>
          <a:xfrm>
            <a:off x="3470148" y="3968496"/>
            <a:ext cx="2203704" cy="493776"/>
          </a:xfrm>
          <a:prstGeom prst="rect">
            <a:avLst/>
          </a:prstGeom>
          <a:noFill/>
          <a:ln/>
        </p:spPr>
        <p:txBody>
          <a:bodyPr wrap="square" lIns="0" tIns="0" rIns="0" bIns="0" rtlCol="0" anchor="ctr"/>
          <a:lstStyle/>
          <a:p>
            <a:pPr marL="0" indent="0" algn="ctr">
              <a:buNone/>
            </a:pPr>
            <a:r>
              <a:rPr lang="en-US" sz="980" b="1" dirty="0">
                <a:solidFill>
                  <a:srgbClr val="FFFFFF"/>
                </a:solidFill>
                <a:latin typeface="Calibri" pitchFamily="34" charset="0"/>
                <a:ea typeface="Calibri" pitchFamily="34" charset="-122"/>
                <a:cs typeface="Calibri" pitchFamily="34" charset="-120"/>
              </a:rPr>
              <a:t>Technical audiences who want depth</a:t>
            </a:r>
            <a:endParaRPr lang="en-US" sz="980" dirty="0"/>
          </a:p>
        </p:txBody>
      </p:sp>
      <p:sp>
        <p:nvSpPr>
          <p:cNvPr id="22" name="Shape 19"/>
          <p:cNvSpPr/>
          <p:nvPr/>
        </p:nvSpPr>
        <p:spPr>
          <a:xfrm>
            <a:off x="6007608" y="1371600"/>
            <a:ext cx="2679192" cy="3200400"/>
          </a:xfrm>
          <a:prstGeom prst="roundRect">
            <a:avLst>
              <a:gd name="adj" fmla="val 273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Shape 20"/>
          <p:cNvSpPr/>
          <p:nvPr/>
        </p:nvSpPr>
        <p:spPr>
          <a:xfrm>
            <a:off x="7072884" y="1572768"/>
            <a:ext cx="548640" cy="548640"/>
          </a:xfrm>
          <a:prstGeom prst="ellipse">
            <a:avLst/>
          </a:prstGeom>
          <a:solidFill>
            <a:srgbClr val="3D5A80"/>
          </a:solidFill>
          <a:ln/>
        </p:spPr>
        <p:txBody>
          <a:bodyPr/>
          <a:lstStyle/>
          <a:p>
            <a:endParaRPr lang="en-DE"/>
          </a:p>
        </p:txBody>
      </p:sp>
      <p:sp>
        <p:nvSpPr>
          <p:cNvPr id="24" name="Text 21"/>
          <p:cNvSpPr/>
          <p:nvPr/>
        </p:nvSpPr>
        <p:spPr>
          <a:xfrm>
            <a:off x="7072884" y="157276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5" name="Text 22"/>
          <p:cNvSpPr/>
          <p:nvPr/>
        </p:nvSpPr>
        <p:spPr>
          <a:xfrm>
            <a:off x="6099048" y="2212848"/>
            <a:ext cx="2496312" cy="274320"/>
          </a:xfrm>
          <a:prstGeom prst="rect">
            <a:avLst/>
          </a:prstGeom>
          <a:noFill/>
          <a:ln/>
        </p:spPr>
        <p:txBody>
          <a:bodyPr wrap="square" lIns="0" tIns="0" rIns="0" bIns="0" rtlCol="0" anchor="ctr"/>
          <a:lstStyle/>
          <a:p>
            <a:pPr marL="0" indent="0" algn="ctr">
              <a:buNone/>
            </a:pPr>
            <a:r>
              <a:rPr lang="en-US" sz="1400" b="1" dirty="0">
                <a:solidFill>
                  <a:srgbClr val="0A2E36"/>
                </a:solidFill>
                <a:latin typeface="Cambria" pitchFamily="34" charset="0"/>
                <a:ea typeface="Cambria" pitchFamily="34" charset="-122"/>
                <a:cs typeface="Cambria" pitchFamily="34" charset="-120"/>
              </a:rPr>
              <a:t>Gemini 3 Pro</a:t>
            </a:r>
            <a:endParaRPr lang="en-US" sz="1400" dirty="0"/>
          </a:p>
        </p:txBody>
      </p:sp>
      <p:sp>
        <p:nvSpPr>
          <p:cNvPr id="26" name="Text 23"/>
          <p:cNvSpPr/>
          <p:nvPr/>
        </p:nvSpPr>
        <p:spPr>
          <a:xfrm>
            <a:off x="6099048" y="2487168"/>
            <a:ext cx="2496312" cy="274320"/>
          </a:xfrm>
          <a:prstGeom prst="rect">
            <a:avLst/>
          </a:prstGeom>
          <a:noFill/>
          <a:ln/>
        </p:spPr>
        <p:txBody>
          <a:bodyPr wrap="square" lIns="0" tIns="0" rIns="0" bIns="0" rtlCol="0" anchor="ctr"/>
          <a:lstStyle/>
          <a:p>
            <a:pPr marL="0" indent="0" algn="ctr">
              <a:buNone/>
            </a:pPr>
            <a:r>
              <a:rPr lang="en-US" sz="1100" i="1" dirty="0">
                <a:solidFill>
                  <a:srgbClr val="3D5A80"/>
                </a:solidFill>
                <a:latin typeface="Calibri" pitchFamily="34" charset="0"/>
                <a:ea typeface="Calibri" pitchFamily="34" charset="-122"/>
                <a:cs typeface="Calibri" pitchFamily="34" charset="-120"/>
              </a:rPr>
              <a:t>The communicator</a:t>
            </a:r>
            <a:endParaRPr lang="en-US" sz="1100" dirty="0"/>
          </a:p>
        </p:txBody>
      </p:sp>
      <p:sp>
        <p:nvSpPr>
          <p:cNvPr id="27" name="Text 24"/>
          <p:cNvSpPr/>
          <p:nvPr/>
        </p:nvSpPr>
        <p:spPr>
          <a:xfrm>
            <a:off x="6208776" y="2852928"/>
            <a:ext cx="2313432" cy="1051560"/>
          </a:xfrm>
          <a:prstGeom prst="rect">
            <a:avLst/>
          </a:prstGeom>
          <a:noFill/>
          <a:ln/>
        </p:spPr>
        <p:txBody>
          <a:bodyPr wrap="square" lIns="0" tIns="0" rIns="0" bIns="0" rtlCol="0" anchor="ctr"/>
          <a:lstStyle/>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Easiest to read</a:t>
            </a:r>
            <a:endParaRPr lang="en-US" sz="1050" dirty="0"/>
          </a:p>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Most concise answers</a:t>
            </a:r>
            <a:endParaRPr lang="en-US" sz="1050" dirty="0"/>
          </a:p>
          <a:p>
            <a:pPr marL="152400" indent="-152400">
              <a:spcAft>
                <a:spcPts val="500"/>
              </a:spcAft>
              <a:buSzPct val="100000"/>
              <a:buChar char="•"/>
            </a:pPr>
            <a:r>
              <a:rPr lang="en-US" sz="1050" dirty="0">
                <a:solidFill>
                  <a:srgbClr val="183036"/>
                </a:solidFill>
                <a:latin typeface="Calibri" pitchFamily="34" charset="0"/>
                <a:ea typeface="Calibri" pitchFamily="34" charset="-122"/>
                <a:cs typeface="Calibri" pitchFamily="34" charset="-120"/>
              </a:rPr>
              <a:t>Trade-off: lowest accuracy</a:t>
            </a:r>
            <a:endParaRPr lang="en-US" sz="1050" dirty="0"/>
          </a:p>
        </p:txBody>
      </p:sp>
      <p:sp>
        <p:nvSpPr>
          <p:cNvPr id="28" name="Shape 25"/>
          <p:cNvSpPr/>
          <p:nvPr/>
        </p:nvSpPr>
        <p:spPr>
          <a:xfrm>
            <a:off x="6172200" y="3968496"/>
            <a:ext cx="2350008" cy="493776"/>
          </a:xfrm>
          <a:prstGeom prst="roundRect">
            <a:avLst>
              <a:gd name="adj" fmla="val 9259"/>
            </a:avLst>
          </a:prstGeom>
          <a:solidFill>
            <a:srgbClr val="3D5A80"/>
          </a:solidFill>
          <a:ln/>
        </p:spPr>
        <p:txBody>
          <a:bodyPr/>
          <a:lstStyle/>
          <a:p>
            <a:endParaRPr lang="en-DE"/>
          </a:p>
        </p:txBody>
      </p:sp>
      <p:sp>
        <p:nvSpPr>
          <p:cNvPr id="29" name="Text 26"/>
          <p:cNvSpPr/>
          <p:nvPr/>
        </p:nvSpPr>
        <p:spPr>
          <a:xfrm>
            <a:off x="6245352" y="3968496"/>
            <a:ext cx="2203704" cy="493776"/>
          </a:xfrm>
          <a:prstGeom prst="rect">
            <a:avLst/>
          </a:prstGeom>
          <a:noFill/>
          <a:ln/>
        </p:spPr>
        <p:txBody>
          <a:bodyPr wrap="square" lIns="0" tIns="0" rIns="0" bIns="0" rtlCol="0" anchor="ctr"/>
          <a:lstStyle/>
          <a:p>
            <a:pPr marL="0" indent="0" algn="ctr">
              <a:buNone/>
            </a:pPr>
            <a:r>
              <a:rPr lang="en-US" sz="980" b="1" dirty="0">
                <a:solidFill>
                  <a:srgbClr val="FFFFFF"/>
                </a:solidFill>
                <a:latin typeface="Calibri" pitchFamily="34" charset="0"/>
                <a:ea typeface="Calibri" pitchFamily="34" charset="-122"/>
                <a:cs typeface="Calibri" pitchFamily="34" charset="-120"/>
              </a:rPr>
              <a:t>Quick synopses &amp; summaries</a:t>
            </a:r>
            <a:endParaRPr lang="en-US" sz="980" dirty="0"/>
          </a:p>
        </p:txBody>
      </p:sp>
      <p:sp>
        <p:nvSpPr>
          <p:cNvPr id="30"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Clinical safety &amp; limitations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Where the framework must be used with care</a:t>
            </a:r>
            <a:endParaRPr lang="en-US" sz="1250" dirty="0"/>
          </a:p>
        </p:txBody>
      </p:sp>
      <p:sp>
        <p:nvSpPr>
          <p:cNvPr id="6" name="Shape 3"/>
          <p:cNvSpPr/>
          <p:nvPr/>
        </p:nvSpPr>
        <p:spPr>
          <a:xfrm>
            <a:off x="457200" y="1417320"/>
            <a:ext cx="8229600" cy="960120"/>
          </a:xfrm>
          <a:prstGeom prst="roundRect">
            <a:avLst>
              <a:gd name="adj" fmla="val 7619"/>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76656" y="1627632"/>
            <a:ext cx="548640" cy="548640"/>
          </a:xfrm>
          <a:prstGeom prst="ellipse">
            <a:avLst/>
          </a:prstGeom>
          <a:solidFill>
            <a:srgbClr val="E9B44C"/>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819302" y="1770278"/>
            <a:ext cx="263347" cy="263347"/>
          </a:xfrm>
          <a:prstGeom prst="rect">
            <a:avLst/>
          </a:prstGeom>
        </p:spPr>
      </p:pic>
      <p:sp>
        <p:nvSpPr>
          <p:cNvPr id="9" name="Text 5"/>
          <p:cNvSpPr/>
          <p:nvPr/>
        </p:nvSpPr>
        <p:spPr>
          <a:xfrm>
            <a:off x="1463040" y="1517904"/>
            <a:ext cx="7086600" cy="777240"/>
          </a:xfrm>
          <a:prstGeom prst="rect">
            <a:avLst/>
          </a:prstGeom>
          <a:noFill/>
          <a:ln/>
        </p:spPr>
        <p:txBody>
          <a:bodyPr wrap="square" lIns="0" tIns="0" rIns="0" bIns="0" rtlCol="0" anchor="ctr"/>
          <a:lstStyle/>
          <a:p>
            <a:pPr marL="0" indent="0">
              <a:buNone/>
            </a:pPr>
            <a:r>
              <a:rPr lang="en-US" sz="1250" b="1" dirty="0">
                <a:solidFill>
                  <a:srgbClr val="E9B44C"/>
                </a:solidFill>
                <a:latin typeface="Calibri" pitchFamily="34" charset="0"/>
                <a:ea typeface="Calibri" pitchFamily="34" charset="-122"/>
                <a:cs typeface="Calibri" pitchFamily="34" charset="-120"/>
              </a:rPr>
              <a:t>The fluency trap.  </a:t>
            </a:r>
            <a:r>
              <a:rPr lang="en-US" sz="1250" dirty="0">
                <a:solidFill>
                  <a:srgbClr val="F1F7F7"/>
                </a:solidFill>
                <a:latin typeface="Calibri" pitchFamily="34" charset="0"/>
                <a:ea typeface="Calibri" pitchFamily="34" charset="-122"/>
                <a:cs typeface="Calibri" pitchFamily="34" charset="-120"/>
              </a:rPr>
              <a:t>A readable but inaccurate answer can feel plausible — dangerous when clinicians lack the technical knowledge to verify it. ACF must be paired with readability, plus human-in-the-loop checks.</a:t>
            </a:r>
            <a:endParaRPr lang="en-US" sz="1250" dirty="0"/>
          </a:p>
        </p:txBody>
      </p:sp>
      <p:sp>
        <p:nvSpPr>
          <p:cNvPr id="10" name="Text 6"/>
          <p:cNvSpPr/>
          <p:nvPr/>
        </p:nvSpPr>
        <p:spPr>
          <a:xfrm>
            <a:off x="457200" y="2542032"/>
            <a:ext cx="4023360" cy="274320"/>
          </a:xfrm>
          <a:prstGeom prst="rect">
            <a:avLst/>
          </a:prstGeom>
          <a:noFill/>
          <a:ln/>
        </p:spPr>
        <p:txBody>
          <a:bodyPr wrap="square" lIns="0" tIns="0" rIns="0" bIns="0" rtlCol="0" anchor="ctr"/>
          <a:lstStyle/>
          <a:p>
            <a:pPr marL="0" indent="0">
              <a:buNone/>
            </a:pPr>
            <a:r>
              <a:rPr lang="en-US" sz="1300" b="1" dirty="0">
                <a:solidFill>
                  <a:srgbClr val="0E5E5C"/>
                </a:solidFill>
                <a:latin typeface="Calibri" pitchFamily="34" charset="0"/>
                <a:ea typeface="Calibri" pitchFamily="34" charset="-122"/>
                <a:cs typeface="Calibri" pitchFamily="34" charset="-120"/>
              </a:rPr>
              <a:t>Limitations</a:t>
            </a:r>
            <a:endParaRPr lang="en-US" sz="1300" dirty="0"/>
          </a:p>
        </p:txBody>
      </p:sp>
      <p:sp>
        <p:nvSpPr>
          <p:cNvPr id="11" name="Text 7"/>
          <p:cNvSpPr/>
          <p:nvPr/>
        </p:nvSpPr>
        <p:spPr>
          <a:xfrm>
            <a:off x="566928" y="2871216"/>
            <a:ext cx="4069080" cy="1737360"/>
          </a:xfrm>
          <a:prstGeom prst="rect">
            <a:avLst/>
          </a:prstGeom>
          <a:noFill/>
          <a:ln/>
        </p:spPr>
        <p:txBody>
          <a:bodyPr wrap="square" lIns="0" tIns="0" rIns="0" bIns="0" rtlCol="0" anchor="ctr"/>
          <a:lstStyle/>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Single domain, one AI system, one dataset</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One set of (subjective) reference human answers</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Only global questions — local &amp; fairness excluded</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Completeness rewards verbosity</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Restricted API access → reproducibility is empirical</a:t>
            </a:r>
            <a:endParaRPr lang="en-US" sz="1150" dirty="0"/>
          </a:p>
        </p:txBody>
      </p:sp>
      <p:sp>
        <p:nvSpPr>
          <p:cNvPr id="12" name="Text 8"/>
          <p:cNvSpPr/>
          <p:nvPr/>
        </p:nvSpPr>
        <p:spPr>
          <a:xfrm>
            <a:off x="4800600" y="2542032"/>
            <a:ext cx="3886200" cy="274320"/>
          </a:xfrm>
          <a:prstGeom prst="rect">
            <a:avLst/>
          </a:prstGeom>
          <a:noFill/>
          <a:ln/>
        </p:spPr>
        <p:txBody>
          <a:bodyPr wrap="square" lIns="0" tIns="0" rIns="0" bIns="0" rtlCol="0" anchor="ctr"/>
          <a:lstStyle/>
          <a:p>
            <a:pPr marL="0" indent="0">
              <a:buNone/>
            </a:pPr>
            <a:r>
              <a:rPr lang="en-US" sz="1300" b="1" dirty="0">
                <a:solidFill>
                  <a:srgbClr val="0E5E5C"/>
                </a:solidFill>
                <a:latin typeface="Calibri" pitchFamily="34" charset="0"/>
                <a:ea typeface="Calibri" pitchFamily="34" charset="-122"/>
                <a:cs typeface="Calibri" pitchFamily="34" charset="-120"/>
              </a:rPr>
              <a:t>Future work</a:t>
            </a:r>
            <a:endParaRPr lang="en-US" sz="1300" dirty="0"/>
          </a:p>
        </p:txBody>
      </p:sp>
      <p:sp>
        <p:nvSpPr>
          <p:cNvPr id="13" name="Text 9"/>
          <p:cNvSpPr/>
          <p:nvPr/>
        </p:nvSpPr>
        <p:spPr>
          <a:xfrm>
            <a:off x="4910328" y="2871216"/>
            <a:ext cx="3794760" cy="1737360"/>
          </a:xfrm>
          <a:prstGeom prst="rect">
            <a:avLst/>
          </a:prstGeom>
          <a:noFill/>
          <a:ln/>
        </p:spPr>
        <p:txBody>
          <a:bodyPr wrap="square" lIns="0" tIns="0" rIns="0" bIns="0" rtlCol="0" anchor="ctr"/>
          <a:lstStyle/>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Penalise verbose answers in the ACF score</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Multiple reference answers; more domains &amp; datasets</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Add local-prediction &amp; fairness/ethics questions</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User studies with clinicians (trust, satisfaction)</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LLM-as-a-judge to scale accuracy evaluation</a:t>
            </a:r>
            <a:endParaRPr lang="en-US" sz="1150" dirty="0"/>
          </a:p>
        </p:txBody>
      </p:sp>
      <p:sp>
        <p:nvSpPr>
          <p:cNvPr id="14" name="Text 10"/>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7223760" y="2926080"/>
            <a:ext cx="3291840" cy="3291840"/>
          </a:xfrm>
          <a:prstGeom prst="ellipse">
            <a:avLst/>
          </a:prstGeom>
          <a:solidFill>
            <a:srgbClr val="127475">
              <a:alpha val="20000"/>
            </a:srgbClr>
          </a:solidFill>
          <a:ln/>
        </p:spPr>
        <p:txBody>
          <a:bodyPr/>
          <a:lstStyle/>
          <a:p>
            <a:endParaRPr lang="en-DE"/>
          </a:p>
        </p:txBody>
      </p:sp>
      <p:sp>
        <p:nvSpPr>
          <p:cNvPr id="3" name="Shape 1"/>
          <p:cNvSpPr/>
          <p:nvPr/>
        </p:nvSpPr>
        <p:spPr>
          <a:xfrm>
            <a:off x="548640" y="457200"/>
            <a:ext cx="603504" cy="603504"/>
          </a:xfrm>
          <a:prstGeom prst="ellipse">
            <a:avLst/>
          </a:prstGeom>
          <a:solidFill>
            <a:srgbClr val="E9B44C"/>
          </a:solidFill>
          <a:ln/>
        </p:spPr>
        <p:txBody>
          <a:bodyPr/>
          <a:lstStyle/>
          <a:p>
            <a:endParaRPr lang="en-DE"/>
          </a:p>
        </p:txBody>
      </p:sp>
      <p:pic>
        <p:nvPicPr>
          <p:cNvPr id="4" name="Image 0" descr="preencoded.png"/>
          <p:cNvPicPr>
            <a:picLocks noChangeAspect="1"/>
          </p:cNvPicPr>
          <p:nvPr/>
        </p:nvPicPr>
        <p:blipFill>
          <a:blip r:embed="rId3"/>
          <a:stretch>
            <a:fillRect/>
          </a:stretch>
        </p:blipFill>
        <p:spPr>
          <a:xfrm>
            <a:off x="705551" y="614111"/>
            <a:ext cx="289682" cy="289682"/>
          </a:xfrm>
          <a:prstGeom prst="rect">
            <a:avLst/>
          </a:prstGeom>
        </p:spPr>
      </p:pic>
      <p:sp>
        <p:nvSpPr>
          <p:cNvPr id="5" name="Text 2"/>
          <p:cNvSpPr/>
          <p:nvPr/>
        </p:nvSpPr>
        <p:spPr>
          <a:xfrm>
            <a:off x="1280160" y="475488"/>
            <a:ext cx="73152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6" name="Text 3"/>
          <p:cNvSpPr/>
          <p:nvPr/>
        </p:nvSpPr>
        <p:spPr>
          <a:xfrm>
            <a:off x="548640" y="1188720"/>
            <a:ext cx="8046720" cy="548640"/>
          </a:xfrm>
          <a:prstGeom prst="rect">
            <a:avLst/>
          </a:prstGeom>
          <a:noFill/>
          <a:ln/>
        </p:spPr>
        <p:txBody>
          <a:bodyPr wrap="square" lIns="0" tIns="0" rIns="0" bIns="0" rtlCol="0" anchor="ctr"/>
          <a:lstStyle/>
          <a:p>
            <a:pPr marL="0" indent="0">
              <a:buNone/>
            </a:pPr>
            <a:r>
              <a:rPr lang="en-US" sz="1500" b="1" i="1" dirty="0">
                <a:solidFill>
                  <a:srgbClr val="9AD1D4"/>
                </a:solidFill>
                <a:latin typeface="Calibri" pitchFamily="34" charset="0"/>
                <a:ea typeface="Calibri" pitchFamily="34" charset="-122"/>
                <a:cs typeface="Calibri" pitchFamily="34" charset="-120"/>
              </a:rPr>
              <a:t>LLMs can serve as conversational explanatory agents — and the ACF framework makes their explanations measurable.</a:t>
            </a:r>
            <a:endParaRPr lang="en-US" sz="1500" dirty="0"/>
          </a:p>
        </p:txBody>
      </p:sp>
      <p:sp>
        <p:nvSpPr>
          <p:cNvPr id="7" name="Shape 4"/>
          <p:cNvSpPr/>
          <p:nvPr/>
        </p:nvSpPr>
        <p:spPr>
          <a:xfrm>
            <a:off x="548640" y="1874520"/>
            <a:ext cx="1947672" cy="1051560"/>
          </a:xfrm>
          <a:prstGeom prst="roundRect">
            <a:avLst>
              <a:gd name="adj" fmla="val 695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8" name="Text 5"/>
          <p:cNvSpPr/>
          <p:nvPr/>
        </p:nvSpPr>
        <p:spPr>
          <a:xfrm>
            <a:off x="640080" y="1993392"/>
            <a:ext cx="1764792"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0.843</a:t>
            </a:r>
            <a:endParaRPr lang="en-US" sz="3000" dirty="0"/>
          </a:p>
        </p:txBody>
      </p:sp>
      <p:sp>
        <p:nvSpPr>
          <p:cNvPr id="9" name="Text 6"/>
          <p:cNvSpPr/>
          <p:nvPr/>
        </p:nvSpPr>
        <p:spPr>
          <a:xfrm>
            <a:off x="640080" y="2523744"/>
            <a:ext cx="1764792" cy="292608"/>
          </a:xfrm>
          <a:prstGeom prst="rect">
            <a:avLst/>
          </a:prstGeom>
          <a:noFill/>
          <a:ln/>
        </p:spPr>
        <p:txBody>
          <a:bodyPr wrap="square" lIns="0" tIns="0" rIns="0" bIns="0" rtlCol="0" anchor="ctr"/>
          <a:lstStyle/>
          <a:p>
            <a:pPr marL="0" indent="0" algn="ctr">
              <a:buNone/>
            </a:pPr>
            <a:r>
              <a:rPr lang="en-US" sz="1100" dirty="0">
                <a:solidFill>
                  <a:srgbClr val="9AD1D4"/>
                </a:solidFill>
                <a:latin typeface="Calibri" pitchFamily="34" charset="0"/>
                <a:ea typeface="Calibri" pitchFamily="34" charset="-122"/>
                <a:cs typeface="Calibri" pitchFamily="34" charset="-120"/>
              </a:rPr>
              <a:t>Accuracy</a:t>
            </a:r>
            <a:endParaRPr lang="en-US" sz="1100" dirty="0"/>
          </a:p>
        </p:txBody>
      </p:sp>
      <p:sp>
        <p:nvSpPr>
          <p:cNvPr id="10" name="Shape 7"/>
          <p:cNvSpPr/>
          <p:nvPr/>
        </p:nvSpPr>
        <p:spPr>
          <a:xfrm>
            <a:off x="2624328" y="1874520"/>
            <a:ext cx="1947672" cy="1051560"/>
          </a:xfrm>
          <a:prstGeom prst="roundRect">
            <a:avLst>
              <a:gd name="adj" fmla="val 695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1" name="Text 8"/>
          <p:cNvSpPr/>
          <p:nvPr/>
        </p:nvSpPr>
        <p:spPr>
          <a:xfrm>
            <a:off x="2715768" y="1993392"/>
            <a:ext cx="1764792"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0.663</a:t>
            </a:r>
            <a:endParaRPr lang="en-US" sz="3000" dirty="0"/>
          </a:p>
        </p:txBody>
      </p:sp>
      <p:sp>
        <p:nvSpPr>
          <p:cNvPr id="12" name="Text 9"/>
          <p:cNvSpPr/>
          <p:nvPr/>
        </p:nvSpPr>
        <p:spPr>
          <a:xfrm>
            <a:off x="2715768" y="2523744"/>
            <a:ext cx="1764792" cy="292608"/>
          </a:xfrm>
          <a:prstGeom prst="rect">
            <a:avLst/>
          </a:prstGeom>
          <a:noFill/>
          <a:ln/>
        </p:spPr>
        <p:txBody>
          <a:bodyPr wrap="square" lIns="0" tIns="0" rIns="0" bIns="0" rtlCol="0" anchor="ctr"/>
          <a:lstStyle/>
          <a:p>
            <a:pPr marL="0" indent="0" algn="ctr">
              <a:buNone/>
            </a:pPr>
            <a:r>
              <a:rPr lang="en-US" sz="1100" dirty="0">
                <a:solidFill>
                  <a:srgbClr val="9AD1D4"/>
                </a:solidFill>
                <a:latin typeface="Calibri" pitchFamily="34" charset="0"/>
                <a:ea typeface="Calibri" pitchFamily="34" charset="-122"/>
                <a:cs typeface="Calibri" pitchFamily="34" charset="-120"/>
              </a:rPr>
              <a:t>Completeness</a:t>
            </a:r>
            <a:endParaRPr lang="en-US" sz="1100" dirty="0"/>
          </a:p>
        </p:txBody>
      </p:sp>
      <p:sp>
        <p:nvSpPr>
          <p:cNvPr id="13" name="Shape 10"/>
          <p:cNvSpPr/>
          <p:nvPr/>
        </p:nvSpPr>
        <p:spPr>
          <a:xfrm>
            <a:off x="4700016" y="1874520"/>
            <a:ext cx="1947672" cy="1051560"/>
          </a:xfrm>
          <a:prstGeom prst="roundRect">
            <a:avLst>
              <a:gd name="adj" fmla="val 695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4" name="Text 11"/>
          <p:cNvSpPr/>
          <p:nvPr/>
        </p:nvSpPr>
        <p:spPr>
          <a:xfrm>
            <a:off x="4791456" y="1993392"/>
            <a:ext cx="1764792"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0.596</a:t>
            </a:r>
            <a:endParaRPr lang="en-US" sz="3000" dirty="0"/>
          </a:p>
        </p:txBody>
      </p:sp>
      <p:sp>
        <p:nvSpPr>
          <p:cNvPr id="15" name="Text 12"/>
          <p:cNvSpPr/>
          <p:nvPr/>
        </p:nvSpPr>
        <p:spPr>
          <a:xfrm>
            <a:off x="4791456" y="2523744"/>
            <a:ext cx="1764792" cy="292608"/>
          </a:xfrm>
          <a:prstGeom prst="rect">
            <a:avLst/>
          </a:prstGeom>
          <a:noFill/>
          <a:ln/>
        </p:spPr>
        <p:txBody>
          <a:bodyPr wrap="square" lIns="0" tIns="0" rIns="0" bIns="0" rtlCol="0" anchor="ctr"/>
          <a:lstStyle/>
          <a:p>
            <a:pPr marL="0" indent="0" algn="ctr">
              <a:buNone/>
            </a:pPr>
            <a:r>
              <a:rPr lang="en-US" sz="1100" dirty="0">
                <a:solidFill>
                  <a:srgbClr val="9AD1D4"/>
                </a:solidFill>
                <a:latin typeface="Calibri" pitchFamily="34" charset="0"/>
                <a:ea typeface="Calibri" pitchFamily="34" charset="-122"/>
                <a:cs typeface="Calibri" pitchFamily="34" charset="-120"/>
              </a:rPr>
              <a:t>Faithfulness</a:t>
            </a:r>
            <a:endParaRPr lang="en-US" sz="1100" dirty="0"/>
          </a:p>
        </p:txBody>
      </p:sp>
      <p:sp>
        <p:nvSpPr>
          <p:cNvPr id="16" name="Shape 13"/>
          <p:cNvSpPr/>
          <p:nvPr/>
        </p:nvSpPr>
        <p:spPr>
          <a:xfrm>
            <a:off x="6775704" y="1874520"/>
            <a:ext cx="1947672" cy="1051560"/>
          </a:xfrm>
          <a:prstGeom prst="roundRect">
            <a:avLst>
              <a:gd name="adj" fmla="val 6957"/>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17" name="Text 14"/>
          <p:cNvSpPr/>
          <p:nvPr/>
        </p:nvSpPr>
        <p:spPr>
          <a:xfrm>
            <a:off x="6867144" y="1993392"/>
            <a:ext cx="1764792" cy="502920"/>
          </a:xfrm>
          <a:prstGeom prst="rect">
            <a:avLst/>
          </a:prstGeom>
          <a:noFill/>
          <a:ln/>
        </p:spPr>
        <p:txBody>
          <a:bodyPr wrap="square" lIns="0" tIns="0" rIns="0" bIns="0" rtlCol="0" anchor="ctr"/>
          <a:lstStyle/>
          <a:p>
            <a:pPr marL="0" indent="0" algn="ctr">
              <a:buNone/>
            </a:pPr>
            <a:r>
              <a:rPr lang="en-US" sz="3000" b="1" dirty="0">
                <a:solidFill>
                  <a:srgbClr val="0A2E36"/>
                </a:solidFill>
                <a:latin typeface="Cambria" pitchFamily="34" charset="0"/>
                <a:ea typeface="Cambria" pitchFamily="34" charset="-122"/>
                <a:cs typeface="Cambria" pitchFamily="34" charset="-120"/>
              </a:rPr>
              <a:t>0.700</a:t>
            </a:r>
            <a:endParaRPr lang="en-US" sz="3000" dirty="0"/>
          </a:p>
        </p:txBody>
      </p:sp>
      <p:sp>
        <p:nvSpPr>
          <p:cNvPr id="18" name="Text 15"/>
          <p:cNvSpPr/>
          <p:nvPr/>
        </p:nvSpPr>
        <p:spPr>
          <a:xfrm>
            <a:off x="6867144" y="2523744"/>
            <a:ext cx="1764792" cy="292608"/>
          </a:xfrm>
          <a:prstGeom prst="rect">
            <a:avLst/>
          </a:prstGeom>
          <a:noFill/>
          <a:ln/>
        </p:spPr>
        <p:txBody>
          <a:bodyPr wrap="square" lIns="0" tIns="0" rIns="0" bIns="0" rtlCol="0" anchor="ctr"/>
          <a:lstStyle/>
          <a:p>
            <a:pPr marL="0" indent="0" algn="ctr">
              <a:buNone/>
            </a:pPr>
            <a:r>
              <a:rPr lang="en-US" sz="1100" b="1" dirty="0">
                <a:solidFill>
                  <a:srgbClr val="0A2E36"/>
                </a:solidFill>
                <a:latin typeface="Calibri" pitchFamily="34" charset="0"/>
                <a:ea typeface="Calibri" pitchFamily="34" charset="-122"/>
                <a:cs typeface="Calibri" pitchFamily="34" charset="-120"/>
              </a:rPr>
              <a:t>Overall ACF</a:t>
            </a:r>
            <a:endParaRPr lang="en-US" sz="1100" dirty="0"/>
          </a:p>
        </p:txBody>
      </p:sp>
      <p:sp>
        <p:nvSpPr>
          <p:cNvPr id="19" name="Text 16"/>
          <p:cNvSpPr/>
          <p:nvPr/>
        </p:nvSpPr>
        <p:spPr>
          <a:xfrm>
            <a:off x="548640" y="3154680"/>
            <a:ext cx="8046720" cy="1417320"/>
          </a:xfrm>
          <a:prstGeom prst="rect">
            <a:avLst/>
          </a:prstGeom>
          <a:noFill/>
          <a:ln/>
        </p:spPr>
        <p:txBody>
          <a:bodyPr wrap="square" lIns="0" tIns="0" rIns="0" bIns="0" rtlCol="0" anchor="ctr"/>
          <a:lstStyle/>
          <a:p>
            <a:pPr marL="0" indent="0">
              <a:lnSpc>
                <a:spcPct val="100000"/>
              </a:lnSpc>
              <a:spcAft>
                <a:spcPts val="800"/>
              </a:spcAft>
              <a:buNone/>
            </a:pPr>
            <a:r>
              <a:rPr lang="en-US" sz="1250" b="1" dirty="0">
                <a:solidFill>
                  <a:srgbClr val="E9B44C"/>
                </a:solidFill>
                <a:latin typeface="Calibri" pitchFamily="34" charset="0"/>
                <a:ea typeface="Calibri" pitchFamily="34" charset="-122"/>
                <a:cs typeface="Calibri" pitchFamily="34" charset="-120"/>
              </a:rPr>
              <a:t>✓  </a:t>
            </a:r>
            <a:r>
              <a:rPr lang="en-US" sz="1250" dirty="0">
                <a:solidFill>
                  <a:srgbClr val="F1F7F7"/>
                </a:solidFill>
                <a:latin typeface="Calibri" pitchFamily="34" charset="0"/>
                <a:ea typeface="Calibri" pitchFamily="34" charset="-122"/>
                <a:cs typeface="Calibri" pitchFamily="34" charset="-120"/>
              </a:rPr>
              <a:t>Strong performance despite subjective ground-truth and open-ended, technical questions</a:t>
            </a:r>
            <a:endParaRPr lang="en-US" sz="1250" dirty="0"/>
          </a:p>
          <a:p>
            <a:pPr marL="0" indent="0">
              <a:lnSpc>
                <a:spcPct val="100000"/>
              </a:lnSpc>
              <a:spcAft>
                <a:spcPts val="800"/>
              </a:spcAft>
              <a:buNone/>
            </a:pPr>
            <a:r>
              <a:rPr lang="en-US" sz="1250" b="1" dirty="0">
                <a:solidFill>
                  <a:srgbClr val="E9B44C"/>
                </a:solidFill>
                <a:latin typeface="Calibri" pitchFamily="34" charset="0"/>
                <a:ea typeface="Calibri" pitchFamily="34" charset="-122"/>
                <a:cs typeface="Calibri" pitchFamily="34" charset="-120"/>
              </a:rPr>
              <a:t>✓  </a:t>
            </a:r>
            <a:r>
              <a:rPr lang="en-US" sz="1250" dirty="0">
                <a:solidFill>
                  <a:srgbClr val="F1F7F7"/>
                </a:solidFill>
                <a:latin typeface="Calibri" pitchFamily="34" charset="0"/>
                <a:ea typeface="Calibri" pitchFamily="34" charset="-122"/>
                <a:cs typeface="Calibri" pitchFamily="34" charset="-120"/>
              </a:rPr>
              <a:t>Distinct model strengths → match the model to the audience and communication need</a:t>
            </a:r>
            <a:endParaRPr lang="en-US" sz="1250" dirty="0"/>
          </a:p>
          <a:p>
            <a:pPr marL="0" indent="0">
              <a:lnSpc>
                <a:spcPct val="100000"/>
              </a:lnSpc>
              <a:spcAft>
                <a:spcPts val="800"/>
              </a:spcAft>
              <a:buNone/>
            </a:pPr>
            <a:r>
              <a:rPr lang="en-US" sz="1250" b="1" dirty="0">
                <a:solidFill>
                  <a:srgbClr val="E9B44C"/>
                </a:solidFill>
                <a:latin typeface="Calibri" pitchFamily="34" charset="0"/>
                <a:ea typeface="Calibri" pitchFamily="34" charset="-122"/>
                <a:cs typeface="Calibri" pitchFamily="34" charset="-120"/>
              </a:rPr>
              <a:t>✓  </a:t>
            </a:r>
            <a:r>
              <a:rPr lang="en-US" sz="1250" dirty="0">
                <a:solidFill>
                  <a:srgbClr val="F1F7F7"/>
                </a:solidFill>
                <a:latin typeface="Calibri" pitchFamily="34" charset="0"/>
                <a:ea typeface="Calibri" pitchFamily="34" charset="-122"/>
                <a:cs typeface="Calibri" pitchFamily="34" charset="-120"/>
              </a:rPr>
              <a:t>ACF also flags vague XAI-QB questions and incoherent AI-system design</a:t>
            </a:r>
            <a:endParaRPr lang="en-US" sz="1250" dirty="0"/>
          </a:p>
        </p:txBody>
      </p:sp>
      <p:sp>
        <p:nvSpPr>
          <p:cNvPr id="20" name="Text 1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6949440" y="-1554480"/>
            <a:ext cx="4023360" cy="4023360"/>
          </a:xfrm>
          <a:prstGeom prst="ellipse">
            <a:avLst/>
          </a:prstGeom>
          <a:solidFill>
            <a:srgbClr val="127475">
              <a:alpha val="22000"/>
            </a:srgbClr>
          </a:solidFill>
          <a:ln/>
        </p:spPr>
        <p:txBody>
          <a:bodyPr/>
          <a:lstStyle/>
          <a:p>
            <a:endParaRPr lang="en-DE"/>
          </a:p>
        </p:txBody>
      </p:sp>
      <p:sp>
        <p:nvSpPr>
          <p:cNvPr id="3" name="Shape 1"/>
          <p:cNvSpPr/>
          <p:nvPr/>
        </p:nvSpPr>
        <p:spPr>
          <a:xfrm>
            <a:off x="-1280160" y="3291840"/>
            <a:ext cx="3291840" cy="3291840"/>
          </a:xfrm>
          <a:prstGeom prst="ellipse">
            <a:avLst/>
          </a:prstGeom>
          <a:solidFill>
            <a:srgbClr val="3E9D9B">
              <a:alpha val="18000"/>
            </a:srgbClr>
          </a:solidFill>
          <a:ln/>
        </p:spPr>
        <p:txBody>
          <a:bodyPr/>
          <a:lstStyle/>
          <a:p>
            <a:endParaRPr lang="en-DE"/>
          </a:p>
        </p:txBody>
      </p:sp>
      <p:sp>
        <p:nvSpPr>
          <p:cNvPr id="4" name="Shape 2"/>
          <p:cNvSpPr/>
          <p:nvPr/>
        </p:nvSpPr>
        <p:spPr>
          <a:xfrm>
            <a:off x="3968496" y="1097280"/>
            <a:ext cx="1188720" cy="1188720"/>
          </a:xfrm>
          <a:prstGeom prst="ellipse">
            <a:avLst/>
          </a:prstGeom>
          <a:solidFill>
            <a:srgbClr val="127475"/>
          </a:solidFill>
          <a:ln/>
        </p:spPr>
        <p:txBody>
          <a:bodyPr/>
          <a:lstStyle/>
          <a:p>
            <a:endParaRPr lang="en-DE"/>
          </a:p>
        </p:txBody>
      </p:sp>
      <p:pic>
        <p:nvPicPr>
          <p:cNvPr id="5" name="Image 0" descr="preencoded.png"/>
          <p:cNvPicPr>
            <a:picLocks noChangeAspect="1"/>
          </p:cNvPicPr>
          <p:nvPr/>
        </p:nvPicPr>
        <p:blipFill>
          <a:blip r:embed="rId3"/>
          <a:stretch>
            <a:fillRect/>
          </a:stretch>
        </p:blipFill>
        <p:spPr>
          <a:xfrm>
            <a:off x="4277563" y="1406347"/>
            <a:ext cx="570586" cy="570586"/>
          </a:xfrm>
          <a:prstGeom prst="rect">
            <a:avLst/>
          </a:prstGeom>
        </p:spPr>
      </p:pic>
      <p:sp>
        <p:nvSpPr>
          <p:cNvPr id="6" name="Text 3"/>
          <p:cNvSpPr/>
          <p:nvPr/>
        </p:nvSpPr>
        <p:spPr>
          <a:xfrm>
            <a:off x="914400" y="2468880"/>
            <a:ext cx="7315200" cy="73152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914400" y="3246120"/>
            <a:ext cx="7315200" cy="365760"/>
          </a:xfrm>
          <a:prstGeom prst="rect">
            <a:avLst/>
          </a:prstGeom>
          <a:noFill/>
          <a:ln/>
        </p:spPr>
        <p:txBody>
          <a:bodyPr wrap="square" lIns="0" tIns="0" rIns="0" bIns="0" rtlCol="0" anchor="ctr"/>
          <a:lstStyle/>
          <a:p>
            <a:pPr marL="0" indent="0" algn="ctr">
              <a:buNone/>
            </a:pPr>
            <a:r>
              <a:rPr lang="en-US" sz="1700" i="1" dirty="0">
                <a:solidFill>
                  <a:srgbClr val="9AD1D4"/>
                </a:solidFill>
                <a:latin typeface="Calibri" pitchFamily="34" charset="0"/>
                <a:ea typeface="Calibri" pitchFamily="34" charset="-122"/>
                <a:cs typeface="Calibri" pitchFamily="34" charset="-120"/>
              </a:rPr>
              <a:t>Questions &amp; discussion</a:t>
            </a:r>
            <a:endParaRPr lang="en-US" sz="1700" dirty="0"/>
          </a:p>
        </p:txBody>
      </p:sp>
      <p:sp>
        <p:nvSpPr>
          <p:cNvPr id="8" name="Text 5"/>
          <p:cNvSpPr/>
          <p:nvPr/>
        </p:nvSpPr>
        <p:spPr>
          <a:xfrm>
            <a:off x="914400" y="3886200"/>
            <a:ext cx="7315200" cy="310896"/>
          </a:xfrm>
          <a:prstGeom prst="rect">
            <a:avLst/>
          </a:prstGeom>
          <a:noFill/>
          <a:ln/>
        </p:spPr>
        <p:txBody>
          <a:bodyPr wrap="square" lIns="0" tIns="0" rIns="0" bIns="0" rtlCol="0" anchor="ctr"/>
          <a:lstStyle/>
          <a:p>
            <a:pPr marL="0" indent="0" algn="ctr">
              <a:buNone/>
            </a:pPr>
            <a:r>
              <a:rPr lang="en-US" sz="1250" b="1" dirty="0">
                <a:solidFill>
                  <a:srgbClr val="E9B44C"/>
                </a:solidFill>
                <a:latin typeface="Calibri" pitchFamily="34" charset="0"/>
                <a:ea typeface="Calibri" pitchFamily="34" charset="-122"/>
                <a:cs typeface="Calibri" pitchFamily="34" charset="-120"/>
              </a:rPr>
              <a:t>Henry El-Jawhari</a:t>
            </a:r>
            <a:r>
              <a:rPr lang="en-US" sz="1250" dirty="0">
                <a:solidFill>
                  <a:srgbClr val="8AA0A3"/>
                </a:solidFill>
                <a:latin typeface="Calibri" pitchFamily="34" charset="0"/>
                <a:ea typeface="Calibri" pitchFamily="34" charset="-122"/>
                <a:cs typeface="Calibri" pitchFamily="34" charset="-120"/>
              </a:rPr>
              <a:t>   ·   </a:t>
            </a:r>
            <a:r>
              <a:rPr lang="en-US" sz="1250" dirty="0" err="1">
                <a:solidFill>
                  <a:srgbClr val="8AA0A3"/>
                </a:solidFill>
                <a:latin typeface="Calibri" pitchFamily="34" charset="0"/>
                <a:ea typeface="Calibri" pitchFamily="34" charset="-122"/>
                <a:cs typeface="Calibri" pitchFamily="34" charset="-120"/>
              </a:rPr>
              <a:t>henryeljawhari@gmail.com</a:t>
            </a:r>
            <a:endParaRPr lang="en-US" sz="1250" dirty="0"/>
          </a:p>
        </p:txBody>
      </p:sp>
      <p:sp>
        <p:nvSpPr>
          <p:cNvPr id="9" name="Text 6"/>
          <p:cNvSpPr/>
          <p:nvPr/>
        </p:nvSpPr>
        <p:spPr>
          <a:xfrm>
            <a:off x="914400" y="4206240"/>
            <a:ext cx="7315200" cy="274320"/>
          </a:xfrm>
          <a:prstGeom prst="rect">
            <a:avLst/>
          </a:prstGeom>
          <a:noFill/>
          <a:ln/>
        </p:spPr>
        <p:txBody>
          <a:bodyPr wrap="square" lIns="0" tIns="0" rIns="0" bIns="0" rtlCol="0" anchor="ctr"/>
          <a:lstStyle/>
          <a:p>
            <a:pPr marL="0" indent="0" algn="ctr">
              <a:buNone/>
            </a:pPr>
            <a:r>
              <a:rPr lang="en-US" sz="1100" dirty="0">
                <a:solidFill>
                  <a:srgbClr val="8AA0A3"/>
                </a:solidFill>
                <a:latin typeface="Calibri" pitchFamily="34" charset="0"/>
                <a:ea typeface="Calibri" pitchFamily="34" charset="-122"/>
                <a:cs typeface="Calibri" pitchFamily="34" charset="-120"/>
              </a:rPr>
              <a:t>Freie Universität Berlin  ·  ZKI-PH, Robert Koch Institute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full results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Component metrics &amp; verbosity across the three models</a:t>
            </a:r>
            <a:endParaRPr lang="en-US" sz="1250" dirty="0"/>
          </a:p>
        </p:txBody>
      </p:sp>
      <p:sp>
        <p:nvSpPr>
          <p:cNvPr id="6" name="Text 3"/>
          <p:cNvSpPr/>
          <p:nvPr/>
        </p:nvSpPr>
        <p:spPr>
          <a:xfrm>
            <a:off x="457200" y="1325880"/>
            <a:ext cx="8229600" cy="274320"/>
          </a:xfrm>
          <a:prstGeom prst="rect">
            <a:avLst/>
          </a:prstGeom>
          <a:noFill/>
          <a:ln/>
        </p:spPr>
        <p:txBody>
          <a:bodyPr wrap="square" lIns="0" tIns="0" rIns="0" bIns="0" rtlCol="0" anchor="ctr"/>
          <a:lstStyle/>
          <a:p>
            <a:pPr marL="0" indent="0">
              <a:buNone/>
            </a:pPr>
            <a:r>
              <a:rPr lang="en-US" sz="1200" b="1" dirty="0">
                <a:solidFill>
                  <a:srgbClr val="0E5E5C"/>
                </a:solidFill>
                <a:latin typeface="Calibri" pitchFamily="34" charset="0"/>
                <a:ea typeface="Calibri" pitchFamily="34" charset="-122"/>
                <a:cs typeface="Calibri" pitchFamily="34" charset="-120"/>
              </a:rPr>
              <a:t>ACF components (selected run per model)</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1536192"/>
        </p:xfrm>
        <a:graphic>
          <a:graphicData uri="http://schemas.openxmlformats.org/drawingml/2006/table">
            <a:tbl>
              <a:tblPr/>
              <a:tblGrid>
                <a:gridCol w="2011680">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1243584">
                  <a:extLst>
                    <a:ext uri="{9D8B030D-6E8A-4147-A177-3AD203B41FA5}">
                      <a16:colId xmlns:a16="http://schemas.microsoft.com/office/drawing/2014/main" val="20002"/>
                    </a:ext>
                  </a:extLst>
                </a:gridCol>
                <a:gridCol w="1243584">
                  <a:extLst>
                    <a:ext uri="{9D8B030D-6E8A-4147-A177-3AD203B41FA5}">
                      <a16:colId xmlns:a16="http://schemas.microsoft.com/office/drawing/2014/main" val="20003"/>
                    </a:ext>
                  </a:extLst>
                </a:gridCol>
                <a:gridCol w="1243584">
                  <a:extLst>
                    <a:ext uri="{9D8B030D-6E8A-4147-A177-3AD203B41FA5}">
                      <a16:colId xmlns:a16="http://schemas.microsoft.com/office/drawing/2014/main" val="20004"/>
                    </a:ext>
                  </a:extLst>
                </a:gridCol>
                <a:gridCol w="1243584">
                  <a:extLst>
                    <a:ext uri="{9D8B030D-6E8A-4147-A177-3AD203B41FA5}">
                      <a16:colId xmlns:a16="http://schemas.microsoft.com/office/drawing/2014/main" val="20005"/>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ROUGE-L</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BERTScore</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SBERT</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ACF</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127475"/>
                          </a:solidFill>
                          <a:latin typeface="Calibri" pitchFamily="34" charset="0"/>
                          <a:ea typeface="Calibri" pitchFamily="34" charset="-122"/>
                          <a:cs typeface="Calibri" pitchFamily="34" charset="-120"/>
                        </a:rPr>
                        <a:t>ChatGPT 5.2</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0.889</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0.458</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0.862</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dirty="0">
                          <a:solidFill>
                            <a:srgbClr val="183036"/>
                          </a:solidFill>
                          <a:latin typeface="Calibri" pitchFamily="34" charset="0"/>
                          <a:ea typeface="Calibri" pitchFamily="34" charset="-122"/>
                          <a:cs typeface="Calibri" pitchFamily="34" charset="-120"/>
                        </a:rPr>
                        <a:t>0.611</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dirty="0">
                          <a:solidFill>
                            <a:srgbClr val="183036"/>
                          </a:solidFill>
                          <a:latin typeface="Calibri" pitchFamily="34" charset="0"/>
                          <a:ea typeface="Calibri" pitchFamily="34" charset="-122"/>
                          <a:cs typeface="Calibri" pitchFamily="34" charset="-120"/>
                        </a:rPr>
                        <a:t>0.720</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E07A5F"/>
                          </a:solidFill>
                          <a:latin typeface="Calibri" pitchFamily="34" charset="0"/>
                          <a:ea typeface="Calibri" pitchFamily="34" charset="-122"/>
                          <a:cs typeface="Calibri" pitchFamily="34" charset="-120"/>
                        </a:rPr>
                        <a:t>Claude Opus 4.6</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0.833</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dirty="0">
                          <a:solidFill>
                            <a:srgbClr val="183036"/>
                          </a:solidFill>
                          <a:latin typeface="Calibri" pitchFamily="34" charset="0"/>
                          <a:ea typeface="Calibri" pitchFamily="34" charset="-122"/>
                          <a:cs typeface="Calibri" pitchFamily="34" charset="-120"/>
                        </a:rPr>
                        <a:t>0.530</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0.857</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0.593</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0.706</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3D5A80"/>
                          </a:solidFill>
                          <a:latin typeface="Calibri" pitchFamily="34" charset="0"/>
                          <a:ea typeface="Calibri" pitchFamily="34" charset="-122"/>
                          <a:cs typeface="Calibri" pitchFamily="34" charset="-120"/>
                        </a:rPr>
                        <a:t>Gemini 3 Pro</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0.806</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0.407</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dirty="0">
                          <a:solidFill>
                            <a:srgbClr val="183036"/>
                          </a:solidFill>
                          <a:latin typeface="Calibri" pitchFamily="34" charset="0"/>
                          <a:ea typeface="Calibri" pitchFamily="34" charset="-122"/>
                          <a:cs typeface="Calibri" pitchFamily="34" charset="-120"/>
                        </a:rPr>
                        <a:t>0.868</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0.586</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0.676</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3"/>
                  </a:ext>
                </a:extLst>
              </a:tr>
            </a:tbl>
          </a:graphicData>
        </a:graphic>
      </p:graphicFrame>
      <p:sp>
        <p:nvSpPr>
          <p:cNvPr id="8" name="Text 4"/>
          <p:cNvSpPr/>
          <p:nvPr/>
        </p:nvSpPr>
        <p:spPr>
          <a:xfrm>
            <a:off x="457200" y="3246120"/>
            <a:ext cx="8229600" cy="274320"/>
          </a:xfrm>
          <a:prstGeom prst="rect">
            <a:avLst/>
          </a:prstGeom>
          <a:noFill/>
          <a:ln/>
        </p:spPr>
        <p:txBody>
          <a:bodyPr wrap="square" lIns="0" tIns="0" rIns="0" bIns="0" rtlCol="0" anchor="ctr"/>
          <a:lstStyle/>
          <a:p>
            <a:pPr marL="0" indent="0">
              <a:buNone/>
            </a:pPr>
            <a:r>
              <a:rPr lang="en-US" sz="1200" b="1" dirty="0">
                <a:solidFill>
                  <a:srgbClr val="0E5E5C"/>
                </a:solidFill>
                <a:latin typeface="Calibri" pitchFamily="34" charset="0"/>
                <a:ea typeface="Calibri" pitchFamily="34" charset="-122"/>
                <a:cs typeface="Calibri" pitchFamily="34" charset="-120"/>
              </a:rPr>
              <a:t>Verbosity (average per answer)</a:t>
            </a:r>
            <a:endParaRPr lang="en-US" sz="12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57200" y="3566160"/>
          <a:ext cx="8229600" cy="1389888"/>
        </p:xfrm>
        <a:graphic>
          <a:graphicData uri="http://schemas.openxmlformats.org/drawingml/2006/table">
            <a:tbl>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4747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ChatGPT 5.2</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Claude Opus 4.6</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Gemini 3 Pro</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Human</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extLst>
                  <a:ext uri="{0D108BD9-81ED-4DB2-BD59-A6C34878D82A}">
                    <a16:rowId xmlns:a16="http://schemas.microsoft.com/office/drawing/2014/main" val="10000"/>
                  </a:ext>
                </a:extLst>
              </a:tr>
              <a:tr h="347472">
                <a:tc>
                  <a:txBody>
                    <a:bodyPr/>
                    <a:lstStyle/>
                    <a:p>
                      <a:pPr marL="0" indent="0">
                        <a:buNone/>
                      </a:pPr>
                      <a:r>
                        <a:rPr lang="en-US" sz="1200" b="1" dirty="0">
                          <a:solidFill>
                            <a:srgbClr val="183036"/>
                          </a:solidFill>
                          <a:latin typeface="Calibri" pitchFamily="34" charset="0"/>
                          <a:ea typeface="Calibri" pitchFamily="34" charset="-122"/>
                          <a:cs typeface="Calibri" pitchFamily="34" charset="-120"/>
                        </a:rPr>
                        <a:t>Word count</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63.7</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dirty="0">
                          <a:solidFill>
                            <a:srgbClr val="183036"/>
                          </a:solidFill>
                          <a:latin typeface="Calibri" pitchFamily="34" charset="0"/>
                          <a:ea typeface="Calibri" pitchFamily="34" charset="-122"/>
                          <a:cs typeface="Calibri" pitchFamily="34" charset="-120"/>
                        </a:rPr>
                        <a:t>91.2</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37.2</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60.8</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1"/>
                  </a:ext>
                </a:extLst>
              </a:tr>
              <a:tr h="347472">
                <a:tc>
                  <a:txBody>
                    <a:bodyPr/>
                    <a:lstStyle/>
                    <a:p>
                      <a:pPr marL="0" indent="0">
                        <a:buNone/>
                      </a:pPr>
                      <a:r>
                        <a:rPr lang="en-US" sz="1200" b="1" dirty="0">
                          <a:solidFill>
                            <a:srgbClr val="183036"/>
                          </a:solidFill>
                          <a:latin typeface="Calibri" pitchFamily="34" charset="0"/>
                          <a:ea typeface="Calibri" pitchFamily="34" charset="-122"/>
                          <a:cs typeface="Calibri" pitchFamily="34" charset="-120"/>
                        </a:rPr>
                        <a:t>Words / sentence</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22.0</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dirty="0">
                          <a:solidFill>
                            <a:srgbClr val="183036"/>
                          </a:solidFill>
                          <a:latin typeface="Calibri" pitchFamily="34" charset="0"/>
                          <a:ea typeface="Calibri" pitchFamily="34" charset="-122"/>
                          <a:cs typeface="Calibri" pitchFamily="34" charset="-120"/>
                        </a:rPr>
                        <a:t>29.3</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19.6</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21.4</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2"/>
                  </a:ext>
                </a:extLst>
              </a:tr>
              <a:tr h="347472">
                <a:tc>
                  <a:txBody>
                    <a:bodyPr/>
                    <a:lstStyle/>
                    <a:p>
                      <a:pPr marL="0" indent="0">
                        <a:buNone/>
                      </a:pPr>
                      <a:r>
                        <a:rPr lang="en-US" sz="1200" b="1" dirty="0">
                          <a:solidFill>
                            <a:srgbClr val="183036"/>
                          </a:solidFill>
                          <a:latin typeface="Calibri" pitchFamily="34" charset="0"/>
                          <a:ea typeface="Calibri" pitchFamily="34" charset="-122"/>
                          <a:cs typeface="Calibri" pitchFamily="34" charset="-120"/>
                        </a:rPr>
                        <a:t>Difficult words</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dirty="0">
                          <a:solidFill>
                            <a:srgbClr val="183036"/>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dirty="0">
                          <a:solidFill>
                            <a:srgbClr val="183036"/>
                          </a:solidFill>
                          <a:latin typeface="Calibri" pitchFamily="34" charset="0"/>
                          <a:ea typeface="Calibri" pitchFamily="34" charset="-122"/>
                          <a:cs typeface="Calibri" pitchFamily="34" charset="-120"/>
                        </a:rPr>
                        <a:t>13.2</a:t>
                      </a:r>
                      <a:endParaRPr lang="en-US" sz="1200" dirty="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3"/>
                  </a:ext>
                </a:extLst>
              </a:tr>
            </a:tbl>
          </a:graphicData>
        </a:graphic>
      </p:graphicFrame>
      <p:sp>
        <p:nvSpPr>
          <p:cNvPr id="10" name="Text 5"/>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readability metrics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Four grade-level formulas, structural + lexical complexity</a:t>
            </a:r>
            <a:endParaRPr lang="en-US" sz="1250" dirty="0"/>
          </a:p>
        </p:txBody>
      </p:sp>
      <p:sp>
        <p:nvSpPr>
          <p:cNvPr id="6" name="Shape 3"/>
          <p:cNvSpPr/>
          <p:nvPr/>
        </p:nvSpPr>
        <p:spPr>
          <a:xfrm>
            <a:off x="45720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Text 4"/>
          <p:cNvSpPr/>
          <p:nvPr/>
        </p:nvSpPr>
        <p:spPr>
          <a:xfrm>
            <a:off x="676656" y="1572768"/>
            <a:ext cx="3584448" cy="365760"/>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Flesch–Kincaid Grade</a:t>
            </a:r>
            <a:endParaRPr lang="en-US" sz="1450" dirty="0"/>
          </a:p>
        </p:txBody>
      </p:sp>
      <p:sp>
        <p:nvSpPr>
          <p:cNvPr id="8" name="Text 5"/>
          <p:cNvSpPr/>
          <p:nvPr/>
        </p:nvSpPr>
        <p:spPr>
          <a:xfrm>
            <a:off x="676656" y="2011680"/>
            <a:ext cx="3584448" cy="548640"/>
          </a:xfrm>
          <a:prstGeom prst="rect">
            <a:avLst/>
          </a:prstGeom>
          <a:noFill/>
          <a:ln/>
        </p:spPr>
        <p:txBody>
          <a:bodyPr wrap="square" lIns="0" tIns="0" rIns="0" bIns="0" rtlCol="0" anchor="ctr"/>
          <a:lstStyle/>
          <a:p>
            <a:pPr marL="0" indent="0">
              <a:buNone/>
            </a:pPr>
            <a:r>
              <a:rPr lang="en-US" sz="1150" dirty="0">
                <a:solidFill>
                  <a:srgbClr val="55686B"/>
                </a:solidFill>
                <a:latin typeface="Calibri" pitchFamily="34" charset="0"/>
                <a:ea typeface="Calibri" pitchFamily="34" charset="-122"/>
                <a:cs typeface="Calibri" pitchFamily="34" charset="-120"/>
              </a:rPr>
              <a:t>Weights sentence length and syllables per word.</a:t>
            </a:r>
            <a:endParaRPr lang="en-US" sz="1150" dirty="0"/>
          </a:p>
        </p:txBody>
      </p:sp>
      <p:sp>
        <p:nvSpPr>
          <p:cNvPr id="9" name="Shape 6"/>
          <p:cNvSpPr/>
          <p:nvPr/>
        </p:nvSpPr>
        <p:spPr>
          <a:xfrm>
            <a:off x="466344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0" name="Text 7"/>
          <p:cNvSpPr/>
          <p:nvPr/>
        </p:nvSpPr>
        <p:spPr>
          <a:xfrm>
            <a:off x="4882896" y="1572768"/>
            <a:ext cx="3584448" cy="365760"/>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SMOG Index</a:t>
            </a:r>
            <a:endParaRPr lang="en-US" sz="1450" dirty="0"/>
          </a:p>
        </p:txBody>
      </p:sp>
      <p:sp>
        <p:nvSpPr>
          <p:cNvPr id="11" name="Text 8"/>
          <p:cNvSpPr/>
          <p:nvPr/>
        </p:nvSpPr>
        <p:spPr>
          <a:xfrm>
            <a:off x="4882896" y="2011680"/>
            <a:ext cx="3584448" cy="548640"/>
          </a:xfrm>
          <a:prstGeom prst="rect">
            <a:avLst/>
          </a:prstGeom>
          <a:noFill/>
          <a:ln/>
        </p:spPr>
        <p:txBody>
          <a:bodyPr wrap="square" lIns="0" tIns="0" rIns="0" bIns="0" rtlCol="0" anchor="ctr"/>
          <a:lstStyle/>
          <a:p>
            <a:pPr marL="0" indent="0">
              <a:buNone/>
            </a:pPr>
            <a:r>
              <a:rPr lang="en-US" sz="1150" dirty="0">
                <a:solidFill>
                  <a:srgbClr val="55686B"/>
                </a:solidFill>
                <a:latin typeface="Calibri" pitchFamily="34" charset="0"/>
                <a:ea typeface="Calibri" pitchFamily="34" charset="-122"/>
                <a:cs typeface="Calibri" pitchFamily="34" charset="-120"/>
              </a:rPr>
              <a:t>Based on polysyllabic words; common for health literacy.</a:t>
            </a:r>
            <a:endParaRPr lang="en-US" sz="1150" dirty="0"/>
          </a:p>
        </p:txBody>
      </p:sp>
      <p:sp>
        <p:nvSpPr>
          <p:cNvPr id="12" name="Shape 9"/>
          <p:cNvSpPr/>
          <p:nvPr/>
        </p:nvSpPr>
        <p:spPr>
          <a:xfrm>
            <a:off x="45720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Text 10"/>
          <p:cNvSpPr/>
          <p:nvPr/>
        </p:nvSpPr>
        <p:spPr>
          <a:xfrm>
            <a:off x="676656" y="3108960"/>
            <a:ext cx="3584448" cy="365760"/>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Coleman–Liau Index</a:t>
            </a:r>
            <a:endParaRPr lang="en-US" sz="1450" dirty="0"/>
          </a:p>
        </p:txBody>
      </p:sp>
      <p:sp>
        <p:nvSpPr>
          <p:cNvPr id="14" name="Text 11"/>
          <p:cNvSpPr/>
          <p:nvPr/>
        </p:nvSpPr>
        <p:spPr>
          <a:xfrm>
            <a:off x="676656" y="3547872"/>
            <a:ext cx="3584448" cy="548640"/>
          </a:xfrm>
          <a:prstGeom prst="rect">
            <a:avLst/>
          </a:prstGeom>
          <a:noFill/>
          <a:ln/>
        </p:spPr>
        <p:txBody>
          <a:bodyPr wrap="square" lIns="0" tIns="0" rIns="0" bIns="0" rtlCol="0" anchor="ctr"/>
          <a:lstStyle/>
          <a:p>
            <a:pPr marL="0" indent="0">
              <a:buNone/>
            </a:pPr>
            <a:r>
              <a:rPr lang="en-US" sz="1150" dirty="0">
                <a:solidFill>
                  <a:srgbClr val="55686B"/>
                </a:solidFill>
                <a:latin typeface="Calibri" pitchFamily="34" charset="0"/>
                <a:ea typeface="Calibri" pitchFamily="34" charset="-122"/>
                <a:cs typeface="Calibri" pitchFamily="34" charset="-120"/>
              </a:rPr>
              <a:t>Uses characters, not syllables — easy to compute.</a:t>
            </a:r>
            <a:endParaRPr lang="en-US" sz="1150" dirty="0"/>
          </a:p>
        </p:txBody>
      </p:sp>
      <p:sp>
        <p:nvSpPr>
          <p:cNvPr id="15" name="Shape 12"/>
          <p:cNvSpPr/>
          <p:nvPr/>
        </p:nvSpPr>
        <p:spPr>
          <a:xfrm>
            <a:off x="466344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6" name="Text 13"/>
          <p:cNvSpPr/>
          <p:nvPr/>
        </p:nvSpPr>
        <p:spPr>
          <a:xfrm>
            <a:off x="4882896" y="3108960"/>
            <a:ext cx="3584448" cy="365760"/>
          </a:xfrm>
          <a:prstGeom prst="rect">
            <a:avLst/>
          </a:prstGeom>
          <a:noFill/>
          <a:ln/>
        </p:spPr>
        <p:txBody>
          <a:bodyPr wrap="square" lIns="0" tIns="0" rIns="0" bIns="0" rtlCol="0" anchor="ctr"/>
          <a:lstStyle/>
          <a:p>
            <a:pPr marL="0" indent="0">
              <a:buNone/>
            </a:pPr>
            <a:r>
              <a:rPr lang="en-US" sz="1450" b="1" dirty="0">
                <a:solidFill>
                  <a:srgbClr val="0A2E36"/>
                </a:solidFill>
                <a:latin typeface="Cambria" pitchFamily="34" charset="0"/>
                <a:ea typeface="Cambria" pitchFamily="34" charset="-122"/>
                <a:cs typeface="Cambria" pitchFamily="34" charset="-120"/>
              </a:rPr>
              <a:t>Dale–Chall Score</a:t>
            </a:r>
            <a:endParaRPr lang="en-US" sz="1450" dirty="0"/>
          </a:p>
        </p:txBody>
      </p:sp>
      <p:sp>
        <p:nvSpPr>
          <p:cNvPr id="17" name="Text 14"/>
          <p:cNvSpPr/>
          <p:nvPr/>
        </p:nvSpPr>
        <p:spPr>
          <a:xfrm>
            <a:off x="4882896" y="3547872"/>
            <a:ext cx="3584448" cy="548640"/>
          </a:xfrm>
          <a:prstGeom prst="rect">
            <a:avLst/>
          </a:prstGeom>
          <a:noFill/>
          <a:ln/>
        </p:spPr>
        <p:txBody>
          <a:bodyPr wrap="square" lIns="0" tIns="0" rIns="0" bIns="0" rtlCol="0" anchor="ctr"/>
          <a:lstStyle/>
          <a:p>
            <a:pPr marL="0" indent="0">
              <a:buNone/>
            </a:pPr>
            <a:r>
              <a:rPr lang="en-US" sz="1150" dirty="0">
                <a:solidFill>
                  <a:srgbClr val="55686B"/>
                </a:solidFill>
                <a:latin typeface="Calibri" pitchFamily="34" charset="0"/>
                <a:ea typeface="Calibri" pitchFamily="34" charset="-122"/>
                <a:cs typeface="Calibri" pitchFamily="34" charset="-120"/>
              </a:rPr>
              <a:t>Penalises words outside a list of 3,000 familiar words.</a:t>
            </a:r>
            <a:endParaRPr lang="en-US" sz="1150" dirty="0"/>
          </a:p>
        </p:txBody>
      </p:sp>
      <p:sp>
        <p:nvSpPr>
          <p:cNvPr id="18" name="Text 15"/>
          <p:cNvSpPr/>
          <p:nvPr/>
        </p:nvSpPr>
        <p:spPr>
          <a:xfrm>
            <a:off x="457200" y="4590288"/>
            <a:ext cx="8229600" cy="292608"/>
          </a:xfrm>
          <a:prstGeom prst="rect">
            <a:avLst/>
          </a:prstGeom>
          <a:noFill/>
          <a:ln/>
        </p:spPr>
        <p:txBody>
          <a:bodyPr wrap="square" lIns="0" tIns="0" rIns="0" bIns="0" rtlCol="0" anchor="ctr"/>
          <a:lstStyle/>
          <a:p>
            <a:pPr marL="0" indent="0" algn="ctr">
              <a:buNone/>
            </a:pPr>
            <a:r>
              <a:rPr lang="en-US" sz="1200" b="1" i="1" dirty="0">
                <a:solidFill>
                  <a:srgbClr val="0E5E5C"/>
                </a:solidFill>
                <a:latin typeface="Calibri" pitchFamily="34" charset="0"/>
                <a:ea typeface="Calibri" pitchFamily="34" charset="-122"/>
                <a:cs typeface="Calibri" pitchFamily="34" charset="-120"/>
              </a:rPr>
              <a:t>All map to a US grade level, easily compared to the education level of the target audience.</a:t>
            </a:r>
            <a:endParaRPr lang="en-US" sz="1200" dirty="0"/>
          </a:p>
        </p:txBody>
      </p:sp>
      <p:sp>
        <p:nvSpPr>
          <p:cNvPr id="19" name="Text 16"/>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a worked example</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Why an open-ended question deviates from the human answer</a:t>
            </a:r>
            <a:endParaRPr lang="en-US" sz="1250" dirty="0"/>
          </a:p>
        </p:txBody>
      </p:sp>
      <p:sp>
        <p:nvSpPr>
          <p:cNvPr id="6" name="Text 3"/>
          <p:cNvSpPr/>
          <p:nvPr/>
        </p:nvSpPr>
        <p:spPr>
          <a:xfrm>
            <a:off x="457200" y="1371600"/>
            <a:ext cx="8229600" cy="310896"/>
          </a:xfrm>
          <a:prstGeom prst="rect">
            <a:avLst/>
          </a:prstGeom>
          <a:noFill/>
          <a:ln/>
        </p:spPr>
        <p:txBody>
          <a:bodyPr wrap="square" lIns="0" tIns="0" rIns="0" bIns="0" rtlCol="0" anchor="ctr"/>
          <a:lstStyle/>
          <a:p>
            <a:pPr marL="0" indent="0">
              <a:buNone/>
            </a:pPr>
            <a:r>
              <a:rPr lang="en-US" sz="1350" b="1" dirty="0">
                <a:solidFill>
                  <a:srgbClr val="0E5E5C"/>
                </a:solidFill>
                <a:latin typeface="Calibri" pitchFamily="34" charset="0"/>
                <a:ea typeface="Calibri" pitchFamily="34" charset="-122"/>
                <a:cs typeface="Calibri" pitchFamily="34" charset="-120"/>
              </a:rPr>
              <a:t>Q:  </a:t>
            </a:r>
            <a:r>
              <a:rPr lang="en-US" sz="1350" b="1" i="1" dirty="0">
                <a:solidFill>
                  <a:srgbClr val="0A2E36"/>
                </a:solidFill>
                <a:latin typeface="Calibri" pitchFamily="34" charset="0"/>
                <a:ea typeface="Calibri" pitchFamily="34" charset="-122"/>
                <a:cs typeface="Calibri" pitchFamily="34" charset="-120"/>
              </a:rPr>
              <a:t>“How does it weigh different features?”   (lowest ACF: 0.441)</a:t>
            </a:r>
            <a:endParaRPr lang="en-US" sz="1350" dirty="0"/>
          </a:p>
        </p:txBody>
      </p:sp>
      <p:sp>
        <p:nvSpPr>
          <p:cNvPr id="7" name="Shape 4"/>
          <p:cNvSpPr/>
          <p:nvPr/>
        </p:nvSpPr>
        <p:spPr>
          <a:xfrm>
            <a:off x="457200" y="1783080"/>
            <a:ext cx="4023360" cy="2286000"/>
          </a:xfrm>
          <a:prstGeom prst="roundRect">
            <a:avLst>
              <a:gd name="adj" fmla="val 320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8" name="Text 5"/>
          <p:cNvSpPr/>
          <p:nvPr/>
        </p:nvSpPr>
        <p:spPr>
          <a:xfrm>
            <a:off x="658368" y="1920240"/>
            <a:ext cx="3657600" cy="274320"/>
          </a:xfrm>
          <a:prstGeom prst="rect">
            <a:avLst/>
          </a:prstGeom>
          <a:noFill/>
          <a:ln/>
        </p:spPr>
        <p:txBody>
          <a:bodyPr wrap="square" lIns="0" tIns="0" rIns="0" bIns="0" rtlCol="0" anchor="ctr"/>
          <a:lstStyle/>
          <a:p>
            <a:pPr marL="0" indent="0">
              <a:buNone/>
            </a:pPr>
            <a:r>
              <a:rPr lang="en-US" sz="1250" b="1" dirty="0">
                <a:solidFill>
                  <a:srgbClr val="0E5E5C"/>
                </a:solidFill>
                <a:latin typeface="Calibri" pitchFamily="34" charset="0"/>
                <a:ea typeface="Calibri" pitchFamily="34" charset="-122"/>
                <a:cs typeface="Calibri" pitchFamily="34" charset="-120"/>
              </a:rPr>
              <a:t>Human answer</a:t>
            </a:r>
            <a:endParaRPr lang="en-US" sz="1250" dirty="0"/>
          </a:p>
        </p:txBody>
      </p:sp>
      <p:sp>
        <p:nvSpPr>
          <p:cNvPr id="9" name="Text 6"/>
          <p:cNvSpPr/>
          <p:nvPr/>
        </p:nvSpPr>
        <p:spPr>
          <a:xfrm>
            <a:off x="658368" y="2249424"/>
            <a:ext cx="3657600" cy="1737360"/>
          </a:xfrm>
          <a:prstGeom prst="rect">
            <a:avLst/>
          </a:prstGeom>
          <a:noFill/>
          <a:ln/>
        </p:spPr>
        <p:txBody>
          <a:bodyPr wrap="square" lIns="0" tIns="0" rIns="0" bIns="0" rtlCol="0" anchor="ctr"/>
          <a:lstStyle/>
          <a:p>
            <a:pPr marL="0" indent="0">
              <a:lnSpc>
                <a:spcPct val="105000"/>
              </a:lnSpc>
              <a:buNone/>
            </a:pPr>
            <a:r>
              <a:rPr lang="en-US" sz="1150" dirty="0">
                <a:solidFill>
                  <a:srgbClr val="183036"/>
                </a:solidFill>
                <a:latin typeface="Calibri" pitchFamily="34" charset="0"/>
                <a:ea typeface="Calibri" pitchFamily="34" charset="-122"/>
                <a:cs typeface="Calibri" pitchFamily="34" charset="-120"/>
              </a:rPr>
              <a:t>XGBoost splits nodes by maximising gain — how much a split reduces the loss. A feature’s usefulness is how often and how effectively it is chosen to split. (Internal model mechanics.)</a:t>
            </a:r>
            <a:endParaRPr lang="en-US" sz="1150" dirty="0"/>
          </a:p>
        </p:txBody>
      </p:sp>
      <p:sp>
        <p:nvSpPr>
          <p:cNvPr id="10" name="Shape 7"/>
          <p:cNvSpPr/>
          <p:nvPr/>
        </p:nvSpPr>
        <p:spPr>
          <a:xfrm>
            <a:off x="4663440" y="1783080"/>
            <a:ext cx="4023360" cy="2286000"/>
          </a:xfrm>
          <a:prstGeom prst="roundRect">
            <a:avLst>
              <a:gd name="adj" fmla="val 3200"/>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1" name="Text 8"/>
          <p:cNvSpPr/>
          <p:nvPr/>
        </p:nvSpPr>
        <p:spPr>
          <a:xfrm>
            <a:off x="4864608" y="1920240"/>
            <a:ext cx="3657600" cy="274320"/>
          </a:xfrm>
          <a:prstGeom prst="rect">
            <a:avLst/>
          </a:prstGeom>
          <a:noFill/>
          <a:ln/>
        </p:spPr>
        <p:txBody>
          <a:bodyPr wrap="square" lIns="0" tIns="0" rIns="0" bIns="0" rtlCol="0" anchor="ctr"/>
          <a:lstStyle/>
          <a:p>
            <a:pPr marL="0" indent="0">
              <a:buNone/>
            </a:pPr>
            <a:r>
              <a:rPr lang="en-US" sz="1250" b="1" dirty="0">
                <a:solidFill>
                  <a:srgbClr val="9AD1D4"/>
                </a:solidFill>
                <a:latin typeface="Calibri" pitchFamily="34" charset="0"/>
                <a:ea typeface="Calibri" pitchFamily="34" charset="-122"/>
                <a:cs typeface="Calibri" pitchFamily="34" charset="-120"/>
              </a:rPr>
              <a:t>LLM answer (Claude)</a:t>
            </a:r>
            <a:endParaRPr lang="en-US" sz="1250" dirty="0"/>
          </a:p>
        </p:txBody>
      </p:sp>
      <p:sp>
        <p:nvSpPr>
          <p:cNvPr id="12" name="Text 9"/>
          <p:cNvSpPr/>
          <p:nvPr/>
        </p:nvSpPr>
        <p:spPr>
          <a:xfrm>
            <a:off x="4864608" y="2249424"/>
            <a:ext cx="3657600" cy="1737360"/>
          </a:xfrm>
          <a:prstGeom prst="rect">
            <a:avLst/>
          </a:prstGeom>
          <a:noFill/>
          <a:ln/>
        </p:spPr>
        <p:txBody>
          <a:bodyPr wrap="square" lIns="0" tIns="0" rIns="0" bIns="0" rtlCol="0" anchor="ctr"/>
          <a:lstStyle/>
          <a:p>
            <a:pPr marL="0" indent="0">
              <a:lnSpc>
                <a:spcPct val="105000"/>
              </a:lnSpc>
              <a:buNone/>
            </a:pPr>
            <a:r>
              <a:rPr lang="en-US" sz="1150" dirty="0">
                <a:solidFill>
                  <a:srgbClr val="F1F7F7"/>
                </a:solidFill>
                <a:latin typeface="Calibri" pitchFamily="34" charset="0"/>
                <a:ea typeface="Calibri" pitchFamily="34" charset="-122"/>
                <a:cs typeface="Calibri" pitchFamily="34" charset="-120"/>
              </a:rPr>
              <a:t>Describes the variable-importance ranking (opinion on effectiveness, doctor recommendation, risk…) — a valid but different reading of “it” and “weigh.”</a:t>
            </a:r>
            <a:endParaRPr lang="en-US" sz="1150" dirty="0"/>
          </a:p>
        </p:txBody>
      </p:sp>
      <p:sp>
        <p:nvSpPr>
          <p:cNvPr id="13" name="Shape 10"/>
          <p:cNvSpPr/>
          <p:nvPr/>
        </p:nvSpPr>
        <p:spPr>
          <a:xfrm>
            <a:off x="457200" y="4187952"/>
            <a:ext cx="8229600" cy="566928"/>
          </a:xfrm>
          <a:prstGeom prst="roundRect">
            <a:avLst>
              <a:gd name="adj" fmla="val 12903"/>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14" name="Text 11"/>
          <p:cNvSpPr/>
          <p:nvPr/>
        </p:nvSpPr>
        <p:spPr>
          <a:xfrm>
            <a:off x="640080" y="4187952"/>
            <a:ext cx="7863840" cy="566928"/>
          </a:xfrm>
          <a:prstGeom prst="rect">
            <a:avLst/>
          </a:prstGeom>
          <a:noFill/>
          <a:ln/>
        </p:spPr>
        <p:txBody>
          <a:bodyPr wrap="square" lIns="0" tIns="0" rIns="0" bIns="0" rtlCol="0" anchor="ctr"/>
          <a:lstStyle/>
          <a:p>
            <a:pPr marL="0" indent="0">
              <a:buNone/>
            </a:pPr>
            <a:r>
              <a:rPr lang="en-US" sz="1150" b="1" dirty="0">
                <a:solidFill>
                  <a:srgbClr val="0A2E36"/>
                </a:solidFill>
                <a:latin typeface="Calibri" pitchFamily="34" charset="0"/>
                <a:ea typeface="Calibri" pitchFamily="34" charset="-122"/>
                <a:cs typeface="Calibri" pitchFamily="34" charset="-120"/>
              </a:rPr>
              <a:t>Takeaway:  </a:t>
            </a:r>
            <a:r>
              <a:rPr lang="en-US" sz="1150" dirty="0">
                <a:solidFill>
                  <a:srgbClr val="0A2E36"/>
                </a:solidFill>
                <a:latin typeface="Calibri" pitchFamily="34" charset="0"/>
                <a:ea typeface="Calibri" pitchFamily="34" charset="-122"/>
                <a:cs typeface="Calibri" pitchFamily="34" charset="-120"/>
              </a:rPr>
              <a:t>ambiguity over what “it” refers to — not a wrong answer — drives the low score, signalling the question needs clarifying.</a:t>
            </a:r>
            <a:endParaRPr lang="en-US" sz="1150" dirty="0"/>
          </a:p>
        </p:txBody>
      </p:sp>
      <p:sp>
        <p:nvSpPr>
          <p:cNvPr id="15" name="Text 12"/>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AEC2B5-EA9E-97A2-A457-8120DDF5CDF3}"/>
              </a:ext>
            </a:extLst>
          </p:cNvPr>
          <p:cNvSpPr txBox="1"/>
          <p:nvPr/>
        </p:nvSpPr>
        <p:spPr>
          <a:xfrm>
            <a:off x="83820" y="171093"/>
            <a:ext cx="8983980" cy="3693319"/>
          </a:xfrm>
          <a:prstGeom prst="rect">
            <a:avLst/>
          </a:prstGeom>
          <a:noFill/>
        </p:spPr>
        <p:txBody>
          <a:bodyPr wrap="square">
            <a:spAutoFit/>
          </a:bodyPr>
          <a:lstStyle/>
          <a:p>
            <a:pPr algn="l">
              <a:buFont typeface="+mj-lt"/>
              <a:buAutoNum type="arabicPeriod"/>
            </a:pPr>
            <a:r>
              <a:rPr lang="en-DE" b="0" i="0" dirty="0">
                <a:effectLst/>
                <a:latin typeface="Anthropic Sans"/>
              </a:rPr>
              <a:t>How do you envision the trade-off between model "creativity" in conversational agents and the strict "faithfulness" required in clinical settings?</a:t>
            </a:r>
          </a:p>
          <a:p>
            <a:pPr algn="l">
              <a:buFont typeface="+mj-lt"/>
              <a:buAutoNum type="arabicPeriod"/>
            </a:pPr>
            <a:endParaRPr lang="en-DE" b="0" i="0" dirty="0">
              <a:effectLst/>
              <a:latin typeface="Anthropic Sans"/>
            </a:endParaRPr>
          </a:p>
          <a:p>
            <a:pPr algn="l">
              <a:buFont typeface="+mj-lt"/>
              <a:buAutoNum type="arabicPeriod"/>
            </a:pPr>
            <a:r>
              <a:rPr lang="en-DE" b="0" i="0" dirty="0">
                <a:effectLst/>
                <a:latin typeface="Anthropic Sans"/>
              </a:rPr>
              <a:t>Your results show that Gemini leads in readability, while ChatGPT leads in accuracy. How would you design a hybrid system to maximize both?</a:t>
            </a:r>
          </a:p>
          <a:p>
            <a:pPr algn="l">
              <a:buFont typeface="+mj-lt"/>
              <a:buAutoNum type="arabicPeriod"/>
            </a:pPr>
            <a:endParaRPr lang="en-DE" b="0" i="0" dirty="0">
              <a:effectLst/>
              <a:latin typeface="Anthropic Sans"/>
            </a:endParaRPr>
          </a:p>
          <a:p>
            <a:pPr algn="l">
              <a:buFont typeface="+mj-lt"/>
              <a:buAutoNum type="arabicPeriod"/>
            </a:pPr>
            <a:r>
              <a:rPr lang="en-DE" b="0" i="0" dirty="0">
                <a:effectLst/>
                <a:latin typeface="Anthropic Sans"/>
              </a:rPr>
              <a:t>How might the ACF metric be adapted for real-time evaluation in a live clinical interface?</a:t>
            </a:r>
          </a:p>
          <a:p>
            <a:pPr algn="l">
              <a:buFont typeface="+mj-lt"/>
              <a:buAutoNum type="arabicPeriod"/>
            </a:pPr>
            <a:endParaRPr lang="en-DE" b="0" i="0" dirty="0">
              <a:effectLst/>
              <a:latin typeface="Anthropic Sans"/>
            </a:endParaRPr>
          </a:p>
          <a:p>
            <a:pPr algn="l">
              <a:buFont typeface="+mj-lt"/>
              <a:buAutoNum type="arabicPeriod"/>
            </a:pPr>
            <a:r>
              <a:rPr lang="en-DE" b="0" i="0" dirty="0">
                <a:effectLst/>
                <a:latin typeface="Anthropic Sans"/>
              </a:rPr>
              <a:t>What are the primary ethical risks when an LLM provides a "highly readable" yet factually incorrect explanation to a medical professional?</a:t>
            </a:r>
          </a:p>
          <a:p>
            <a:pPr algn="l">
              <a:buFont typeface="+mj-lt"/>
              <a:buAutoNum type="arabicPeriod"/>
            </a:pPr>
            <a:endParaRPr lang="en-DE" b="0" i="0" dirty="0">
              <a:effectLst/>
              <a:latin typeface="Anthropic Sans"/>
            </a:endParaRPr>
          </a:p>
          <a:p>
            <a:pPr algn="l">
              <a:buFont typeface="+mj-lt"/>
              <a:buAutoNum type="arabicPeriod"/>
            </a:pPr>
            <a:r>
              <a:rPr lang="en-DE" b="0" i="0" dirty="0">
                <a:effectLst/>
                <a:latin typeface="Anthropic Sans"/>
              </a:rPr>
              <a:t>How could your instructional template be generalized to non-healthcare domains, such as legal or financial AI systems?</a:t>
            </a:r>
          </a:p>
        </p:txBody>
      </p:sp>
    </p:spTree>
    <p:extLst>
      <p:ext uri="{BB962C8B-B14F-4D97-AF65-F5344CB8AC3E}">
        <p14:creationId xmlns:p14="http://schemas.microsoft.com/office/powerpoint/2010/main" val="812287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1638</TotalTime>
  <Words>3234</Words>
  <Application>Microsoft Macintosh PowerPoint</Application>
  <PresentationFormat>On-screen Show (16:9)</PresentationFormat>
  <Paragraphs>457</Paragraphs>
  <Slides>27</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Anthropic Sans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Conversational Explanations using LLMs on top of the XAI Question Bank</dc:title>
  <dc:subject>PptxGenJS Presentation</dc:subject>
  <dc:creator>Henry Khalil El-Jawhari</dc:creator>
  <cp:lastModifiedBy>Henry El-Jawhari</cp:lastModifiedBy>
  <cp:revision>3</cp:revision>
  <dcterms:created xsi:type="dcterms:W3CDTF">2026-06-08T21:50:30Z</dcterms:created>
  <dcterms:modified xsi:type="dcterms:W3CDTF">2026-06-11T05:35:38Z</dcterms:modified>
</cp:coreProperties>
</file>