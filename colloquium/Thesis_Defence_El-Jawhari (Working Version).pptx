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1E_0.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9" r:id="rId3"/>
    <p:sldId id="257" r:id="rId4"/>
    <p:sldId id="261" r:id="rId5"/>
    <p:sldId id="285" r:id="rId6"/>
    <p:sldId id="258" r:id="rId7"/>
    <p:sldId id="260" r:id="rId8"/>
    <p:sldId id="262" r:id="rId9"/>
    <p:sldId id="263" r:id="rId10"/>
    <p:sldId id="286" r:id="rId11"/>
    <p:sldId id="265" r:id="rId12"/>
    <p:sldId id="266" r:id="rId13"/>
    <p:sldId id="267" r:id="rId14"/>
    <p:sldId id="268" r:id="rId15"/>
    <p:sldId id="269" r:id="rId16"/>
    <p:sldId id="270" r:id="rId17"/>
    <p:sldId id="271" r:id="rId18"/>
    <p:sldId id="284" r:id="rId19"/>
    <p:sldId id="272" r:id="rId20"/>
    <p:sldId id="283" r:id="rId21"/>
    <p:sldId id="273" r:id="rId22"/>
    <p:sldId id="274" r:id="rId23"/>
    <p:sldId id="275" r:id="rId24"/>
    <p:sldId id="276" r:id="rId25"/>
    <p:sldId id="277" r:id="rId26"/>
    <p:sldId id="278" r:id="rId27"/>
    <p:sldId id="279" r:id="rId28"/>
    <p:sldId id="291" r:id="rId29"/>
    <p:sldId id="280" r:id="rId30"/>
    <p:sldId id="290" r:id="rId31"/>
    <p:sldId id="287" r:id="rId32"/>
    <p:sldId id="289" r:id="rId33"/>
    <p:sldId id="281" r:id="rId34"/>
    <p:sldId id="288"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129BC2-92AC-BCAD-C16B-B750529E6C13}" name="Henry El-Jawhari" initials="HEJ" userId="S::henry.el-jawhari@pairfinance.com::026c65cc-3dbb-4746-b65d-cc1798b9588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AB44B"/>
    <a:srgbClr val="0A2D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77086"/>
  </p:normalViewPr>
  <p:slideViewPr>
    <p:cSldViewPr snapToGrid="0" snapToObjects="1">
      <p:cViewPr>
        <p:scale>
          <a:sx n="128" d="100"/>
          <a:sy n="128" d="100"/>
        </p:scale>
        <p:origin x="1288" y="3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stacked"/>
        <c:varyColors val="0"/>
        <c:ser>
          <c:idx val="0"/>
          <c:order val="0"/>
          <c:tx>
            <c:strRef>
              <c:f>Sheet1!$B$1</c:f>
              <c:strCache>
                <c:ptCount val="1"/>
                <c:pt idx="0">
                  <c:v>Fully correct</c:v>
                </c:pt>
              </c:strCache>
            </c:strRef>
          </c:tx>
          <c:spPr>
            <a:solidFill>
              <a:schemeClr val="accent6">
                <a:lumMod val="75000"/>
              </a:schemeClr>
            </a:solidFill>
            <a:effectLst/>
          </c:spPr>
          <c:invertIfNegative val="0"/>
          <c:dLbls>
            <c:numFmt formatCode="0;;" sourceLinked="0"/>
            <c:spPr>
              <a:noFill/>
              <a:ln>
                <a:noFill/>
              </a:ln>
              <a:effectLst/>
            </c:spPr>
            <c:txPr>
              <a:bodyPr/>
              <a:lstStyle/>
              <a:p>
                <a:pPr>
                  <a:defRPr sz="900" b="1"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 5.2</c:v>
                </c:pt>
                <c:pt idx="1">
                  <c:v>Claude Opus 4.6</c:v>
                </c:pt>
                <c:pt idx="2">
                  <c:v>Gemini 3 Pro</c:v>
                </c:pt>
              </c:strCache>
            </c:strRef>
          </c:cat>
          <c:val>
            <c:numRef>
              <c:f>Sheet1!$B$2:$B$4</c:f>
              <c:numCache>
                <c:formatCode>General</c:formatCode>
                <c:ptCount val="3"/>
                <c:pt idx="0">
                  <c:v>28</c:v>
                </c:pt>
                <c:pt idx="1">
                  <c:v>26</c:v>
                </c:pt>
                <c:pt idx="2">
                  <c:v>23</c:v>
                </c:pt>
              </c:numCache>
            </c:numRef>
          </c:val>
          <c:extLst>
            <c:ext xmlns:c16="http://schemas.microsoft.com/office/drawing/2014/chart" uri="{C3380CC4-5D6E-409C-BE32-E72D297353CC}">
              <c16:uniqueId val="{00000000-AB43-1E4A-94A1-82767F02175B}"/>
            </c:ext>
          </c:extLst>
        </c:ser>
        <c:ser>
          <c:idx val="1"/>
          <c:order val="1"/>
          <c:tx>
            <c:strRef>
              <c:f>Sheet1!$C$1</c:f>
              <c:strCache>
                <c:ptCount val="1"/>
                <c:pt idx="0">
                  <c:v>Partially correct</c:v>
                </c:pt>
              </c:strCache>
            </c:strRef>
          </c:tx>
          <c:spPr>
            <a:solidFill>
              <a:srgbClr val="E9B44C"/>
            </a:solidFill>
            <a:effectLst/>
          </c:spPr>
          <c:invertIfNegative val="0"/>
          <c:dLbls>
            <c:numFmt formatCode="0;;" sourceLinked="0"/>
            <c:spPr>
              <a:noFill/>
              <a:ln>
                <a:noFill/>
              </a:ln>
              <a:effectLst/>
            </c:spPr>
            <c:txPr>
              <a:bodyPr/>
              <a:lstStyle/>
              <a:p>
                <a:pPr>
                  <a:defRPr sz="900" b="1"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 5.2</c:v>
                </c:pt>
                <c:pt idx="1">
                  <c:v>Claude Opus 4.6</c:v>
                </c:pt>
                <c:pt idx="2">
                  <c:v>Gemini 3 Pro</c:v>
                </c:pt>
              </c:strCache>
            </c:strRef>
          </c:cat>
          <c:val>
            <c:numRef>
              <c:f>Sheet1!$C$2:$C$4</c:f>
              <c:numCache>
                <c:formatCode>General</c:formatCode>
                <c:ptCount val="3"/>
                <c:pt idx="0">
                  <c:v>8</c:v>
                </c:pt>
                <c:pt idx="1">
                  <c:v>8</c:v>
                </c:pt>
                <c:pt idx="2">
                  <c:v>12</c:v>
                </c:pt>
              </c:numCache>
            </c:numRef>
          </c:val>
          <c:extLst>
            <c:ext xmlns:c16="http://schemas.microsoft.com/office/drawing/2014/chart" uri="{C3380CC4-5D6E-409C-BE32-E72D297353CC}">
              <c16:uniqueId val="{00000001-AB43-1E4A-94A1-82767F02175B}"/>
            </c:ext>
          </c:extLst>
        </c:ser>
        <c:ser>
          <c:idx val="2"/>
          <c:order val="2"/>
          <c:tx>
            <c:strRef>
              <c:f>Sheet1!$D$1</c:f>
              <c:strCache>
                <c:ptCount val="1"/>
                <c:pt idx="0">
                  <c:v>Incorrect</c:v>
                </c:pt>
              </c:strCache>
            </c:strRef>
          </c:tx>
          <c:spPr>
            <a:solidFill>
              <a:srgbClr val="E07A5F"/>
            </a:solidFill>
            <a:effectLst/>
          </c:spPr>
          <c:invertIfNegative val="0"/>
          <c:dPt>
            <c:idx val="1"/>
            <c:invertIfNegative val="0"/>
            <c:bubble3D val="0"/>
            <c:spPr>
              <a:solidFill>
                <a:srgbClr val="C00000"/>
              </a:solidFill>
              <a:effectLst/>
            </c:spPr>
            <c:extLst>
              <c:ext xmlns:c16="http://schemas.microsoft.com/office/drawing/2014/chart" uri="{C3380CC4-5D6E-409C-BE32-E72D297353CC}">
                <c16:uniqueId val="{00000006-AB43-1E4A-94A1-82767F02175B}"/>
              </c:ext>
            </c:extLst>
          </c:dPt>
          <c:dPt>
            <c:idx val="2"/>
            <c:invertIfNegative val="0"/>
            <c:bubble3D val="0"/>
            <c:spPr>
              <a:solidFill>
                <a:srgbClr val="C00000"/>
              </a:solidFill>
              <a:effectLst/>
            </c:spPr>
            <c:extLst>
              <c:ext xmlns:c16="http://schemas.microsoft.com/office/drawing/2014/chart" uri="{C3380CC4-5D6E-409C-BE32-E72D297353CC}">
                <c16:uniqueId val="{00000005-AB43-1E4A-94A1-82767F02175B}"/>
              </c:ext>
            </c:extLst>
          </c:dPt>
          <c:dLbls>
            <c:numFmt formatCode="0;;" sourceLinked="0"/>
            <c:spPr>
              <a:noFill/>
              <a:ln>
                <a:noFill/>
              </a:ln>
              <a:effectLst/>
            </c:spPr>
            <c:txPr>
              <a:bodyPr/>
              <a:lstStyle/>
              <a:p>
                <a:pPr>
                  <a:defRPr sz="900" b="1" i="0" u="none" strike="noStrike">
                    <a:solidFill>
                      <a:srgbClr val="FFFFFF"/>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ChatGPT 5.2</c:v>
                </c:pt>
                <c:pt idx="1">
                  <c:v>Claude Opus 4.6</c:v>
                </c:pt>
                <c:pt idx="2">
                  <c:v>Gemini 3 Pro</c:v>
                </c:pt>
              </c:strCache>
            </c:strRef>
          </c:cat>
          <c:val>
            <c:numRef>
              <c:f>Sheet1!$D$2:$D$4</c:f>
              <c:numCache>
                <c:formatCode>General</c:formatCode>
                <c:ptCount val="3"/>
                <c:pt idx="0">
                  <c:v>0</c:v>
                </c:pt>
                <c:pt idx="1">
                  <c:v>2</c:v>
                </c:pt>
                <c:pt idx="2">
                  <c:v>1</c:v>
                </c:pt>
              </c:numCache>
            </c:numRef>
          </c:val>
          <c:extLst>
            <c:ext xmlns:c16="http://schemas.microsoft.com/office/drawing/2014/chart" uri="{C3380CC4-5D6E-409C-BE32-E72D297353CC}">
              <c16:uniqueId val="{00000002-AB43-1E4A-94A1-82767F02175B}"/>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36"/>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86B"/>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ChatGPT 5.2</c:v>
                </c:pt>
              </c:strCache>
            </c:strRef>
          </c:tx>
          <c:spPr>
            <a:solidFill>
              <a:srgbClr val="127475"/>
            </a:solidFill>
            <a:effectLst/>
          </c:spPr>
          <c:invertIfNegative val="0"/>
          <c:dLbls>
            <c:numFmt formatCode="0.00" sourceLinked="0"/>
            <c:spPr>
              <a:noFill/>
              <a:ln>
                <a:noFill/>
              </a:ln>
              <a:effectLst/>
            </c:spPr>
            <c:txPr>
              <a:bodyPr/>
              <a:lstStyle/>
              <a:p>
                <a:pPr>
                  <a:defRPr sz="75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Completeness</c:v>
                </c:pt>
                <c:pt idx="2">
                  <c:v>Faithfulness</c:v>
                </c:pt>
                <c:pt idx="3">
                  <c:v>ACF score</c:v>
                </c:pt>
              </c:strCache>
            </c:strRef>
          </c:cat>
          <c:val>
            <c:numRef>
              <c:f>Sheet1!$B$2:$B$5</c:f>
              <c:numCache>
                <c:formatCode>General</c:formatCode>
                <c:ptCount val="4"/>
                <c:pt idx="0">
                  <c:v>0.88900000000000001</c:v>
                </c:pt>
                <c:pt idx="1">
                  <c:v>0.66</c:v>
                </c:pt>
                <c:pt idx="2">
                  <c:v>0.61099999999999999</c:v>
                </c:pt>
                <c:pt idx="3">
                  <c:v>0.72</c:v>
                </c:pt>
              </c:numCache>
            </c:numRef>
          </c:val>
          <c:extLst>
            <c:ext xmlns:c16="http://schemas.microsoft.com/office/drawing/2014/chart" uri="{C3380CC4-5D6E-409C-BE32-E72D297353CC}">
              <c16:uniqueId val="{00000000-BB93-A54F-8575-D323C655BB8A}"/>
            </c:ext>
          </c:extLst>
        </c:ser>
        <c:ser>
          <c:idx val="1"/>
          <c:order val="1"/>
          <c:tx>
            <c:strRef>
              <c:f>Sheet1!$C$1</c:f>
              <c:strCache>
                <c:ptCount val="1"/>
                <c:pt idx="0">
                  <c:v>Claude Opus 4.6</c:v>
                </c:pt>
              </c:strCache>
            </c:strRef>
          </c:tx>
          <c:spPr>
            <a:solidFill>
              <a:srgbClr val="E07A5F"/>
            </a:solidFill>
            <a:effectLst/>
          </c:spPr>
          <c:invertIfNegative val="0"/>
          <c:dLbls>
            <c:numFmt formatCode="0.00" sourceLinked="0"/>
            <c:spPr>
              <a:noFill/>
              <a:ln>
                <a:noFill/>
              </a:ln>
              <a:effectLst/>
            </c:spPr>
            <c:txPr>
              <a:bodyPr/>
              <a:lstStyle/>
              <a:p>
                <a:pPr>
                  <a:defRPr sz="75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Completeness</c:v>
                </c:pt>
                <c:pt idx="2">
                  <c:v>Faithfulness</c:v>
                </c:pt>
                <c:pt idx="3">
                  <c:v>ACF score</c:v>
                </c:pt>
              </c:strCache>
            </c:strRef>
          </c:cat>
          <c:val>
            <c:numRef>
              <c:f>Sheet1!$C$2:$C$5</c:f>
              <c:numCache>
                <c:formatCode>General</c:formatCode>
                <c:ptCount val="4"/>
                <c:pt idx="0">
                  <c:v>0.83299999999999996</c:v>
                </c:pt>
                <c:pt idx="1">
                  <c:v>0.69399999999999995</c:v>
                </c:pt>
                <c:pt idx="2">
                  <c:v>0.59299999999999997</c:v>
                </c:pt>
                <c:pt idx="3">
                  <c:v>0.70599999999999996</c:v>
                </c:pt>
              </c:numCache>
            </c:numRef>
          </c:val>
          <c:extLst>
            <c:ext xmlns:c16="http://schemas.microsoft.com/office/drawing/2014/chart" uri="{C3380CC4-5D6E-409C-BE32-E72D297353CC}">
              <c16:uniqueId val="{00000001-BB93-A54F-8575-D323C655BB8A}"/>
            </c:ext>
          </c:extLst>
        </c:ser>
        <c:ser>
          <c:idx val="2"/>
          <c:order val="2"/>
          <c:tx>
            <c:strRef>
              <c:f>Sheet1!$D$1</c:f>
              <c:strCache>
                <c:ptCount val="1"/>
                <c:pt idx="0">
                  <c:v>Gemini 3 Pro</c:v>
                </c:pt>
              </c:strCache>
            </c:strRef>
          </c:tx>
          <c:spPr>
            <a:solidFill>
              <a:srgbClr val="3D5A80"/>
            </a:solidFill>
            <a:effectLst/>
          </c:spPr>
          <c:invertIfNegative val="0"/>
          <c:dLbls>
            <c:numFmt formatCode="0.00" sourceLinked="0"/>
            <c:spPr>
              <a:noFill/>
              <a:ln>
                <a:noFill/>
              </a:ln>
              <a:effectLst/>
            </c:spPr>
            <c:txPr>
              <a:bodyPr/>
              <a:lstStyle/>
              <a:p>
                <a:pPr>
                  <a:defRPr sz="75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Completeness</c:v>
                </c:pt>
                <c:pt idx="2">
                  <c:v>Faithfulness</c:v>
                </c:pt>
                <c:pt idx="3">
                  <c:v>ACF score</c:v>
                </c:pt>
              </c:strCache>
            </c:strRef>
          </c:cat>
          <c:val>
            <c:numRef>
              <c:f>Sheet1!$D$2:$D$5</c:f>
              <c:numCache>
                <c:formatCode>General</c:formatCode>
                <c:ptCount val="4"/>
                <c:pt idx="0">
                  <c:v>0.80600000000000005</c:v>
                </c:pt>
                <c:pt idx="1">
                  <c:v>0.63800000000000001</c:v>
                </c:pt>
                <c:pt idx="2">
                  <c:v>0.58599999999999997</c:v>
                </c:pt>
                <c:pt idx="3">
                  <c:v>0.67600000000000005</c:v>
                </c:pt>
              </c:numCache>
            </c:numRef>
          </c:val>
          <c:extLst>
            <c:ext xmlns:c16="http://schemas.microsoft.com/office/drawing/2014/chart" uri="{C3380CC4-5D6E-409C-BE32-E72D297353CC}">
              <c16:uniqueId val="{00000002-BB93-A54F-8575-D323C655BB8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86B"/>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Avg ACF</c:v>
                </c:pt>
              </c:strCache>
            </c:strRef>
          </c:tx>
          <c:spPr>
            <a:solidFill>
              <a:srgbClr val="127475"/>
            </a:solidFill>
            <a:effectLst/>
          </c:spPr>
          <c:invertIfNegative val="0"/>
          <c:dLbls>
            <c:numFmt formatCode="0.00" sourceLinked="0"/>
            <c:spPr>
              <a:noFill/>
              <a:ln>
                <a:noFill/>
              </a:ln>
              <a:effectLst/>
            </c:spPr>
            <c:txPr>
              <a:bodyPr/>
              <a:lstStyle/>
              <a:p>
                <a:pPr>
                  <a:defRPr sz="900" b="0" i="0" u="none" strike="noStrike">
                    <a:solidFill>
                      <a:srgbClr val="183036"/>
                    </a:solidFill>
                    <a:latin typeface="Arial"/>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Others</c:v>
                </c:pt>
                <c:pt idx="1">
                  <c:v>Data</c:v>
                </c:pt>
                <c:pt idx="2">
                  <c:v>UI</c:v>
                </c:pt>
                <c:pt idx="3">
                  <c:v>Performance</c:v>
                </c:pt>
                <c:pt idx="4">
                  <c:v>How (global)</c:v>
                </c:pt>
                <c:pt idx="5">
                  <c:v>Output</c:v>
                </c:pt>
              </c:strCache>
            </c:strRef>
          </c:cat>
          <c:val>
            <c:numRef>
              <c:f>Sheet1!$B$2:$B$7</c:f>
              <c:numCache>
                <c:formatCode>General</c:formatCode>
                <c:ptCount val="6"/>
                <c:pt idx="0">
                  <c:v>0.76700000000000002</c:v>
                </c:pt>
                <c:pt idx="1">
                  <c:v>0.75900000000000001</c:v>
                </c:pt>
                <c:pt idx="2">
                  <c:v>0.745</c:v>
                </c:pt>
                <c:pt idx="3">
                  <c:v>0.70199999999999996</c:v>
                </c:pt>
                <c:pt idx="4">
                  <c:v>0.69</c:v>
                </c:pt>
                <c:pt idx="5">
                  <c:v>0.63100000000000001</c:v>
                </c:pt>
              </c:numCache>
            </c:numRef>
          </c:val>
          <c:extLst>
            <c:ext xmlns:c16="http://schemas.microsoft.com/office/drawing/2014/chart" uri="{C3380CC4-5D6E-409C-BE32-E72D297353CC}">
              <c16:uniqueId val="{00000000-6AA4-0649-AF77-A429AAA26F6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5686B"/>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1E_0.xml><?xml version="1.0" encoding="utf-8"?>
<p188:cmLst xmlns:a="http://schemas.openxmlformats.org/drawingml/2006/main" xmlns:r="http://schemas.openxmlformats.org/officeDocument/2006/relationships" xmlns:p188="http://schemas.microsoft.com/office/powerpoint/2018/8/main">
  <p188:cm id="{792A6DD5-8E8C-084F-B88A-72465B2DB5EE}" authorId="{0D129BC2-92AC-BCAD-C16B-B750529E6C13}" created="2026-06-09T21:24:02.525">
    <pc:sldMkLst xmlns:pc="http://schemas.microsoft.com/office/powerpoint/2013/main/command">
      <pc:docMk/>
      <pc:sldMk cId="0" sldId="264"/>
    </pc:sldMkLst>
    <p188:txBody>
      <a:bodyPr/>
      <a:lstStyle/>
      <a:p>
        <a:r>
          <a:rPr lang="en-DE"/>
          <a:t>Link to XAIQB more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42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Simulate a real word scenario in healthcare (high stakes domain) </a:t>
            </a:r>
          </a:p>
          <a:p>
            <a:endParaRPr lang="en-US" dirty="0"/>
          </a:p>
          <a:p>
            <a:r>
              <a:rPr lang="en-US" dirty="0"/>
              <a:t>AI system was acted as prediction tool and explanation interface for AI assisted decisions</a:t>
            </a:r>
          </a:p>
          <a:p>
            <a:endParaRPr lang="en-US" dirty="0"/>
          </a:p>
          <a:p>
            <a:r>
              <a:rPr lang="en-US" dirty="0"/>
              <a:t>Investigate if LLMs can be used to improve the trustworthiness and adoption of such AI systems and their output</a:t>
            </a:r>
          </a:p>
          <a:p>
            <a:endParaRPr lang="en-US" dirty="0"/>
          </a:p>
          <a:p>
            <a:r>
              <a:rPr lang="en-US" dirty="0"/>
              <a:t>That is to say...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kern="1200" dirty="0">
                <a:solidFill>
                  <a:schemeClr val="tx1"/>
                </a:solidFill>
                <a:effectLst/>
                <a:latin typeface="+mn-lt"/>
                <a:ea typeface="+mn-ea"/>
                <a:cs typeface="+mn-cs"/>
              </a:rPr>
              <a:t>The research goal of this project aims to bridge this gap between XAI interfaces utilising LLMs and the evaluation techniques used to assess their responses.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But first, why does explainability even matter?</a:t>
            </a:r>
          </a:p>
          <a:p>
            <a:endParaRPr lang="en-US" dirty="0"/>
          </a:p>
          <a:p>
            <a:r>
              <a:rPr lang="en-US" dirty="0"/>
              <a:t>AI is being widely adopted into our everyday lives. Their decisions are becoming increasingly frequent, and consequential.</a:t>
            </a:r>
          </a:p>
          <a:p>
            <a:endParaRPr lang="en-US" sz="1200" kern="1200" dirty="0">
              <a:solidFill>
                <a:schemeClr val="tx1"/>
              </a:solidFill>
              <a:effectLst/>
              <a:latin typeface="+mn-lt"/>
              <a:ea typeface="+mn-ea"/>
              <a:cs typeface="+mn-cs"/>
            </a:endParaRPr>
          </a:p>
          <a:p>
            <a:r>
              <a:rPr lang="en-DE" sz="1200" kern="1200" dirty="0">
                <a:solidFill>
                  <a:schemeClr val="tx1"/>
                </a:solidFill>
                <a:effectLst/>
                <a:latin typeface="+mn-lt"/>
                <a:ea typeface="+mn-ea"/>
                <a:cs typeface="+mn-cs"/>
              </a:rPr>
              <a:t>This poses a significant risk when these systems behave unexpectedly, or make decisions which unfairly target people/groups of</a:t>
            </a:r>
          </a:p>
          <a:p>
            <a:r>
              <a:rPr lang="en-DE" sz="1200" kern="1200" dirty="0">
                <a:solidFill>
                  <a:schemeClr val="tx1"/>
                </a:solidFill>
                <a:effectLst/>
                <a:latin typeface="+mn-lt"/>
                <a:ea typeface="+mn-ea"/>
                <a:cs typeface="+mn-cs"/>
              </a:rPr>
              <a:t>people. </a:t>
            </a:r>
          </a:p>
          <a:p>
            <a:endParaRPr lang="en-DE" sz="1200" kern="1200" dirty="0">
              <a:solidFill>
                <a:schemeClr val="tx1"/>
              </a:solidFill>
              <a:effectLst/>
              <a:latin typeface="+mn-lt"/>
              <a:ea typeface="+mn-ea"/>
              <a:cs typeface="+mn-cs"/>
            </a:endParaRPr>
          </a:p>
          <a:p>
            <a:r>
              <a:rPr lang="en-DE" sz="1200" kern="1200" dirty="0">
                <a:solidFill>
                  <a:schemeClr val="tx1"/>
                </a:solidFill>
                <a:effectLst/>
                <a:latin typeface="+mn-lt"/>
                <a:ea typeface="+mn-ea"/>
                <a:cs typeface="+mn-cs"/>
              </a:rPr>
              <a:t>AI systems need to be transparent, interpretable, and understandable, in order for them to be</a:t>
            </a:r>
          </a:p>
          <a:p>
            <a:r>
              <a:rPr lang="en-DE" sz="1200" kern="1200" dirty="0">
                <a:solidFill>
                  <a:schemeClr val="tx1"/>
                </a:solidFill>
                <a:effectLst/>
                <a:latin typeface="+mn-lt"/>
                <a:ea typeface="+mn-ea"/>
                <a:cs typeface="+mn-cs"/>
              </a:rPr>
              <a:t>trustworthy.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HC-AI keeps humans in control XAI is the field that provides them. </a:t>
            </a:r>
          </a:p>
          <a:p>
            <a:endParaRPr lang="en-US" dirty="0"/>
          </a:p>
          <a:p>
            <a:r>
              <a:rPr lang="en-US" dirty="0"/>
              <a:t>Note the accuracy–explainability trade-off, and the three technique families — the AI system in this work uses post-hoc methods on a black-box model. Global and local predictions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61CC6-BE66-75D6-7CF6-C45B47602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64F7F-01A3-BFED-9D82-3C41EB29D2F8}"/>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83D8CF00-5D51-F873-273A-703864EA839A}"/>
              </a:ext>
            </a:extLst>
          </p:cNvPr>
          <p:cNvSpPr>
            <a:spLocks noGrp="1"/>
          </p:cNvSpPr>
          <p:nvPr>
            <p:ph type="body" idx="1"/>
          </p:nvPr>
        </p:nvSpPr>
        <p:spPr/>
        <p:txBody>
          <a:bodyPr/>
          <a:lstStyle/>
          <a:p>
            <a:pPr marL="0" indent="0">
              <a:buNone/>
            </a:pPr>
            <a:r>
              <a:rPr lang="en-US" sz="1200" dirty="0">
                <a:solidFill>
                  <a:srgbClr val="55686B"/>
                </a:solidFill>
                <a:latin typeface="Calibri" pitchFamily="34" charset="0"/>
                <a:ea typeface="Calibri" pitchFamily="34" charset="-122"/>
                <a:cs typeface="Calibri" pitchFamily="34" charset="-120"/>
              </a:rPr>
              <a:t>HCAI is a milt-discipline research philosophy and design approach. AI should empower people, not replace them.</a:t>
            </a:r>
          </a:p>
          <a:p>
            <a:pPr marL="0" indent="0">
              <a:buNone/>
            </a:pPr>
            <a:endParaRPr lang="en-US" sz="1200" dirty="0">
              <a:solidFill>
                <a:srgbClr val="55686B"/>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5686B"/>
                </a:solidFill>
                <a:latin typeface="Calibri" pitchFamily="34" charset="0"/>
                <a:ea typeface="Calibri" pitchFamily="34" charset="-122"/>
                <a:cs typeface="Calibri" pitchFamily="34" charset="-120"/>
              </a:rPr>
              <a:t>Methods to explain the reasoning behind outputs, building transparency, interpretability and understandability.</a:t>
            </a:r>
            <a:endParaRPr lang="en-US" sz="1200" dirty="0"/>
          </a:p>
          <a:p>
            <a:endParaRPr lang="en-US" dirty="0"/>
          </a:p>
          <a:p>
            <a:r>
              <a:rPr lang="en-US" dirty="0"/>
              <a:t>Note the accuracy–explainability trade-off, and the three technique families — the AI system in this work uses post-hoc methods on a black-box model.</a:t>
            </a:r>
          </a:p>
        </p:txBody>
      </p:sp>
      <p:sp>
        <p:nvSpPr>
          <p:cNvPr id="4" name="Slide Number Placeholder 3">
            <a:extLst>
              <a:ext uri="{FF2B5EF4-FFF2-40B4-BE49-F238E27FC236}">
                <a16:creationId xmlns:a16="http://schemas.microsoft.com/office/drawing/2014/main" id="{8A36A4D1-D693-0FB5-4600-43A554DE380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97836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LLMs offer an attractive opportunity as explanatory agents, enhancing the field of XAI. </a:t>
            </a:r>
          </a:p>
          <a:p>
            <a:endParaRPr lang="en-US" dirty="0"/>
          </a:p>
          <a:p>
            <a:r>
              <a:rPr lang="en-US" dirty="0"/>
              <a:t>However, existing work either constrains them to templates or evaluates only subjective satisfaction. </a:t>
            </a:r>
          </a:p>
          <a:p>
            <a:endParaRPr lang="en-US" dirty="0"/>
          </a:p>
          <a:p>
            <a:r>
              <a:rPr lang="en-US" dirty="0"/>
              <a:t>There is no agreed, rigorous way to measure explanation quality. That is the gap this thesis targets.</a:t>
            </a:r>
          </a:p>
          <a:p>
            <a:endParaRPr lang="en-US" dirty="0"/>
          </a:p>
          <a:p>
            <a:r>
              <a:rPr lang="en-US" dirty="0"/>
              <a:t>Examples of LLMs used already…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Together this forms a framework transferable across LLMs, AI systems, domains and use-cases — not a one-off study.</a:t>
            </a:r>
            <a:endParaRPr lang="en-D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The XAI-QB is the backbone of this evaluation</a:t>
            </a:r>
          </a:p>
          <a:p>
            <a:endParaRPr lang="en-US" dirty="0"/>
          </a:p>
          <a:p>
            <a:r>
              <a:rPr lang="en-US" dirty="0"/>
              <a:t>Questions covering the entire lifecycle of an AI system from the design, development, and deployment. The AI system was created specifically to answer these questions</a:t>
            </a:r>
          </a:p>
          <a:p>
            <a:endParaRPr lang="en-US" dirty="0"/>
          </a:p>
          <a:p>
            <a:r>
              <a:rPr lang="en-US" dirty="0"/>
              <a:t>A total of 36 questions were selected, focusing on global </a:t>
            </a:r>
            <a:r>
              <a:rPr lang="en-US" dirty="0" err="1"/>
              <a:t>behaviour</a:t>
            </a:r>
            <a:r>
              <a:rPr lang="en-US" dirty="0"/>
              <a:t>.</a:t>
            </a:r>
          </a:p>
          <a:p>
            <a:endParaRPr lang="en-US" dirty="0"/>
          </a:p>
          <a:p>
            <a:r>
              <a:rPr lang="en-US" dirty="0"/>
              <a:t>Extended questions were included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Walk left to right: the data feeds a four-part AI system; its full source code is given to the LLMs via a JSON instructional template; human and LLM answers to the same questions are then evaluated. The dashed arrow is the iterative fine-tuning of the template.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system has four documented components feeding into one another. The data is a real public-health dataset on H1N1 vaccine uptake. Only H1N1 was modelled (seasonal features dropped to avoid leakage).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Four models spanning complexity were tuned and compared on ROC-AUC. The tuned </a:t>
            </a:r>
            <a:r>
              <a:rPr lang="en-US" dirty="0" err="1"/>
              <a:t>XGBoost</a:t>
            </a:r>
            <a:r>
              <a:rPr lang="en-US" dirty="0"/>
              <a:t> won and was exported for explanation. Note this is a deliberately simplified selection process — real clinical deployment needs more rigorous validation.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Produced by DALEX</a:t>
            </a:r>
          </a:p>
          <a:p>
            <a:endParaRPr lang="en-US" dirty="0"/>
          </a:p>
          <a:p>
            <a:r>
              <a:rPr lang="en-US" dirty="0"/>
              <a:t>These are the artefacts the LLMs see. All are global, post-hoc explanations of the black-box </a:t>
            </a:r>
            <a:r>
              <a:rPr lang="en-US" dirty="0" err="1"/>
              <a:t>XGBoost</a:t>
            </a:r>
            <a:r>
              <a:rPr lang="en-US" dirty="0"/>
              <a:t>. The most important features identified here are what populate the What-If dashboard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The dashboard is the UI category in action. Users change the six most important features and a decision threshold, then see updated predictions with SHAP and ceteris-paribus explanations. This is what the UI questions in the XAI-QB probe.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JSON forces a structured, repeatable output and makes evaluation tractable. The persona primes clinically relevant language; instructions ban heavy </a:t>
            </a:r>
            <a:r>
              <a:rPr lang="en-US" dirty="0" err="1"/>
              <a:t>maths</a:t>
            </a:r>
            <a:r>
              <a:rPr lang="en-US" dirty="0"/>
              <a:t> / code. The template went through three iterations.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run used a fresh instance to test output stability without conversational carry-over.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Manual scoring is time consuming. Runs were selected from partial ACF score. </a:t>
            </a:r>
            <a:r>
              <a:rPr lang="en-DE" sz="1200" kern="1200" dirty="0">
                <a:solidFill>
                  <a:schemeClr val="tx1"/>
                </a:solidFill>
                <a:effectLst/>
                <a:latin typeface="+mn-lt"/>
                <a:ea typeface="+mn-ea"/>
                <a:cs typeface="+mn-cs"/>
              </a:rPr>
              <a:t>The ranges of component metrics are minimal across all LLMs. Sufficient level of output stability and response consistency.</a:t>
            </a:r>
          </a:p>
          <a:p>
            <a:endParaRPr lang="en-US" dirty="0"/>
          </a:p>
          <a:p>
            <a:r>
              <a:rPr lang="en-US" dirty="0"/>
              <a:t>Rankings of models did not change when accuracy was added.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dirty="0"/>
              <a:t>Rouge-L: Checks how many words the two texts share </a:t>
            </a:r>
            <a:r>
              <a:rPr lang="en-DE" i="1" dirty="0"/>
              <a:t>in the same order</a:t>
            </a:r>
            <a:r>
              <a:rPr lang="en-DE" dirty="0"/>
              <a:t> (the longest common subsequence)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BERTScore</a:t>
            </a:r>
            <a:r>
              <a:rPr lang="en-US" dirty="0"/>
              <a:t>: </a:t>
            </a:r>
            <a:r>
              <a:rPr lang="en-DE" dirty="0"/>
              <a:t>Instead of exact words, it compares the </a:t>
            </a:r>
            <a:r>
              <a:rPr lang="en-DE" i="1" dirty="0"/>
              <a:t>meaning</a:t>
            </a:r>
            <a:r>
              <a:rPr lang="en-DE" dirty="0"/>
              <a:t> of individual words using context-aware embeddings and cosine similarity</a:t>
            </a:r>
            <a:endParaRPr lang="en-US" dirty="0"/>
          </a:p>
          <a:p>
            <a:endParaRPr lang="en-US" dirty="0"/>
          </a:p>
          <a:p>
            <a:r>
              <a:rPr lang="en-DE" dirty="0"/>
              <a:t>SBERT: Turns each </a:t>
            </a:r>
            <a:r>
              <a:rPr lang="en-DE" i="1" dirty="0"/>
              <a:t>whole sentence</a:t>
            </a:r>
            <a:r>
              <a:rPr lang="en-DE" dirty="0"/>
              <a:t> into a single vector and compares those vectors, capturing the overall meaning of the answer rather than matching it word by word.</a:t>
            </a:r>
            <a:endParaRPr lang="en-US" dirty="0"/>
          </a:p>
          <a:p>
            <a:endParaRPr lang="en-US" dirty="0"/>
          </a:p>
          <a:p>
            <a:r>
              <a:rPr lang="en-US" dirty="0"/>
              <a:t>Equal weights give the ACF score. Parameters chosen to give equal weighting. Fine tuning can be done based on preference (more accurate, more complete is desired).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Accuracy is strong across the board. ChatGPT leads at 88.9%, then Claude and Gemini. Out of 324 answers only three were incorrect — and crucially those were misinterpretations or missed code sections, not fabricated facts. That matters for high-stakes use.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DA4FB-ED9B-A401-C2F0-F0CD3273C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9650C-4131-B52D-7C8D-686D8BAC7B1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B057F570-5B3F-08F3-4BFC-FD113784E223}"/>
              </a:ext>
            </a:extLst>
          </p:cNvPr>
          <p:cNvSpPr>
            <a:spLocks noGrp="1"/>
          </p:cNvSpPr>
          <p:nvPr>
            <p:ph type="body" idx="1"/>
          </p:nvPr>
        </p:nvSpPr>
        <p:spPr/>
        <p:txBody>
          <a:bodyPr/>
          <a:lstStyle/>
          <a:p>
            <a:r>
              <a:rPr lang="en-US" dirty="0"/>
              <a:t>Rouge-L being strict has the highest variance and lowest average score. </a:t>
            </a:r>
            <a:r>
              <a:rPr lang="en-US" dirty="0" err="1"/>
              <a:t>BERTScore</a:t>
            </a:r>
            <a:r>
              <a:rPr lang="en-US" dirty="0"/>
              <a:t> has the lowest variance and highest average score. LLMs covering topics in a different way. Faithfulness is more balanced. All 3 models exceed at different things.</a:t>
            </a:r>
          </a:p>
        </p:txBody>
      </p:sp>
      <p:sp>
        <p:nvSpPr>
          <p:cNvPr id="4" name="Slide Number Placeholder 3">
            <a:extLst>
              <a:ext uri="{FF2B5EF4-FFF2-40B4-BE49-F238E27FC236}">
                <a16:creationId xmlns:a16="http://schemas.microsoft.com/office/drawing/2014/main" id="{C72AE763-2FAF-649E-228E-FA9F2FEF6DA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2520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All three score in a tight band on the composite ACF. The story is </a:t>
            </a:r>
            <a:r>
              <a:rPr lang="en-US" dirty="0" err="1"/>
              <a:t>specialisation</a:t>
            </a:r>
            <a:r>
              <a:rPr lang="en-US" dirty="0"/>
              <a:t>: ChatGPT is most accurate and faithful and wins overall; Claude is the most complete; Gemini matches on semantic similarity and is the most concise. Model choice can therefore follow the communication need.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8D85C-EB2A-4512-08DB-0B0A3DC66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49E05-5F31-7B3A-AF71-9D3568B10687}"/>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0E065774-443D-F489-649D-F0FB33757842}"/>
              </a:ext>
            </a:extLst>
          </p:cNvPr>
          <p:cNvSpPr>
            <a:spLocks noGrp="1"/>
          </p:cNvSpPr>
          <p:nvPr>
            <p:ph type="body" idx="1"/>
          </p:nvPr>
        </p:nvSpPr>
        <p:spPr/>
        <p:txBody>
          <a:bodyPr/>
          <a:lstStyle/>
          <a:p>
            <a:r>
              <a:rPr lang="en-DE" sz="1200" kern="1200" dirty="0">
                <a:solidFill>
                  <a:schemeClr val="tx1"/>
                </a:solidFill>
                <a:effectLst/>
                <a:latin typeface="+mn-lt"/>
                <a:ea typeface="+mn-ea"/>
                <a:cs typeface="+mn-cs"/>
              </a:rPr>
              <a:t>Readability is how easily a reader can understand a written body of text. </a:t>
            </a:r>
          </a:p>
          <a:p>
            <a:endParaRPr lang="en-DE" sz="1200" kern="1200" dirty="0">
              <a:solidFill>
                <a:schemeClr val="tx1"/>
              </a:solidFill>
              <a:effectLst/>
              <a:latin typeface="+mn-lt"/>
              <a:ea typeface="+mn-ea"/>
              <a:cs typeface="+mn-cs"/>
            </a:endParaRPr>
          </a:p>
          <a:p>
            <a:r>
              <a:rPr lang="en-DE" sz="1200" kern="1200" dirty="0">
                <a:solidFill>
                  <a:schemeClr val="tx1"/>
                </a:solidFill>
                <a:effectLst/>
                <a:latin typeface="+mn-lt"/>
                <a:ea typeface="+mn-ea"/>
                <a:cs typeface="+mn-cs"/>
              </a:rPr>
              <a:t>Higher readability level is crucial to ensure clear and accessible information, where text can be more easily understood and connected to the reader’s current knowledge base.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Selected these scores because they covered a range of different ways to compute readability. Looking at structural (sentence) and lexical (word) difficulty.</a:t>
            </a:r>
          </a:p>
        </p:txBody>
      </p:sp>
      <p:sp>
        <p:nvSpPr>
          <p:cNvPr id="4" name="Slide Number Placeholder 3">
            <a:extLst>
              <a:ext uri="{FF2B5EF4-FFF2-40B4-BE49-F238E27FC236}">
                <a16:creationId xmlns:a16="http://schemas.microsoft.com/office/drawing/2014/main" id="{94099CD5-6A16-B459-EED0-EC6ED09FFDD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545247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Readability is a grade level — lower is easier. Humans are the most readable. Gemini comes closest and is the easiest LLM; ChatGPT is the most consistent; Claude is hardest and most verbose (about three times as many difficult words as Gemini). The goal is to match the human baseline, not </a:t>
            </a:r>
            <a:r>
              <a:rPr lang="en-US" dirty="0" err="1"/>
              <a:t>minimise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The ACF score doubles as a diagnostic. Concrete categories (Data, Others, UI) score highest; the open-ended Output category lowest. The lowest question — ‘how does it weigh features’ — is ambiguous, so the LLMs answered a different, valid question. That flags questions and unclear system design to refine.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err="1"/>
              <a:t>Synthesise</a:t>
            </a:r>
            <a:r>
              <a:rPr lang="en-US" dirty="0"/>
              <a:t> the benchmarking. ChatGPT is the balanced choice for high-stakes use. Claude trades readability for completeness and depth — good for technical readers. Gemini trades accuracy for accessibility — good for quick summaries. One caveat: Claude’s completeness may be partly inflated by verbosity.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Lead with the safety point — readable wrong answers are the real risk, so the metrics must work together with human oversight. Then be candid about limitations (single domain, one human reference, verbosity bias) and map each to concrete future work, including LLM-as-a-judge to scale accuracy scoring.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Close on the headline averages — ACF of 0.70 with accuracy above 0.84. Three takeaways: strong despite a hard, subjective task; model strengths are distinct so choice should follow the use-case; and the framework feeds back into refining both the questions and the AI system.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Thank the examiners and open the floor. Have the backup slides ready for the likely questions on metric weighting, verbosity bias, reproducibility, and </a:t>
            </a:r>
            <a:r>
              <a:rPr lang="en-US" dirty="0" err="1"/>
              <a:t>generalisation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dirty="0"/>
              <a:t>Backup detail. Note the inverse pattern: Claude tops ROUGE-L (exact terms) while Gemini tops </a:t>
            </a:r>
            <a:r>
              <a:rPr lang="en-US" dirty="0" err="1"/>
              <a:t>BERTScore</a:t>
            </a:r>
            <a:r>
              <a:rPr lang="en-US" dirty="0"/>
              <a:t> (semantic), and Claude’s verbosity — about 91 words and 24 difficult words per answer — helps it capture information units but hurts readability.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F7C24-4270-D51A-EC0C-33A691E4D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C0F56-29EF-5B02-C09E-236D27137636}"/>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7BE8E23F-C23A-A06F-B5A3-934177363DE3}"/>
              </a:ext>
            </a:extLst>
          </p:cNvPr>
          <p:cNvSpPr>
            <a:spLocks noGrp="1"/>
          </p:cNvSpPr>
          <p:nvPr>
            <p:ph type="body" idx="1"/>
          </p:nvPr>
        </p:nvSpPr>
        <p:spPr/>
        <p:txBody>
          <a:bodyPr/>
          <a:lstStyle/>
          <a:p>
            <a:r>
              <a:rPr lang="en-US" dirty="0"/>
              <a:t>Data and Others performed the best. Clear questions with easily found answers in the source code.</a:t>
            </a:r>
          </a:p>
          <a:p>
            <a:endParaRPr lang="en-US" dirty="0"/>
          </a:p>
          <a:p>
            <a:r>
              <a:rPr lang="en-US" dirty="0"/>
              <a:t>Output performed the worst. Vague questions</a:t>
            </a:r>
          </a:p>
        </p:txBody>
      </p:sp>
      <p:sp>
        <p:nvSpPr>
          <p:cNvPr id="4" name="Slide Number Placeholder 3">
            <a:extLst>
              <a:ext uri="{FF2B5EF4-FFF2-40B4-BE49-F238E27FC236}">
                <a16:creationId xmlns:a16="http://schemas.microsoft.com/office/drawing/2014/main" id="{E7FD1006-B9FD-70D1-C2B6-DE2EAB0A4E1E}"/>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5942465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a:t>If pressed on readability: four complementary formulas, each capturing structural and lexical complexity differently, all on a grade-level scale. Using four guards against any single formula’s quirks — e.g. SMOG and Flesch-Kincaid inflated Claude’s longest answers.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F003-8A58-54C4-DD91-676BC76C2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92D96-E5B5-0104-5A1A-7D240A495BC5}"/>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1D88770C-16FB-F86A-5FBA-E1FF7862C089}"/>
              </a:ext>
            </a:extLst>
          </p:cNvPr>
          <p:cNvSpPr>
            <a:spLocks noGrp="1"/>
          </p:cNvSpPr>
          <p:nvPr>
            <p:ph type="body" idx="1"/>
          </p:nvPr>
        </p:nvSpPr>
        <p:spPr/>
        <p:txBody>
          <a:bodyPr/>
          <a:lstStyle/>
          <a:p>
            <a:r>
              <a:rPr lang="en-US"/>
              <a:t>Concrete illustration of how the ACF score functions as a feedback signal. The human meant the model’s internal split mechanics; the LLM described feature importance. Both are reasonable, so the low score reflects an ambiguous question, not a model failure.</a:t>
            </a:r>
          </a:p>
        </p:txBody>
      </p:sp>
      <p:sp>
        <p:nvSpPr>
          <p:cNvPr id="4" name="Slide Number Placeholder 3">
            <a:extLst>
              <a:ext uri="{FF2B5EF4-FFF2-40B4-BE49-F238E27FC236}">
                <a16:creationId xmlns:a16="http://schemas.microsoft.com/office/drawing/2014/main" id="{9FD51F9E-1016-1872-29FC-D75CCBD15155}"/>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9816304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D96D4-74EB-0B1F-6189-6661D9D19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3C37B-3B69-7868-B209-978A8BE684DF}"/>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21D5CA1E-3F5D-9D56-6403-963BDB67BF2A}"/>
              </a:ext>
            </a:extLst>
          </p:cNvPr>
          <p:cNvSpPr>
            <a:spLocks noGrp="1"/>
          </p:cNvSpPr>
          <p:nvPr>
            <p:ph type="body" idx="1"/>
          </p:nvPr>
        </p:nvSpPr>
        <p:spPr/>
        <p:txBody>
          <a:bodyPr/>
          <a:lstStyle/>
          <a:p>
            <a:r>
              <a:rPr lang="en-US"/>
              <a:t>Concrete illustration of how the ACF score functions as a feedback signal. The human meant the model’s internal split mechanics; the LLM described feature importance. Both are reasonable, so the low score reflects an ambiguous question, not a model failure.</a:t>
            </a:r>
          </a:p>
        </p:txBody>
      </p:sp>
      <p:sp>
        <p:nvSpPr>
          <p:cNvPr id="4" name="Slide Number Placeholder 3">
            <a:extLst>
              <a:ext uri="{FF2B5EF4-FFF2-40B4-BE49-F238E27FC236}">
                <a16:creationId xmlns:a16="http://schemas.microsoft.com/office/drawing/2014/main" id="{F012369F-A270-3B54-CDC2-1B82596BA680}"/>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8365355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illustration of how the ACF score functions as a feedback signal. The human meant the model’s internal split mechanics; the LLM described feature importance. Both are reasonable, so the low score reflects an ambiguous question, not a model failure.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US"/>
              <a:t>Concrete illustration of how the ACF score functions as a feedback signal. The human meant the model’s internal split mechanics; the LLM described feature importance. Both are reasonable, so the low score reflects an ambiguous question, not a model failure.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18AEE-33BD-E7A9-B2DF-48404FB07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0AC4C-D51A-6110-4978-FC8FEFDA9802}"/>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D6EE105E-B7C7-2255-DD2D-AEC58E30D2CB}"/>
              </a:ext>
            </a:extLst>
          </p:cNvPr>
          <p:cNvSpPr>
            <a:spLocks noGrp="1"/>
          </p:cNvSpPr>
          <p:nvPr>
            <p:ph type="body" idx="1"/>
          </p:nvPr>
        </p:nvSpPr>
        <p:spPr/>
        <p:txBody>
          <a:bodyPr/>
          <a:lstStyle/>
          <a:p>
            <a:r>
              <a:rPr lang="en-US"/>
              <a:t>Concrete illustration of how the ACF score functions as a feedback signal. The human meant the model’s internal split mechanics; the LLM described feature importance. Both are reasonable, so the low score reflects an ambiguous question, not a model failure.</a:t>
            </a:r>
          </a:p>
        </p:txBody>
      </p:sp>
      <p:sp>
        <p:nvSpPr>
          <p:cNvPr id="4" name="Slide Number Placeholder 3">
            <a:extLst>
              <a:ext uri="{FF2B5EF4-FFF2-40B4-BE49-F238E27FC236}">
                <a16:creationId xmlns:a16="http://schemas.microsoft.com/office/drawing/2014/main" id="{B431C6A6-B684-302D-7E24-EDBBF60D67CF}"/>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375690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microsoft.com/office/2018/10/relationships/comments" Target="../comments/modernComment_11E_0.xml"/><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6.sv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51.sv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5.svg"/></Relationships>
</file>

<file path=ppt/slides/_rels/slide34.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7040880" y="-1463040"/>
            <a:ext cx="3840480" cy="3840480"/>
          </a:xfrm>
          <a:prstGeom prst="ellipse">
            <a:avLst/>
          </a:prstGeom>
          <a:solidFill>
            <a:srgbClr val="127475">
              <a:alpha val="22000"/>
            </a:srgbClr>
          </a:solidFill>
          <a:ln/>
        </p:spPr>
        <p:txBody>
          <a:bodyPr/>
          <a:lstStyle/>
          <a:p>
            <a:endParaRPr lang="en-DE"/>
          </a:p>
        </p:txBody>
      </p:sp>
      <p:sp>
        <p:nvSpPr>
          <p:cNvPr id="3" name="Shape 1"/>
          <p:cNvSpPr/>
          <p:nvPr/>
        </p:nvSpPr>
        <p:spPr>
          <a:xfrm>
            <a:off x="8138160" y="3108960"/>
            <a:ext cx="2743200" cy="2743200"/>
          </a:xfrm>
          <a:prstGeom prst="ellipse">
            <a:avLst/>
          </a:prstGeom>
          <a:solidFill>
            <a:srgbClr val="3E9D9B">
              <a:alpha val="18000"/>
            </a:srgbClr>
          </a:solidFill>
          <a:ln/>
        </p:spPr>
        <p:txBody>
          <a:bodyPr/>
          <a:lstStyle/>
          <a:p>
            <a:endParaRPr lang="en-DE"/>
          </a:p>
        </p:txBody>
      </p:sp>
      <p:sp>
        <p:nvSpPr>
          <p:cNvPr id="4" name="Shape 2"/>
          <p:cNvSpPr/>
          <p:nvPr/>
        </p:nvSpPr>
        <p:spPr>
          <a:xfrm>
            <a:off x="-1097280" y="3566160"/>
            <a:ext cx="2926080" cy="2926080"/>
          </a:xfrm>
          <a:prstGeom prst="ellipse">
            <a:avLst/>
          </a:prstGeom>
          <a:solidFill>
            <a:srgbClr val="127475">
              <a:alpha val="16000"/>
            </a:srgbClr>
          </a:solidFill>
          <a:ln/>
        </p:spPr>
        <p:txBody>
          <a:bodyPr/>
          <a:lstStyle/>
          <a:p>
            <a:endParaRPr lang="en-DE"/>
          </a:p>
        </p:txBody>
      </p:sp>
      <p:sp>
        <p:nvSpPr>
          <p:cNvPr id="5" name="Shape 3"/>
          <p:cNvSpPr/>
          <p:nvPr/>
        </p:nvSpPr>
        <p:spPr>
          <a:xfrm>
            <a:off x="640080" y="566928"/>
            <a:ext cx="713232" cy="713232"/>
          </a:xfrm>
          <a:prstGeom prst="ellipse">
            <a:avLst/>
          </a:prstGeom>
          <a:solidFill>
            <a:srgbClr val="127475"/>
          </a:solidFill>
          <a:ln/>
        </p:spPr>
        <p:txBody>
          <a:bodyPr/>
          <a:lstStyle/>
          <a:p>
            <a:endParaRPr lang="en-DE"/>
          </a:p>
        </p:txBody>
      </p:sp>
      <p:pic>
        <p:nvPicPr>
          <p:cNvPr id="6" name="Image 0" descr="preencoded.png"/>
          <p:cNvPicPr>
            <a:picLocks noChangeAspect="1"/>
          </p:cNvPicPr>
          <p:nvPr/>
        </p:nvPicPr>
        <p:blipFill>
          <a:blip r:embed="rId3"/>
          <a:stretch>
            <a:fillRect/>
          </a:stretch>
        </p:blipFill>
        <p:spPr>
          <a:xfrm>
            <a:off x="825520" y="752368"/>
            <a:ext cx="342351" cy="342351"/>
          </a:xfrm>
          <a:prstGeom prst="rect">
            <a:avLst/>
          </a:prstGeom>
        </p:spPr>
      </p:pic>
      <p:sp>
        <p:nvSpPr>
          <p:cNvPr id="7" name="Text 4"/>
          <p:cNvSpPr/>
          <p:nvPr/>
        </p:nvSpPr>
        <p:spPr>
          <a:xfrm>
            <a:off x="1481328" y="603504"/>
            <a:ext cx="6858000" cy="640080"/>
          </a:xfrm>
          <a:prstGeom prst="rect">
            <a:avLst/>
          </a:prstGeom>
          <a:noFill/>
          <a:ln/>
        </p:spPr>
        <p:txBody>
          <a:bodyPr wrap="square" lIns="0" tIns="0" rIns="0" bIns="0" rtlCol="0" anchor="ctr"/>
          <a:lstStyle/>
          <a:p>
            <a:pPr marL="0" indent="0">
              <a:buNone/>
            </a:pPr>
            <a:r>
              <a:rPr lang="en-US" sz="1300" b="1" kern="0" spc="200" dirty="0">
                <a:solidFill>
                  <a:srgbClr val="9AD1D4"/>
                </a:solidFill>
                <a:latin typeface="Calibri" pitchFamily="34" charset="0"/>
                <a:ea typeface="Calibri" pitchFamily="34" charset="-122"/>
                <a:cs typeface="Calibri" pitchFamily="34" charset="-120"/>
              </a:rPr>
              <a:t>MSc Data Science · Colloquium</a:t>
            </a:r>
            <a:endParaRPr lang="en-US" sz="1300" dirty="0"/>
          </a:p>
        </p:txBody>
      </p:sp>
      <p:sp>
        <p:nvSpPr>
          <p:cNvPr id="8" name="Text 5"/>
          <p:cNvSpPr/>
          <p:nvPr/>
        </p:nvSpPr>
        <p:spPr>
          <a:xfrm>
            <a:off x="640080" y="1481328"/>
            <a:ext cx="7955280" cy="1828800"/>
          </a:xfrm>
          <a:prstGeom prst="rect">
            <a:avLst/>
          </a:prstGeom>
          <a:noFill/>
          <a:ln/>
        </p:spPr>
        <p:txBody>
          <a:bodyPr wrap="square" lIns="0" tIns="0" rIns="0" bIns="0" rtlCol="0" anchor="t"/>
          <a:lstStyle/>
          <a:p>
            <a:pPr marL="0" indent="0">
              <a:lnSpc>
                <a:spcPct val="102000"/>
              </a:lnSpc>
              <a:buNone/>
            </a:pPr>
            <a:r>
              <a:rPr lang="en-US" sz="3100" b="1" dirty="0">
                <a:solidFill>
                  <a:srgbClr val="FFFFFF"/>
                </a:solidFill>
                <a:latin typeface="Cambria" pitchFamily="34" charset="0"/>
                <a:ea typeface="Cambria" pitchFamily="34" charset="-122"/>
                <a:cs typeface="Cambria" pitchFamily="34" charset="-120"/>
              </a:rPr>
              <a:t>Conversational Explanations using</a:t>
            </a:r>
            <a:endParaRPr lang="en-US" sz="3100" dirty="0"/>
          </a:p>
          <a:p>
            <a:pPr marL="0" indent="0">
              <a:lnSpc>
                <a:spcPct val="102000"/>
              </a:lnSpc>
              <a:buNone/>
            </a:pPr>
            <a:r>
              <a:rPr lang="en-US" sz="3100" b="1" dirty="0">
                <a:solidFill>
                  <a:srgbClr val="FFFFFF"/>
                </a:solidFill>
                <a:latin typeface="Cambria" pitchFamily="34" charset="0"/>
                <a:ea typeface="Cambria" pitchFamily="34" charset="-122"/>
                <a:cs typeface="Cambria" pitchFamily="34" charset="-120"/>
              </a:rPr>
              <a:t>Large Language Models on top of the</a:t>
            </a:r>
            <a:endParaRPr lang="en-US" sz="3100" dirty="0"/>
          </a:p>
          <a:p>
            <a:pPr marL="0" indent="0">
              <a:lnSpc>
                <a:spcPct val="102000"/>
              </a:lnSpc>
              <a:buNone/>
            </a:pPr>
            <a:r>
              <a:rPr lang="en-US" sz="3100" b="1" dirty="0" err="1">
                <a:solidFill>
                  <a:srgbClr val="FFFFFF"/>
                </a:solidFill>
                <a:latin typeface="Cambria" pitchFamily="34" charset="0"/>
                <a:ea typeface="Cambria" pitchFamily="34" charset="-122"/>
                <a:cs typeface="Cambria" pitchFamily="34" charset="-120"/>
              </a:rPr>
              <a:t>eXplainable</a:t>
            </a:r>
            <a:r>
              <a:rPr lang="en-US" sz="3100" b="1">
                <a:solidFill>
                  <a:srgbClr val="FFFFFF"/>
                </a:solidFill>
                <a:latin typeface="Cambria" pitchFamily="34" charset="0"/>
                <a:ea typeface="Cambria" pitchFamily="34" charset="-122"/>
                <a:cs typeface="Cambria" pitchFamily="34" charset="-120"/>
              </a:rPr>
              <a:t> AI Question Bank</a:t>
            </a:r>
            <a:endParaRPr lang="en-US" sz="3100"/>
          </a:p>
        </p:txBody>
      </p:sp>
      <p:sp>
        <p:nvSpPr>
          <p:cNvPr id="9" name="Text 6"/>
          <p:cNvSpPr/>
          <p:nvPr/>
        </p:nvSpPr>
        <p:spPr>
          <a:xfrm>
            <a:off x="640080" y="3584448"/>
            <a:ext cx="7863840" cy="365760"/>
          </a:xfrm>
          <a:prstGeom prst="rect">
            <a:avLst/>
          </a:prstGeom>
          <a:noFill/>
          <a:ln/>
        </p:spPr>
        <p:txBody>
          <a:bodyPr wrap="square" lIns="0" tIns="0" rIns="0" bIns="0" rtlCol="0" anchor="ctr"/>
          <a:lstStyle/>
          <a:p>
            <a:pPr marL="0" indent="0">
              <a:buNone/>
            </a:pPr>
            <a:r>
              <a:rPr lang="en-US" sz="1800" b="1">
                <a:solidFill>
                  <a:srgbClr val="E9B44C"/>
                </a:solidFill>
                <a:latin typeface="Calibri" pitchFamily="34" charset="0"/>
                <a:ea typeface="Calibri" pitchFamily="34" charset="-122"/>
                <a:cs typeface="Calibri" pitchFamily="34" charset="-120"/>
              </a:rPr>
              <a:t>Henry El-Jawhari</a:t>
            </a:r>
            <a:endParaRPr lang="en-US" sz="1800"/>
          </a:p>
        </p:txBody>
      </p:sp>
      <p:sp>
        <p:nvSpPr>
          <p:cNvPr id="11" name="Text 8"/>
          <p:cNvSpPr/>
          <p:nvPr/>
        </p:nvSpPr>
        <p:spPr>
          <a:xfrm>
            <a:off x="640080" y="4334256"/>
            <a:ext cx="7863840" cy="292608"/>
          </a:xfrm>
          <a:prstGeom prst="rect">
            <a:avLst/>
          </a:prstGeom>
          <a:noFill/>
          <a:ln/>
        </p:spPr>
        <p:txBody>
          <a:bodyPr wrap="square" lIns="0" tIns="0" rIns="0" bIns="0" rtlCol="0" anchor="ctr"/>
          <a:lstStyle/>
          <a:p>
            <a:pPr marL="0" indent="0">
              <a:buNone/>
            </a:pPr>
            <a:r>
              <a:rPr lang="en-US" sz="1100">
                <a:solidFill>
                  <a:srgbClr val="8AA0A3"/>
                </a:solidFill>
                <a:latin typeface="Calibri" pitchFamily="34" charset="0"/>
                <a:ea typeface="Calibri" pitchFamily="34" charset="-122"/>
                <a:cs typeface="Calibri" pitchFamily="34" charset="-120"/>
              </a:rPr>
              <a:t>Freie Universität Berlin  ·  Center for AI in Public Health Research (ZKI-PH), Robert Koch Institute  ·  June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7315200" y="-1280160"/>
            <a:ext cx="3474720" cy="3474720"/>
          </a:xfrm>
          <a:prstGeom prst="ellipse">
            <a:avLst/>
          </a:prstGeom>
          <a:solidFill>
            <a:srgbClr val="127475">
              <a:alpha val="20000"/>
            </a:srgbClr>
          </a:solidFill>
          <a:ln/>
        </p:spPr>
        <p:txBody>
          <a:bodyPr/>
          <a:lstStyle/>
          <a:p>
            <a:endParaRPr lang="en-DE"/>
          </a:p>
        </p:txBody>
      </p:sp>
      <p:sp>
        <p:nvSpPr>
          <p:cNvPr id="3" name="Shape 1"/>
          <p:cNvSpPr/>
          <p:nvPr/>
        </p:nvSpPr>
        <p:spPr>
          <a:xfrm>
            <a:off x="548640" y="457200"/>
            <a:ext cx="603504" cy="603504"/>
          </a:xfrm>
          <a:prstGeom prst="ellipse">
            <a:avLst/>
          </a:prstGeom>
          <a:solidFill>
            <a:srgbClr val="E9B44C"/>
          </a:solidFill>
          <a:ln/>
        </p:spPr>
        <p:txBody>
          <a:bodyPr/>
          <a:lstStyle/>
          <a:p>
            <a:endParaRPr lang="en-DE"/>
          </a:p>
        </p:txBody>
      </p:sp>
      <p:pic>
        <p:nvPicPr>
          <p:cNvPr id="4" name="Image 0" descr="preencoded.png"/>
          <p:cNvPicPr>
            <a:picLocks noChangeAspect="1"/>
          </p:cNvPicPr>
          <p:nvPr/>
        </p:nvPicPr>
        <p:blipFill>
          <a:blip r:embed="rId3"/>
          <a:stretch>
            <a:fillRect/>
          </a:stretch>
        </p:blipFill>
        <p:spPr>
          <a:xfrm>
            <a:off x="705551" y="614111"/>
            <a:ext cx="289682" cy="289682"/>
          </a:xfrm>
          <a:prstGeom prst="rect">
            <a:avLst/>
          </a:prstGeom>
        </p:spPr>
      </p:pic>
      <p:sp>
        <p:nvSpPr>
          <p:cNvPr id="5" name="Text 2"/>
          <p:cNvSpPr/>
          <p:nvPr/>
        </p:nvSpPr>
        <p:spPr>
          <a:xfrm>
            <a:off x="1280160" y="475488"/>
            <a:ext cx="7315200" cy="54864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Research goal</a:t>
            </a:r>
            <a:endParaRPr lang="en-US" sz="2600"/>
          </a:p>
        </p:txBody>
      </p:sp>
      <p:grpSp>
        <p:nvGrpSpPr>
          <p:cNvPr id="43" name="Group 42">
            <a:extLst>
              <a:ext uri="{FF2B5EF4-FFF2-40B4-BE49-F238E27FC236}">
                <a16:creationId xmlns:a16="http://schemas.microsoft.com/office/drawing/2014/main" id="{8A09954F-355C-F8EA-2E5C-56E22065E712}"/>
              </a:ext>
            </a:extLst>
          </p:cNvPr>
          <p:cNvGrpSpPr/>
          <p:nvPr/>
        </p:nvGrpSpPr>
        <p:grpSpPr>
          <a:xfrm>
            <a:off x="548640" y="1908810"/>
            <a:ext cx="8046720" cy="1325880"/>
            <a:chOff x="548640" y="2177628"/>
            <a:chExt cx="8046720" cy="1325880"/>
          </a:xfrm>
        </p:grpSpPr>
        <p:sp>
          <p:nvSpPr>
            <p:cNvPr id="6" name="Shape 3"/>
            <p:cNvSpPr/>
            <p:nvPr/>
          </p:nvSpPr>
          <p:spPr>
            <a:xfrm>
              <a:off x="548640" y="2177628"/>
              <a:ext cx="8046720" cy="1325880"/>
            </a:xfrm>
            <a:prstGeom prst="roundRect">
              <a:avLst>
                <a:gd name="adj" fmla="val 551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7" name="Text 4"/>
            <p:cNvSpPr/>
            <p:nvPr/>
          </p:nvSpPr>
          <p:spPr>
            <a:xfrm>
              <a:off x="868680" y="2286000"/>
              <a:ext cx="7406640" cy="1143000"/>
            </a:xfrm>
            <a:prstGeom prst="rect">
              <a:avLst/>
            </a:prstGeom>
            <a:noFill/>
            <a:ln/>
          </p:spPr>
          <p:txBody>
            <a:bodyPr wrap="square" lIns="0" tIns="0" rIns="0" bIns="0" rtlCol="0" anchor="ctr"/>
            <a:lstStyle/>
            <a:p>
              <a:pPr marL="0" indent="0">
                <a:lnSpc>
                  <a:spcPct val="108000"/>
                </a:lnSpc>
                <a:buNone/>
              </a:pPr>
              <a:r>
                <a:rPr lang="en-US" sz="1900" b="1">
                  <a:solidFill>
                    <a:srgbClr val="FFFFFF"/>
                  </a:solidFill>
                  <a:latin typeface="Cambria" pitchFamily="34" charset="0"/>
                  <a:ea typeface="Cambria" pitchFamily="34" charset="-122"/>
                  <a:cs typeface="Cambria" pitchFamily="34" charset="-120"/>
                </a:rPr>
                <a:t>Can LLMs effectively communicate an AI system’s architecture, results, and explanations to domain experts — and how do we measure it?</a:t>
              </a:r>
              <a:endParaRPr lang="en-US" sz="1900"/>
            </a:p>
          </p:txBody>
        </p:sp>
      </p:grpSp>
      <p:sp>
        <p:nvSpPr>
          <p:cNvPr id="24" name="Text 18"/>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4</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Why does explainability matter?</a:t>
            </a:r>
            <a:endParaRPr lang="en-US" sz="2700"/>
          </a:p>
        </p:txBody>
      </p:sp>
      <p:grpSp>
        <p:nvGrpSpPr>
          <p:cNvPr id="23" name="Group 22">
            <a:extLst>
              <a:ext uri="{FF2B5EF4-FFF2-40B4-BE49-F238E27FC236}">
                <a16:creationId xmlns:a16="http://schemas.microsoft.com/office/drawing/2014/main" id="{80F0EF31-1D96-99C8-F094-A903D878F079}"/>
              </a:ext>
            </a:extLst>
          </p:cNvPr>
          <p:cNvGrpSpPr/>
          <p:nvPr/>
        </p:nvGrpSpPr>
        <p:grpSpPr>
          <a:xfrm>
            <a:off x="457200" y="1333530"/>
            <a:ext cx="8229600" cy="3191256"/>
            <a:chOff x="457200" y="1259281"/>
            <a:chExt cx="8229600" cy="3191256"/>
          </a:xfrm>
        </p:grpSpPr>
        <p:sp>
          <p:nvSpPr>
            <p:cNvPr id="6" name="Shape 3"/>
            <p:cNvSpPr/>
            <p:nvPr/>
          </p:nvSpPr>
          <p:spPr>
            <a:xfrm>
              <a:off x="457200" y="1259281"/>
              <a:ext cx="8229600" cy="960120"/>
            </a:xfrm>
            <a:prstGeom prst="roundRect">
              <a:avLst>
                <a:gd name="adj" fmla="val 76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76656" y="1443512"/>
              <a:ext cx="566928" cy="566928"/>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824057" y="1590913"/>
              <a:ext cx="272125" cy="272125"/>
            </a:xfrm>
            <a:prstGeom prst="rect">
              <a:avLst/>
            </a:prstGeom>
          </p:spPr>
        </p:pic>
        <p:sp>
          <p:nvSpPr>
            <p:cNvPr id="9" name="Text 5"/>
            <p:cNvSpPr/>
            <p:nvPr/>
          </p:nvSpPr>
          <p:spPr>
            <a:xfrm>
              <a:off x="1463040" y="1370360"/>
              <a:ext cx="7040880" cy="329184"/>
            </a:xfrm>
            <a:prstGeom prst="rect">
              <a:avLst/>
            </a:prstGeom>
            <a:noFill/>
            <a:ln/>
          </p:spPr>
          <p:txBody>
            <a:bodyPr wrap="square" lIns="0" tIns="0" rIns="0" bIns="0" rtlCol="0" anchor="ctr"/>
            <a:lstStyle/>
            <a:p>
              <a:pPr marL="0" indent="0">
                <a:buNone/>
              </a:pPr>
              <a:r>
                <a:rPr lang="en-US" sz="1650" b="1">
                  <a:solidFill>
                    <a:srgbClr val="0A2E36"/>
                  </a:solidFill>
                  <a:latin typeface="Cambria" pitchFamily="34" charset="0"/>
                  <a:ea typeface="Cambria" pitchFamily="34" charset="-122"/>
                  <a:cs typeface="Cambria" pitchFamily="34" charset="-120"/>
                </a:rPr>
                <a:t>Black boxes</a:t>
              </a:r>
              <a:endParaRPr lang="en-US" sz="1650"/>
            </a:p>
          </p:txBody>
        </p:sp>
        <p:sp>
          <p:nvSpPr>
            <p:cNvPr id="10" name="Text 6"/>
            <p:cNvSpPr/>
            <p:nvPr/>
          </p:nvSpPr>
          <p:spPr>
            <a:xfrm>
              <a:off x="1463040" y="1699544"/>
              <a:ext cx="7040880" cy="457200"/>
            </a:xfrm>
            <a:prstGeom prst="rect">
              <a:avLst/>
            </a:prstGeom>
            <a:noFill/>
            <a:ln/>
          </p:spPr>
          <p:txBody>
            <a:bodyPr wrap="square" lIns="0" tIns="0" rIns="0" bIns="0" rtlCol="0" anchor="ctr"/>
            <a:lstStyle/>
            <a:p>
              <a:pPr marL="0" indent="0">
                <a:buNone/>
              </a:pPr>
              <a:r>
                <a:rPr lang="en-US" sz="1250">
                  <a:solidFill>
                    <a:srgbClr val="55686B"/>
                  </a:solidFill>
                  <a:latin typeface="Calibri" pitchFamily="34" charset="0"/>
                  <a:ea typeface="Calibri" pitchFamily="34" charset="-122"/>
                  <a:cs typeface="Calibri" pitchFamily="34" charset="-120"/>
                </a:rPr>
                <a:t>Justification for decisions are often non-existent or hidden behind proprietary algorithms.</a:t>
              </a:r>
              <a:endParaRPr lang="en-US" sz="1250"/>
            </a:p>
          </p:txBody>
        </p:sp>
        <p:sp>
          <p:nvSpPr>
            <p:cNvPr id="11" name="Shape 7"/>
            <p:cNvSpPr/>
            <p:nvPr/>
          </p:nvSpPr>
          <p:spPr>
            <a:xfrm>
              <a:off x="457200" y="2374849"/>
              <a:ext cx="8229600" cy="960120"/>
            </a:xfrm>
            <a:prstGeom prst="roundRect">
              <a:avLst>
                <a:gd name="adj" fmla="val 76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676656" y="2559080"/>
              <a:ext cx="566928" cy="566928"/>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824057" y="2706481"/>
              <a:ext cx="272125" cy="272125"/>
            </a:xfrm>
            <a:prstGeom prst="rect">
              <a:avLst/>
            </a:prstGeom>
          </p:spPr>
        </p:pic>
        <p:sp>
          <p:nvSpPr>
            <p:cNvPr id="14" name="Text 9"/>
            <p:cNvSpPr/>
            <p:nvPr/>
          </p:nvSpPr>
          <p:spPr>
            <a:xfrm>
              <a:off x="1463040" y="2485928"/>
              <a:ext cx="7040880" cy="329184"/>
            </a:xfrm>
            <a:prstGeom prst="rect">
              <a:avLst/>
            </a:prstGeom>
            <a:noFill/>
            <a:ln/>
          </p:spPr>
          <p:txBody>
            <a:bodyPr wrap="square" lIns="0" tIns="0" rIns="0" bIns="0" rtlCol="0" anchor="ctr"/>
            <a:lstStyle/>
            <a:p>
              <a:pPr marL="0" indent="0">
                <a:buNone/>
              </a:pPr>
              <a:r>
                <a:rPr lang="en-US" sz="1650" b="1">
                  <a:solidFill>
                    <a:srgbClr val="0A2E36"/>
                  </a:solidFill>
                  <a:latin typeface="Cambria" pitchFamily="34" charset="0"/>
                  <a:ea typeface="Cambria" pitchFamily="34" charset="-122"/>
                  <a:cs typeface="Cambria" pitchFamily="34" charset="-120"/>
                </a:rPr>
                <a:t>High-stakes use</a:t>
              </a:r>
              <a:endParaRPr lang="en-US" sz="1650"/>
            </a:p>
          </p:txBody>
        </p:sp>
        <p:sp>
          <p:nvSpPr>
            <p:cNvPr id="15" name="Text 10"/>
            <p:cNvSpPr/>
            <p:nvPr/>
          </p:nvSpPr>
          <p:spPr>
            <a:xfrm>
              <a:off x="1463040" y="2815112"/>
              <a:ext cx="7040880" cy="457200"/>
            </a:xfrm>
            <a:prstGeom prst="rect">
              <a:avLst/>
            </a:prstGeom>
            <a:noFill/>
            <a:ln/>
          </p:spPr>
          <p:txBody>
            <a:bodyPr wrap="square" lIns="0" tIns="0" rIns="0" bIns="0" rtlCol="0" anchor="ctr"/>
            <a:lstStyle/>
            <a:p>
              <a:pPr marL="0" indent="0">
                <a:buNone/>
              </a:pPr>
              <a:r>
                <a:rPr lang="en-US" sz="1250">
                  <a:solidFill>
                    <a:srgbClr val="55686B"/>
                  </a:solidFill>
                  <a:latin typeface="Calibri" pitchFamily="34" charset="0"/>
                  <a:ea typeface="Calibri" pitchFamily="34" charset="-122"/>
                  <a:cs typeface="Calibri" pitchFamily="34" charset="-120"/>
                </a:rPr>
                <a:t>Healthcare and other high-risk domains require transparency before AI can be trusted and adopted.</a:t>
              </a:r>
              <a:endParaRPr lang="en-US" sz="1250"/>
            </a:p>
          </p:txBody>
        </p:sp>
        <p:sp>
          <p:nvSpPr>
            <p:cNvPr id="16" name="Shape 11"/>
            <p:cNvSpPr/>
            <p:nvPr/>
          </p:nvSpPr>
          <p:spPr>
            <a:xfrm>
              <a:off x="457200" y="3490417"/>
              <a:ext cx="8229600" cy="960120"/>
            </a:xfrm>
            <a:prstGeom prst="roundRect">
              <a:avLst>
                <a:gd name="adj" fmla="val 76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676656" y="3674648"/>
              <a:ext cx="566928" cy="566928"/>
            </a:xfrm>
            <a:prstGeom prst="ellipse">
              <a:avLst/>
            </a:prstGeom>
            <a:solidFill>
              <a:srgbClr val="127475"/>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824057" y="3822049"/>
              <a:ext cx="272125" cy="272125"/>
            </a:xfrm>
            <a:prstGeom prst="rect">
              <a:avLst/>
            </a:prstGeom>
          </p:spPr>
        </p:pic>
        <p:sp>
          <p:nvSpPr>
            <p:cNvPr id="19" name="Text 13"/>
            <p:cNvSpPr/>
            <p:nvPr/>
          </p:nvSpPr>
          <p:spPr>
            <a:xfrm>
              <a:off x="1463040" y="3601496"/>
              <a:ext cx="7040880" cy="329184"/>
            </a:xfrm>
            <a:prstGeom prst="rect">
              <a:avLst/>
            </a:prstGeom>
            <a:noFill/>
            <a:ln/>
          </p:spPr>
          <p:txBody>
            <a:bodyPr wrap="square" lIns="0" tIns="0" rIns="0" bIns="0" rtlCol="0" anchor="ctr"/>
            <a:lstStyle/>
            <a:p>
              <a:pPr marL="0" indent="0">
                <a:buNone/>
              </a:pPr>
              <a:r>
                <a:rPr lang="en-US" sz="1650" b="1">
                  <a:solidFill>
                    <a:srgbClr val="0A2E36"/>
                  </a:solidFill>
                  <a:latin typeface="Cambria" pitchFamily="34" charset="0"/>
                  <a:ea typeface="Cambria" pitchFamily="34" charset="-122"/>
                  <a:cs typeface="Cambria" pitchFamily="34" charset="-120"/>
                </a:rPr>
                <a:t>Regulation</a:t>
              </a:r>
              <a:endParaRPr lang="en-US" sz="1650"/>
            </a:p>
          </p:txBody>
        </p:sp>
        <p:sp>
          <p:nvSpPr>
            <p:cNvPr id="20" name="Text 14"/>
            <p:cNvSpPr/>
            <p:nvPr/>
          </p:nvSpPr>
          <p:spPr>
            <a:xfrm>
              <a:off x="1463040" y="3930680"/>
              <a:ext cx="7040880" cy="457200"/>
            </a:xfrm>
            <a:prstGeom prst="rect">
              <a:avLst/>
            </a:prstGeom>
            <a:noFill/>
            <a:ln/>
          </p:spPr>
          <p:txBody>
            <a:bodyPr wrap="square" lIns="0" tIns="0" rIns="0" bIns="0" rtlCol="0" anchor="ctr"/>
            <a:lstStyle/>
            <a:p>
              <a:pPr marL="0" indent="0">
                <a:buNone/>
              </a:pPr>
              <a:r>
                <a:rPr lang="en-US" sz="1250">
                  <a:solidFill>
                    <a:srgbClr val="55686B"/>
                  </a:solidFill>
                  <a:latin typeface="Calibri" pitchFamily="34" charset="0"/>
                  <a:ea typeface="Calibri" pitchFamily="34" charset="-122"/>
                  <a:cs typeface="Calibri" pitchFamily="34" charset="-120"/>
                </a:rPr>
                <a:t>The EU AI Act and the GDPR “right to explanation” now require explainability for high-risk systems.</a:t>
              </a:r>
              <a:endParaRPr lang="en-US" sz="1250"/>
            </a:p>
          </p:txBody>
        </p:sp>
      </p:grpSp>
      <p:sp>
        <p:nvSpPr>
          <p:cNvPr id="22" name="Text 16"/>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How do we achieve explainability?</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Keeping humans in control, responsible, and accountable while opening the black box.</a:t>
            </a:r>
            <a:endParaRPr lang="en-US" sz="1250"/>
          </a:p>
        </p:txBody>
      </p:sp>
      <p:sp>
        <p:nvSpPr>
          <p:cNvPr id="6" name="Shape 3"/>
          <p:cNvSpPr/>
          <p:nvPr/>
        </p:nvSpPr>
        <p:spPr>
          <a:xfrm>
            <a:off x="457200" y="1417320"/>
            <a:ext cx="4023360"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58368" y="1609344"/>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3"/>
          <a:stretch>
            <a:fillRect/>
          </a:stretch>
        </p:blipFill>
        <p:spPr>
          <a:xfrm>
            <a:off x="791505" y="1742481"/>
            <a:ext cx="245791" cy="245791"/>
          </a:xfrm>
          <a:prstGeom prst="rect">
            <a:avLst/>
          </a:prstGeom>
        </p:spPr>
      </p:pic>
      <p:sp>
        <p:nvSpPr>
          <p:cNvPr id="9" name="Text 5"/>
          <p:cNvSpPr/>
          <p:nvPr/>
        </p:nvSpPr>
        <p:spPr>
          <a:xfrm>
            <a:off x="1298448" y="1645920"/>
            <a:ext cx="3017520" cy="310896"/>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Human-centred AI (HC-AI)</a:t>
            </a:r>
            <a:endParaRPr lang="en-US" sz="1450"/>
          </a:p>
        </p:txBody>
      </p:sp>
      <p:sp>
        <p:nvSpPr>
          <p:cNvPr id="10" name="Text 6"/>
          <p:cNvSpPr/>
          <p:nvPr/>
        </p:nvSpPr>
        <p:spPr>
          <a:xfrm>
            <a:off x="658368" y="2121408"/>
            <a:ext cx="3657600" cy="640080"/>
          </a:xfrm>
          <a:prstGeom prst="rect">
            <a:avLst/>
          </a:prstGeom>
          <a:noFill/>
          <a:ln/>
        </p:spPr>
        <p:txBody>
          <a:bodyPr wrap="square" lIns="0" tIns="0" rIns="0" bIns="0" rtlCol="0" anchor="ctr"/>
          <a:lstStyle/>
          <a:p>
            <a:pPr marL="0" indent="0">
              <a:buNone/>
            </a:pPr>
            <a:r>
              <a:rPr lang="en-US" sz="1200" dirty="0">
                <a:solidFill>
                  <a:srgbClr val="55686B"/>
                </a:solidFill>
                <a:latin typeface="Calibri" pitchFamily="34" charset="0"/>
                <a:ea typeface="Calibri" pitchFamily="34" charset="-122"/>
                <a:cs typeface="Calibri" pitchFamily="34" charset="-120"/>
              </a:rPr>
              <a:t>Research philosophy and design approach. AI should empower people, not replace them.</a:t>
            </a:r>
          </a:p>
        </p:txBody>
      </p:sp>
      <p:sp>
        <p:nvSpPr>
          <p:cNvPr id="11" name="Shape 7"/>
          <p:cNvSpPr/>
          <p:nvPr/>
        </p:nvSpPr>
        <p:spPr>
          <a:xfrm>
            <a:off x="4663440" y="1417320"/>
            <a:ext cx="4023360"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4864608" y="1609344"/>
            <a:ext cx="512064" cy="512064"/>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4"/>
          <a:stretch>
            <a:fillRect/>
          </a:stretch>
        </p:blipFill>
        <p:spPr>
          <a:xfrm>
            <a:off x="4997745" y="1742481"/>
            <a:ext cx="245791" cy="245791"/>
          </a:xfrm>
          <a:prstGeom prst="rect">
            <a:avLst/>
          </a:prstGeom>
        </p:spPr>
      </p:pic>
      <p:sp>
        <p:nvSpPr>
          <p:cNvPr id="14" name="Text 9"/>
          <p:cNvSpPr/>
          <p:nvPr/>
        </p:nvSpPr>
        <p:spPr>
          <a:xfrm>
            <a:off x="5504688" y="1645920"/>
            <a:ext cx="3017520" cy="310896"/>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Explainable AI (XAI)</a:t>
            </a:r>
            <a:endParaRPr lang="en-US" sz="1450"/>
          </a:p>
        </p:txBody>
      </p:sp>
      <p:sp>
        <p:nvSpPr>
          <p:cNvPr id="15" name="Text 10"/>
          <p:cNvSpPr/>
          <p:nvPr/>
        </p:nvSpPr>
        <p:spPr>
          <a:xfrm>
            <a:off x="4864608" y="2121408"/>
            <a:ext cx="3657600" cy="640080"/>
          </a:xfrm>
          <a:prstGeom prst="rect">
            <a:avLst/>
          </a:prstGeom>
          <a:noFill/>
          <a:ln/>
        </p:spPr>
        <p:txBody>
          <a:bodyPr wrap="square" lIns="0" tIns="0" rIns="0" bIns="0" rtlCol="0" anchor="ctr"/>
          <a:lstStyle/>
          <a:p>
            <a:pPr marL="0" indent="0">
              <a:buNone/>
            </a:pPr>
            <a:r>
              <a:rPr lang="en-US" sz="1200" dirty="0">
                <a:solidFill>
                  <a:srgbClr val="55686B"/>
                </a:solidFill>
                <a:latin typeface="Calibri" pitchFamily="34" charset="0"/>
                <a:ea typeface="Calibri" pitchFamily="34" charset="-122"/>
                <a:cs typeface="Calibri" pitchFamily="34" charset="-120"/>
              </a:rPr>
              <a:t>Methods to explain the reasoning behind outputs, building transparency, interpretability and understandability.</a:t>
            </a:r>
            <a:endParaRPr lang="en-US" sz="1200" dirty="0"/>
          </a:p>
        </p:txBody>
      </p:sp>
      <p:sp>
        <p:nvSpPr>
          <p:cNvPr id="16" name="Text 11"/>
          <p:cNvSpPr/>
          <p:nvPr/>
        </p:nvSpPr>
        <p:spPr>
          <a:xfrm>
            <a:off x="457200" y="2999232"/>
            <a:ext cx="8229600" cy="274320"/>
          </a:xfrm>
          <a:prstGeom prst="rect">
            <a:avLst/>
          </a:prstGeom>
          <a:noFill/>
          <a:ln/>
        </p:spPr>
        <p:txBody>
          <a:bodyPr wrap="square" lIns="0" tIns="0" rIns="0" bIns="0" rtlCol="0" anchor="ctr"/>
          <a:lstStyle/>
          <a:p>
            <a:pPr marL="0" indent="0">
              <a:buNone/>
            </a:pPr>
            <a:r>
              <a:rPr lang="en-US" sz="1250" b="1">
                <a:solidFill>
                  <a:srgbClr val="0E5E5C"/>
                </a:solidFill>
                <a:latin typeface="Calibri" pitchFamily="34" charset="0"/>
                <a:ea typeface="Calibri" pitchFamily="34" charset="-122"/>
                <a:cs typeface="Calibri" pitchFamily="34" charset="-120"/>
              </a:rPr>
              <a:t>Three families of XAI techniques</a:t>
            </a:r>
            <a:endParaRPr lang="en-US" sz="1250"/>
          </a:p>
        </p:txBody>
      </p:sp>
      <p:sp>
        <p:nvSpPr>
          <p:cNvPr id="17" name="Shape 12"/>
          <p:cNvSpPr/>
          <p:nvPr/>
        </p:nvSpPr>
        <p:spPr>
          <a:xfrm>
            <a:off x="457200"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18" name="Shape 13"/>
          <p:cNvSpPr/>
          <p:nvPr/>
        </p:nvSpPr>
        <p:spPr>
          <a:xfrm>
            <a:off x="457200" y="3310128"/>
            <a:ext cx="2679192" cy="1298448"/>
          </a:xfrm>
          <a:prstGeom prst="roundRect">
            <a:avLst>
              <a:gd name="adj" fmla="val 5634"/>
            </a:avLst>
          </a:prstGeom>
          <a:ln w="12700">
            <a:solidFill>
              <a:srgbClr val="E7F0F0"/>
            </a:solidFill>
            <a:prstDash val="solid"/>
          </a:ln>
        </p:spPr>
        <p:txBody>
          <a:bodyPr/>
          <a:lstStyle/>
          <a:p>
            <a:endParaRPr lang="en-DE"/>
          </a:p>
        </p:txBody>
      </p:sp>
      <p:sp>
        <p:nvSpPr>
          <p:cNvPr id="19" name="Shape 14"/>
          <p:cNvSpPr/>
          <p:nvPr/>
        </p:nvSpPr>
        <p:spPr>
          <a:xfrm>
            <a:off x="640080" y="3474720"/>
            <a:ext cx="457200" cy="457200"/>
          </a:xfrm>
          <a:prstGeom prst="ellipse">
            <a:avLst/>
          </a:prstGeom>
          <a:solidFill>
            <a:srgbClr val="3E9D9B"/>
          </a:solidFill>
          <a:ln/>
        </p:spPr>
        <p:txBody>
          <a:bodyPr/>
          <a:lstStyle/>
          <a:p>
            <a:endParaRPr lang="en-DE"/>
          </a:p>
        </p:txBody>
      </p:sp>
      <p:pic>
        <p:nvPicPr>
          <p:cNvPr id="20" name="Image 3" descr="preencoded.png"/>
          <p:cNvPicPr>
            <a:picLocks noChangeAspect="1"/>
          </p:cNvPicPr>
          <p:nvPr/>
        </p:nvPicPr>
        <p:blipFill>
          <a:blip r:embed="rId5"/>
          <a:stretch>
            <a:fillRect/>
          </a:stretch>
        </p:blipFill>
        <p:spPr>
          <a:xfrm>
            <a:off x="758952" y="3593592"/>
            <a:ext cx="219456" cy="219456"/>
          </a:xfrm>
          <a:prstGeom prst="rect">
            <a:avLst/>
          </a:prstGeom>
        </p:spPr>
      </p:pic>
      <p:sp>
        <p:nvSpPr>
          <p:cNvPr id="21" name="Text 15"/>
          <p:cNvSpPr/>
          <p:nvPr/>
        </p:nvSpPr>
        <p:spPr>
          <a:xfrm>
            <a:off x="1188720" y="3493008"/>
            <a:ext cx="1874520" cy="420624"/>
          </a:xfrm>
          <a:prstGeom prst="rect">
            <a:avLst/>
          </a:prstGeom>
          <a:noFill/>
          <a:ln/>
        </p:spPr>
        <p:txBody>
          <a:bodyPr wrap="square" lIns="0" tIns="0" rIns="0" bIns="0" rtlCol="0" anchor="ctr"/>
          <a:lstStyle/>
          <a:p>
            <a:pPr marL="0" indent="0">
              <a:buNone/>
            </a:pPr>
            <a:r>
              <a:rPr lang="en-US" sz="1250" b="1">
                <a:solidFill>
                  <a:srgbClr val="0A2E36"/>
                </a:solidFill>
                <a:latin typeface="Cambria" pitchFamily="34" charset="0"/>
                <a:ea typeface="Cambria" pitchFamily="34" charset="-122"/>
                <a:cs typeface="Cambria" pitchFamily="34" charset="-120"/>
              </a:rPr>
              <a:t>Intrinsic interpretability</a:t>
            </a:r>
            <a:endParaRPr lang="en-US" sz="1250"/>
          </a:p>
        </p:txBody>
      </p:sp>
      <p:sp>
        <p:nvSpPr>
          <p:cNvPr id="22" name="Text 16"/>
          <p:cNvSpPr/>
          <p:nvPr/>
        </p:nvSpPr>
        <p:spPr>
          <a:xfrm>
            <a:off x="640080" y="3986784"/>
            <a:ext cx="2377440" cy="548640"/>
          </a:xfrm>
          <a:prstGeom prst="rect">
            <a:avLst/>
          </a:prstGeom>
          <a:noFill/>
          <a:ln/>
        </p:spPr>
        <p:txBody>
          <a:bodyPr wrap="square" lIns="0" tIns="0" rIns="0" bIns="0" rtlCol="0" anchor="ctr"/>
          <a:lstStyle/>
          <a:p>
            <a:pPr marL="0" indent="0">
              <a:buNone/>
            </a:pPr>
            <a:r>
              <a:rPr lang="en-US" sz="1050">
                <a:solidFill>
                  <a:srgbClr val="55686B"/>
                </a:solidFill>
                <a:latin typeface="Calibri" pitchFamily="34" charset="0"/>
                <a:ea typeface="Calibri" pitchFamily="34" charset="-122"/>
                <a:cs typeface="Calibri" pitchFamily="34" charset="-120"/>
              </a:rPr>
              <a:t>Transparent models by design.</a:t>
            </a:r>
            <a:endParaRPr lang="en-US" sz="1050"/>
          </a:p>
        </p:txBody>
      </p:sp>
      <p:sp>
        <p:nvSpPr>
          <p:cNvPr id="23" name="Shape 17"/>
          <p:cNvSpPr/>
          <p:nvPr/>
        </p:nvSpPr>
        <p:spPr>
          <a:xfrm>
            <a:off x="3236976"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24" name="Shape 18"/>
          <p:cNvSpPr/>
          <p:nvPr/>
        </p:nvSpPr>
        <p:spPr>
          <a:xfrm>
            <a:off x="3236976" y="3310128"/>
            <a:ext cx="2679192" cy="1298448"/>
          </a:xfrm>
          <a:prstGeom prst="roundRect">
            <a:avLst>
              <a:gd name="adj" fmla="val 5634"/>
            </a:avLst>
          </a:prstGeom>
          <a:ln w="12700">
            <a:solidFill>
              <a:srgbClr val="E7F0F0"/>
            </a:solidFill>
            <a:prstDash val="solid"/>
          </a:ln>
        </p:spPr>
        <p:txBody>
          <a:bodyPr/>
          <a:lstStyle/>
          <a:p>
            <a:endParaRPr lang="en-DE"/>
          </a:p>
        </p:txBody>
      </p:sp>
      <p:sp>
        <p:nvSpPr>
          <p:cNvPr id="25" name="Shape 19"/>
          <p:cNvSpPr/>
          <p:nvPr/>
        </p:nvSpPr>
        <p:spPr>
          <a:xfrm>
            <a:off x="3419856" y="3474720"/>
            <a:ext cx="457200" cy="457200"/>
          </a:xfrm>
          <a:prstGeom prst="ellipse">
            <a:avLst/>
          </a:prstGeom>
          <a:solidFill>
            <a:srgbClr val="3E9D9B"/>
          </a:solidFill>
          <a:ln/>
        </p:spPr>
        <p:txBody>
          <a:bodyPr/>
          <a:lstStyle/>
          <a:p>
            <a:endParaRPr lang="en-DE"/>
          </a:p>
        </p:txBody>
      </p:sp>
      <p:pic>
        <p:nvPicPr>
          <p:cNvPr id="26" name="Image 4" descr="preencoded.png"/>
          <p:cNvPicPr>
            <a:picLocks noChangeAspect="1"/>
          </p:cNvPicPr>
          <p:nvPr/>
        </p:nvPicPr>
        <p:blipFill>
          <a:blip r:embed="rId6"/>
          <a:stretch>
            <a:fillRect/>
          </a:stretch>
        </p:blipFill>
        <p:spPr>
          <a:xfrm>
            <a:off x="3538728" y="3593592"/>
            <a:ext cx="219456" cy="219456"/>
          </a:xfrm>
          <a:prstGeom prst="rect">
            <a:avLst/>
          </a:prstGeom>
        </p:spPr>
      </p:pic>
      <p:sp>
        <p:nvSpPr>
          <p:cNvPr id="27" name="Text 20"/>
          <p:cNvSpPr/>
          <p:nvPr/>
        </p:nvSpPr>
        <p:spPr>
          <a:xfrm>
            <a:off x="3968496" y="3493008"/>
            <a:ext cx="1874520" cy="420624"/>
          </a:xfrm>
          <a:prstGeom prst="rect">
            <a:avLst/>
          </a:prstGeom>
          <a:noFill/>
          <a:ln/>
        </p:spPr>
        <p:txBody>
          <a:bodyPr wrap="square" lIns="0" tIns="0" rIns="0" bIns="0" rtlCol="0" anchor="ctr"/>
          <a:lstStyle/>
          <a:p>
            <a:pPr marL="0" indent="0">
              <a:buNone/>
            </a:pPr>
            <a:r>
              <a:rPr lang="en-US" sz="1250" b="1">
                <a:solidFill>
                  <a:srgbClr val="0A2E36"/>
                </a:solidFill>
                <a:latin typeface="Cambria" pitchFamily="34" charset="0"/>
                <a:ea typeface="Cambria" pitchFamily="34" charset="-122"/>
                <a:cs typeface="Cambria" pitchFamily="34" charset="-120"/>
              </a:rPr>
              <a:t>Post-hoc methods</a:t>
            </a:r>
            <a:endParaRPr lang="en-US" sz="1250"/>
          </a:p>
        </p:txBody>
      </p:sp>
      <p:sp>
        <p:nvSpPr>
          <p:cNvPr id="28" name="Text 21"/>
          <p:cNvSpPr/>
          <p:nvPr/>
        </p:nvSpPr>
        <p:spPr>
          <a:xfrm>
            <a:off x="3419856" y="3986784"/>
            <a:ext cx="2377440" cy="548640"/>
          </a:xfrm>
          <a:prstGeom prst="rect">
            <a:avLst/>
          </a:prstGeom>
          <a:noFill/>
          <a:ln/>
        </p:spPr>
        <p:txBody>
          <a:bodyPr wrap="square" lIns="0" tIns="0" rIns="0" bIns="0" rtlCol="0" anchor="ctr"/>
          <a:lstStyle/>
          <a:p>
            <a:pPr marL="0" indent="0">
              <a:buNone/>
            </a:pPr>
            <a:r>
              <a:rPr lang="en-US" sz="1050">
                <a:solidFill>
                  <a:srgbClr val="55686B"/>
                </a:solidFill>
                <a:latin typeface="Calibri" pitchFamily="34" charset="0"/>
                <a:ea typeface="Calibri" pitchFamily="34" charset="-122"/>
                <a:cs typeface="Calibri" pitchFamily="34" charset="-120"/>
              </a:rPr>
              <a:t>Explanations after model training.</a:t>
            </a:r>
            <a:endParaRPr lang="en-US" sz="1050"/>
          </a:p>
        </p:txBody>
      </p:sp>
      <p:sp>
        <p:nvSpPr>
          <p:cNvPr id="29" name="Shape 22"/>
          <p:cNvSpPr/>
          <p:nvPr/>
        </p:nvSpPr>
        <p:spPr>
          <a:xfrm>
            <a:off x="6016752"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30" name="Shape 23"/>
          <p:cNvSpPr/>
          <p:nvPr/>
        </p:nvSpPr>
        <p:spPr>
          <a:xfrm>
            <a:off x="6016752" y="3310128"/>
            <a:ext cx="2679192" cy="1298448"/>
          </a:xfrm>
          <a:prstGeom prst="roundRect">
            <a:avLst>
              <a:gd name="adj" fmla="val 5634"/>
            </a:avLst>
          </a:prstGeom>
          <a:ln w="12700">
            <a:solidFill>
              <a:srgbClr val="E7F0F0"/>
            </a:solidFill>
            <a:prstDash val="solid"/>
          </a:ln>
        </p:spPr>
        <p:txBody>
          <a:bodyPr/>
          <a:lstStyle/>
          <a:p>
            <a:endParaRPr lang="en-DE"/>
          </a:p>
        </p:txBody>
      </p:sp>
      <p:sp>
        <p:nvSpPr>
          <p:cNvPr id="31" name="Shape 24"/>
          <p:cNvSpPr/>
          <p:nvPr/>
        </p:nvSpPr>
        <p:spPr>
          <a:xfrm>
            <a:off x="6199632" y="3474720"/>
            <a:ext cx="457200" cy="457200"/>
          </a:xfrm>
          <a:prstGeom prst="ellipse">
            <a:avLst/>
          </a:prstGeom>
          <a:solidFill>
            <a:srgbClr val="3E9D9B"/>
          </a:solidFill>
          <a:ln/>
        </p:spPr>
        <p:txBody>
          <a:bodyPr/>
          <a:lstStyle/>
          <a:p>
            <a:endParaRPr lang="en-DE"/>
          </a:p>
        </p:txBody>
      </p:sp>
      <p:pic>
        <p:nvPicPr>
          <p:cNvPr id="32" name="Image 5" descr="preencoded.png"/>
          <p:cNvPicPr>
            <a:picLocks noChangeAspect="1"/>
          </p:cNvPicPr>
          <p:nvPr/>
        </p:nvPicPr>
        <p:blipFill>
          <a:blip r:embed="rId7"/>
          <a:stretch>
            <a:fillRect/>
          </a:stretch>
        </p:blipFill>
        <p:spPr>
          <a:xfrm>
            <a:off x="6318504" y="3593592"/>
            <a:ext cx="219456" cy="219456"/>
          </a:xfrm>
          <a:prstGeom prst="rect">
            <a:avLst/>
          </a:prstGeom>
        </p:spPr>
      </p:pic>
      <p:sp>
        <p:nvSpPr>
          <p:cNvPr id="33" name="Text 25"/>
          <p:cNvSpPr/>
          <p:nvPr/>
        </p:nvSpPr>
        <p:spPr>
          <a:xfrm>
            <a:off x="6748272" y="3493008"/>
            <a:ext cx="1874520" cy="420624"/>
          </a:xfrm>
          <a:prstGeom prst="rect">
            <a:avLst/>
          </a:prstGeom>
          <a:noFill/>
          <a:ln/>
        </p:spPr>
        <p:txBody>
          <a:bodyPr wrap="square" lIns="0" tIns="0" rIns="0" bIns="0" rtlCol="0" anchor="ctr"/>
          <a:lstStyle/>
          <a:p>
            <a:pPr marL="0" indent="0">
              <a:buNone/>
            </a:pPr>
            <a:r>
              <a:rPr lang="en-US" sz="1250" b="1">
                <a:solidFill>
                  <a:srgbClr val="0A2E36"/>
                </a:solidFill>
                <a:latin typeface="Cambria" pitchFamily="34" charset="0"/>
                <a:ea typeface="Cambria" pitchFamily="34" charset="-122"/>
                <a:cs typeface="Cambria" pitchFamily="34" charset="-120"/>
              </a:rPr>
              <a:t>Counterfactuals</a:t>
            </a:r>
            <a:endParaRPr lang="en-US" sz="1250"/>
          </a:p>
        </p:txBody>
      </p:sp>
      <p:sp>
        <p:nvSpPr>
          <p:cNvPr id="34" name="Text 26"/>
          <p:cNvSpPr/>
          <p:nvPr/>
        </p:nvSpPr>
        <p:spPr>
          <a:xfrm>
            <a:off x="6199632" y="3986784"/>
            <a:ext cx="2377440" cy="548640"/>
          </a:xfrm>
          <a:prstGeom prst="rect">
            <a:avLst/>
          </a:prstGeom>
          <a:noFill/>
          <a:ln/>
        </p:spPr>
        <p:txBody>
          <a:bodyPr wrap="square" lIns="0" tIns="0" rIns="0" bIns="0" rtlCol="0" anchor="ctr"/>
          <a:lstStyle/>
          <a:p>
            <a:pPr marL="0" indent="0">
              <a:buNone/>
            </a:pPr>
            <a:r>
              <a:rPr lang="en-US" sz="1050">
                <a:solidFill>
                  <a:srgbClr val="55686B"/>
                </a:solidFill>
                <a:latin typeface="Calibri" pitchFamily="34" charset="0"/>
                <a:ea typeface="Calibri" pitchFamily="34" charset="-122"/>
                <a:cs typeface="Calibri" pitchFamily="34" charset="-120"/>
              </a:rPr>
              <a:t>What must change for the model to change its decision?</a:t>
            </a:r>
            <a:endParaRPr lang="en-US" sz="1050"/>
          </a:p>
        </p:txBody>
      </p:sp>
      <p:sp>
        <p:nvSpPr>
          <p:cNvPr id="35"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87834-3CE0-D0F4-440C-12DD49E7CD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72C97A-5B18-17EC-57B6-651DC8A6B95E}"/>
              </a:ext>
            </a:extLst>
          </p:cNvPr>
          <p:cNvSpPr/>
          <p:nvPr/>
        </p:nvSpPr>
        <p:spPr>
          <a:xfrm>
            <a:off x="457200" y="310896"/>
            <a:ext cx="566928" cy="566928"/>
          </a:xfrm>
          <a:prstGeom prst="ellipse">
            <a:avLst/>
          </a:prstGeom>
          <a:solidFill>
            <a:srgbClr val="127475"/>
          </a:solidFill>
          <a:ln/>
        </p:spPr>
        <p:txBody>
          <a:bodyPr/>
          <a:lstStyle/>
          <a:p>
            <a:endParaRPr lang="en-GB" dirty="0"/>
          </a:p>
        </p:txBody>
      </p:sp>
      <p:sp>
        <p:nvSpPr>
          <p:cNvPr id="4" name="Text 1">
            <a:extLst>
              <a:ext uri="{FF2B5EF4-FFF2-40B4-BE49-F238E27FC236}">
                <a16:creationId xmlns:a16="http://schemas.microsoft.com/office/drawing/2014/main" id="{2C45968A-2093-4557-49E0-E51AE6706B7C}"/>
              </a:ext>
            </a:extLst>
          </p:cNvPr>
          <p:cNvSpPr/>
          <p:nvPr/>
        </p:nvSpPr>
        <p:spPr>
          <a:xfrm>
            <a:off x="1170432" y="274320"/>
            <a:ext cx="7589520" cy="640080"/>
          </a:xfrm>
          <a:prstGeom prst="rect">
            <a:avLst/>
          </a:prstGeom>
          <a:noFill/>
          <a:ln/>
        </p:spPr>
        <p:txBody>
          <a:bodyPr wrap="square" lIns="0" tIns="0" rIns="0" bIns="0" rtlCol="0" anchor="ctr"/>
          <a:lstStyle/>
          <a:p>
            <a:pPr marL="0" indent="0">
              <a:buNone/>
            </a:pPr>
            <a:r>
              <a:rPr lang="en-GB" sz="2700" b="1" dirty="0">
                <a:solidFill>
                  <a:srgbClr val="0A2E36"/>
                </a:solidFill>
                <a:latin typeface="Cambria" pitchFamily="34" charset="0"/>
                <a:ea typeface="Cambria" pitchFamily="34" charset="-122"/>
                <a:cs typeface="Cambria" pitchFamily="34" charset="-120"/>
              </a:rPr>
              <a:t>How do we achieve explainability?</a:t>
            </a:r>
            <a:endParaRPr lang="en-GB" sz="2700" dirty="0"/>
          </a:p>
        </p:txBody>
      </p:sp>
      <p:sp>
        <p:nvSpPr>
          <p:cNvPr id="5" name="Text 2">
            <a:extLst>
              <a:ext uri="{FF2B5EF4-FFF2-40B4-BE49-F238E27FC236}">
                <a16:creationId xmlns:a16="http://schemas.microsoft.com/office/drawing/2014/main" id="{6BBCE953-9F41-2280-A5E2-74924913375B}"/>
              </a:ext>
            </a:extLst>
          </p:cNvPr>
          <p:cNvSpPr/>
          <p:nvPr/>
        </p:nvSpPr>
        <p:spPr>
          <a:xfrm>
            <a:off x="1170432" y="896112"/>
            <a:ext cx="7589520" cy="292608"/>
          </a:xfrm>
          <a:prstGeom prst="rect">
            <a:avLst/>
          </a:prstGeom>
          <a:noFill/>
          <a:ln/>
        </p:spPr>
        <p:txBody>
          <a:bodyPr wrap="square" lIns="0" tIns="0" rIns="0" bIns="0" rtlCol="0" anchor="t"/>
          <a:lstStyle/>
          <a:p>
            <a:pPr marL="0" indent="0">
              <a:buNone/>
            </a:pPr>
            <a:r>
              <a:rPr lang="en-GB" sz="1250" i="1" dirty="0">
                <a:solidFill>
                  <a:srgbClr val="0E5E5C"/>
                </a:solidFill>
                <a:latin typeface="Calibri" pitchFamily="34" charset="0"/>
                <a:ea typeface="Calibri" pitchFamily="34" charset="-122"/>
                <a:cs typeface="Calibri" pitchFamily="34" charset="-120"/>
              </a:rPr>
              <a:t>Keeping humans in control, responsible, and accountable while opening the black box</a:t>
            </a:r>
            <a:endParaRPr lang="en-GB" sz="1250" dirty="0"/>
          </a:p>
        </p:txBody>
      </p:sp>
      <p:sp>
        <p:nvSpPr>
          <p:cNvPr id="6" name="Shape 3">
            <a:extLst>
              <a:ext uri="{FF2B5EF4-FFF2-40B4-BE49-F238E27FC236}">
                <a16:creationId xmlns:a16="http://schemas.microsoft.com/office/drawing/2014/main" id="{D92C1339-9D9B-1BE3-581C-670617B82045}"/>
              </a:ext>
            </a:extLst>
          </p:cNvPr>
          <p:cNvSpPr/>
          <p:nvPr/>
        </p:nvSpPr>
        <p:spPr>
          <a:xfrm>
            <a:off x="457200" y="1417320"/>
            <a:ext cx="4023360"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GB" dirty="0"/>
          </a:p>
        </p:txBody>
      </p:sp>
      <p:grpSp>
        <p:nvGrpSpPr>
          <p:cNvPr id="36" name="Group 35">
            <a:extLst>
              <a:ext uri="{FF2B5EF4-FFF2-40B4-BE49-F238E27FC236}">
                <a16:creationId xmlns:a16="http://schemas.microsoft.com/office/drawing/2014/main" id="{7AF90F5A-8787-C346-DBF3-CC2F5E765B75}"/>
              </a:ext>
            </a:extLst>
          </p:cNvPr>
          <p:cNvGrpSpPr/>
          <p:nvPr/>
        </p:nvGrpSpPr>
        <p:grpSpPr>
          <a:xfrm>
            <a:off x="667512" y="1929384"/>
            <a:ext cx="3712464" cy="512064"/>
            <a:chOff x="658368" y="1609344"/>
            <a:chExt cx="3712464" cy="512064"/>
          </a:xfrm>
        </p:grpSpPr>
        <p:sp>
          <p:nvSpPr>
            <p:cNvPr id="7" name="Shape 4">
              <a:extLst>
                <a:ext uri="{FF2B5EF4-FFF2-40B4-BE49-F238E27FC236}">
                  <a16:creationId xmlns:a16="http://schemas.microsoft.com/office/drawing/2014/main" id="{8A45E5B9-9F44-E4C2-BF36-D68E47BC835A}"/>
                </a:ext>
              </a:extLst>
            </p:cNvPr>
            <p:cNvSpPr/>
            <p:nvPr/>
          </p:nvSpPr>
          <p:spPr>
            <a:xfrm>
              <a:off x="658368" y="1609344"/>
              <a:ext cx="512064" cy="512064"/>
            </a:xfrm>
            <a:prstGeom prst="ellipse">
              <a:avLst/>
            </a:prstGeom>
            <a:solidFill>
              <a:srgbClr val="127475"/>
            </a:solidFill>
            <a:ln/>
          </p:spPr>
          <p:txBody>
            <a:bodyPr/>
            <a:lstStyle/>
            <a:p>
              <a:endParaRPr lang="en-GB" dirty="0"/>
            </a:p>
          </p:txBody>
        </p:sp>
        <p:pic>
          <p:nvPicPr>
            <p:cNvPr id="8" name="Image 1" descr="preencoded.png">
              <a:extLst>
                <a:ext uri="{FF2B5EF4-FFF2-40B4-BE49-F238E27FC236}">
                  <a16:creationId xmlns:a16="http://schemas.microsoft.com/office/drawing/2014/main" id="{C85AAD8B-6A00-9E67-3AD3-03D1737D840D}"/>
                </a:ext>
              </a:extLst>
            </p:cNvPr>
            <p:cNvPicPr>
              <a:picLocks noChangeAspect="1"/>
            </p:cNvPicPr>
            <p:nvPr/>
          </p:nvPicPr>
          <p:blipFill>
            <a:blip r:embed="rId3"/>
            <a:stretch>
              <a:fillRect/>
            </a:stretch>
          </p:blipFill>
          <p:spPr>
            <a:xfrm>
              <a:off x="791505" y="1742481"/>
              <a:ext cx="245791" cy="245791"/>
            </a:xfrm>
            <a:prstGeom prst="rect">
              <a:avLst/>
            </a:prstGeom>
          </p:spPr>
        </p:pic>
        <p:sp>
          <p:nvSpPr>
            <p:cNvPr id="9" name="Text 5">
              <a:extLst>
                <a:ext uri="{FF2B5EF4-FFF2-40B4-BE49-F238E27FC236}">
                  <a16:creationId xmlns:a16="http://schemas.microsoft.com/office/drawing/2014/main" id="{121836F0-498F-864A-E4A3-5C66EECC40F9}"/>
                </a:ext>
              </a:extLst>
            </p:cNvPr>
            <p:cNvSpPr/>
            <p:nvPr/>
          </p:nvSpPr>
          <p:spPr>
            <a:xfrm>
              <a:off x="1353312" y="1709928"/>
              <a:ext cx="3017520" cy="310896"/>
            </a:xfrm>
            <a:prstGeom prst="rect">
              <a:avLst/>
            </a:prstGeom>
            <a:noFill/>
            <a:ln/>
          </p:spPr>
          <p:txBody>
            <a:bodyPr wrap="square" lIns="0" tIns="0" rIns="0" bIns="0" rtlCol="0" anchor="ctr"/>
            <a:lstStyle/>
            <a:p>
              <a:pPr marL="0" indent="0">
                <a:buNone/>
              </a:pPr>
              <a:r>
                <a:rPr lang="en-GB" sz="1450" b="1" dirty="0">
                  <a:solidFill>
                    <a:srgbClr val="0A2E36"/>
                  </a:solidFill>
                  <a:latin typeface="Cambria" pitchFamily="34" charset="0"/>
                  <a:ea typeface="Cambria" pitchFamily="34" charset="-122"/>
                  <a:cs typeface="Cambria" pitchFamily="34" charset="-120"/>
                </a:rPr>
                <a:t>Human-centred AI (HC-AI)</a:t>
              </a:r>
              <a:endParaRPr lang="en-GB" sz="1450" dirty="0"/>
            </a:p>
          </p:txBody>
        </p:sp>
      </p:grpSp>
      <p:sp>
        <p:nvSpPr>
          <p:cNvPr id="10" name="Text 6">
            <a:extLst>
              <a:ext uri="{FF2B5EF4-FFF2-40B4-BE49-F238E27FC236}">
                <a16:creationId xmlns:a16="http://schemas.microsoft.com/office/drawing/2014/main" id="{FB094C5B-3436-45A5-46E1-B516C58D7F43}"/>
              </a:ext>
            </a:extLst>
          </p:cNvPr>
          <p:cNvSpPr/>
          <p:nvPr/>
        </p:nvSpPr>
        <p:spPr>
          <a:xfrm>
            <a:off x="658368" y="2121408"/>
            <a:ext cx="3657600" cy="640080"/>
          </a:xfrm>
          <a:prstGeom prst="rect">
            <a:avLst/>
          </a:prstGeom>
          <a:noFill/>
          <a:ln/>
        </p:spPr>
        <p:txBody>
          <a:bodyPr wrap="square" lIns="0" tIns="0" rIns="0" bIns="0" rtlCol="0" anchor="ctr"/>
          <a:lstStyle/>
          <a:p>
            <a:pPr marL="0" indent="0">
              <a:buNone/>
            </a:pPr>
            <a:endParaRPr lang="en-GB" sz="1200" dirty="0">
              <a:solidFill>
                <a:srgbClr val="55686B"/>
              </a:solidFill>
              <a:latin typeface="Calibri" pitchFamily="34" charset="0"/>
              <a:ea typeface="Calibri" pitchFamily="34" charset="-122"/>
              <a:cs typeface="Calibri" pitchFamily="34" charset="-120"/>
            </a:endParaRPr>
          </a:p>
        </p:txBody>
      </p:sp>
      <p:sp>
        <p:nvSpPr>
          <p:cNvPr id="11" name="Shape 7">
            <a:extLst>
              <a:ext uri="{FF2B5EF4-FFF2-40B4-BE49-F238E27FC236}">
                <a16:creationId xmlns:a16="http://schemas.microsoft.com/office/drawing/2014/main" id="{63AAA624-8DB6-B839-11DD-5D134DDCD367}"/>
              </a:ext>
            </a:extLst>
          </p:cNvPr>
          <p:cNvSpPr/>
          <p:nvPr/>
        </p:nvSpPr>
        <p:spPr>
          <a:xfrm>
            <a:off x="4663440" y="1417320"/>
            <a:ext cx="4023360"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GB" dirty="0"/>
          </a:p>
        </p:txBody>
      </p:sp>
      <p:grpSp>
        <p:nvGrpSpPr>
          <p:cNvPr id="37" name="Group 36">
            <a:extLst>
              <a:ext uri="{FF2B5EF4-FFF2-40B4-BE49-F238E27FC236}">
                <a16:creationId xmlns:a16="http://schemas.microsoft.com/office/drawing/2014/main" id="{4915DADA-5E3C-5002-1AAF-067EFFEA158A}"/>
              </a:ext>
            </a:extLst>
          </p:cNvPr>
          <p:cNvGrpSpPr/>
          <p:nvPr/>
        </p:nvGrpSpPr>
        <p:grpSpPr>
          <a:xfrm>
            <a:off x="4905756" y="1865376"/>
            <a:ext cx="3662721" cy="512064"/>
            <a:chOff x="4864608" y="1609344"/>
            <a:chExt cx="3662721" cy="512064"/>
          </a:xfrm>
        </p:grpSpPr>
        <p:sp>
          <p:nvSpPr>
            <p:cNvPr id="12" name="Shape 8">
              <a:extLst>
                <a:ext uri="{FF2B5EF4-FFF2-40B4-BE49-F238E27FC236}">
                  <a16:creationId xmlns:a16="http://schemas.microsoft.com/office/drawing/2014/main" id="{D10116D0-F9C7-218C-4FEE-5A88205F41DD}"/>
                </a:ext>
              </a:extLst>
            </p:cNvPr>
            <p:cNvSpPr/>
            <p:nvPr/>
          </p:nvSpPr>
          <p:spPr>
            <a:xfrm>
              <a:off x="4864608" y="1609344"/>
              <a:ext cx="512064" cy="512064"/>
            </a:xfrm>
            <a:prstGeom prst="ellipse">
              <a:avLst/>
            </a:prstGeom>
            <a:solidFill>
              <a:srgbClr val="127475"/>
            </a:solidFill>
            <a:ln/>
          </p:spPr>
          <p:txBody>
            <a:bodyPr/>
            <a:lstStyle/>
            <a:p>
              <a:endParaRPr lang="en-GB" dirty="0"/>
            </a:p>
          </p:txBody>
        </p:sp>
        <p:pic>
          <p:nvPicPr>
            <p:cNvPr id="13" name="Image 2" descr="preencoded.png">
              <a:extLst>
                <a:ext uri="{FF2B5EF4-FFF2-40B4-BE49-F238E27FC236}">
                  <a16:creationId xmlns:a16="http://schemas.microsoft.com/office/drawing/2014/main" id="{F2747126-6C02-749D-699E-23DD318A82BD}"/>
                </a:ext>
              </a:extLst>
            </p:cNvPr>
            <p:cNvPicPr>
              <a:picLocks noChangeAspect="1"/>
            </p:cNvPicPr>
            <p:nvPr/>
          </p:nvPicPr>
          <p:blipFill>
            <a:blip r:embed="rId4"/>
            <a:stretch>
              <a:fillRect/>
            </a:stretch>
          </p:blipFill>
          <p:spPr>
            <a:xfrm>
              <a:off x="4997745" y="1742481"/>
              <a:ext cx="245791" cy="245791"/>
            </a:xfrm>
            <a:prstGeom prst="rect">
              <a:avLst/>
            </a:prstGeom>
          </p:spPr>
        </p:pic>
        <p:sp>
          <p:nvSpPr>
            <p:cNvPr id="14" name="Text 9">
              <a:extLst>
                <a:ext uri="{FF2B5EF4-FFF2-40B4-BE49-F238E27FC236}">
                  <a16:creationId xmlns:a16="http://schemas.microsoft.com/office/drawing/2014/main" id="{747F7EF2-9A57-D49A-2F64-DA121A757EFB}"/>
                </a:ext>
              </a:extLst>
            </p:cNvPr>
            <p:cNvSpPr/>
            <p:nvPr/>
          </p:nvSpPr>
          <p:spPr>
            <a:xfrm>
              <a:off x="5509809" y="1709928"/>
              <a:ext cx="3017520" cy="310896"/>
            </a:xfrm>
            <a:prstGeom prst="rect">
              <a:avLst/>
            </a:prstGeom>
            <a:noFill/>
            <a:ln/>
          </p:spPr>
          <p:txBody>
            <a:bodyPr wrap="square" lIns="0" tIns="0" rIns="0" bIns="0" rtlCol="0" anchor="ctr"/>
            <a:lstStyle/>
            <a:p>
              <a:pPr marL="0" indent="0">
                <a:buNone/>
              </a:pPr>
              <a:r>
                <a:rPr lang="en-GB" sz="1450" b="1" dirty="0">
                  <a:solidFill>
                    <a:srgbClr val="0A2E36"/>
                  </a:solidFill>
                  <a:latin typeface="Cambria" pitchFamily="34" charset="0"/>
                  <a:ea typeface="Cambria" pitchFamily="34" charset="-122"/>
                  <a:cs typeface="Cambria" pitchFamily="34" charset="-120"/>
                </a:rPr>
                <a:t>Explainable AI (XAI)</a:t>
              </a:r>
              <a:endParaRPr lang="en-GB" sz="1450" dirty="0"/>
            </a:p>
          </p:txBody>
        </p:sp>
      </p:grpSp>
      <p:sp>
        <p:nvSpPr>
          <p:cNvPr id="16" name="Text 11">
            <a:extLst>
              <a:ext uri="{FF2B5EF4-FFF2-40B4-BE49-F238E27FC236}">
                <a16:creationId xmlns:a16="http://schemas.microsoft.com/office/drawing/2014/main" id="{5792ABB2-48A3-D2E4-F22A-710CE51CFA5B}"/>
              </a:ext>
            </a:extLst>
          </p:cNvPr>
          <p:cNvSpPr/>
          <p:nvPr/>
        </p:nvSpPr>
        <p:spPr>
          <a:xfrm>
            <a:off x="457200" y="2999232"/>
            <a:ext cx="8229600" cy="274320"/>
          </a:xfrm>
          <a:prstGeom prst="rect">
            <a:avLst/>
          </a:prstGeom>
          <a:noFill/>
          <a:ln/>
        </p:spPr>
        <p:txBody>
          <a:bodyPr wrap="square" lIns="0" tIns="0" rIns="0" bIns="0" rtlCol="0" anchor="ctr"/>
          <a:lstStyle/>
          <a:p>
            <a:pPr marL="0" indent="0">
              <a:buNone/>
            </a:pPr>
            <a:r>
              <a:rPr lang="en-GB" sz="1250" b="1" dirty="0">
                <a:solidFill>
                  <a:srgbClr val="0E5E5C"/>
                </a:solidFill>
                <a:latin typeface="Calibri" pitchFamily="34" charset="0"/>
                <a:ea typeface="Calibri" pitchFamily="34" charset="-122"/>
                <a:cs typeface="Calibri" pitchFamily="34" charset="-120"/>
              </a:rPr>
              <a:t>Three families of XAI techniques</a:t>
            </a:r>
            <a:endParaRPr lang="en-GB" sz="1250" dirty="0"/>
          </a:p>
        </p:txBody>
      </p:sp>
      <p:sp>
        <p:nvSpPr>
          <p:cNvPr id="17" name="Shape 12">
            <a:extLst>
              <a:ext uri="{FF2B5EF4-FFF2-40B4-BE49-F238E27FC236}">
                <a16:creationId xmlns:a16="http://schemas.microsoft.com/office/drawing/2014/main" id="{EEE4B76D-CD74-A444-0AF3-F01349761693}"/>
              </a:ext>
            </a:extLst>
          </p:cNvPr>
          <p:cNvSpPr/>
          <p:nvPr/>
        </p:nvSpPr>
        <p:spPr>
          <a:xfrm>
            <a:off x="457200"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GB" dirty="0"/>
          </a:p>
        </p:txBody>
      </p:sp>
      <p:sp>
        <p:nvSpPr>
          <p:cNvPr id="18" name="Shape 13">
            <a:extLst>
              <a:ext uri="{FF2B5EF4-FFF2-40B4-BE49-F238E27FC236}">
                <a16:creationId xmlns:a16="http://schemas.microsoft.com/office/drawing/2014/main" id="{E72BC5E2-CAA5-1DF4-5D56-E84ABC497A1A}"/>
              </a:ext>
            </a:extLst>
          </p:cNvPr>
          <p:cNvSpPr/>
          <p:nvPr/>
        </p:nvSpPr>
        <p:spPr>
          <a:xfrm>
            <a:off x="457200" y="3310128"/>
            <a:ext cx="2679192" cy="1298448"/>
          </a:xfrm>
          <a:prstGeom prst="roundRect">
            <a:avLst>
              <a:gd name="adj" fmla="val 5634"/>
            </a:avLst>
          </a:prstGeom>
          <a:ln w="12700">
            <a:solidFill>
              <a:srgbClr val="E7F0F0"/>
            </a:solidFill>
            <a:prstDash val="solid"/>
          </a:ln>
        </p:spPr>
        <p:txBody>
          <a:bodyPr/>
          <a:lstStyle/>
          <a:p>
            <a:endParaRPr lang="en-GB" dirty="0"/>
          </a:p>
        </p:txBody>
      </p:sp>
      <p:grpSp>
        <p:nvGrpSpPr>
          <p:cNvPr id="38" name="Group 37">
            <a:extLst>
              <a:ext uri="{FF2B5EF4-FFF2-40B4-BE49-F238E27FC236}">
                <a16:creationId xmlns:a16="http://schemas.microsoft.com/office/drawing/2014/main" id="{5CF361B3-7068-DA38-2FFF-60ADEF32DEC1}"/>
              </a:ext>
            </a:extLst>
          </p:cNvPr>
          <p:cNvGrpSpPr/>
          <p:nvPr/>
        </p:nvGrpSpPr>
        <p:grpSpPr>
          <a:xfrm>
            <a:off x="604601" y="3730752"/>
            <a:ext cx="2423160" cy="457200"/>
            <a:chOff x="640080" y="3474720"/>
            <a:chExt cx="2423160" cy="457200"/>
          </a:xfrm>
        </p:grpSpPr>
        <p:sp>
          <p:nvSpPr>
            <p:cNvPr id="19" name="Shape 14">
              <a:extLst>
                <a:ext uri="{FF2B5EF4-FFF2-40B4-BE49-F238E27FC236}">
                  <a16:creationId xmlns:a16="http://schemas.microsoft.com/office/drawing/2014/main" id="{6E872A5F-B94A-C0DF-F350-B388F9A17397}"/>
                </a:ext>
              </a:extLst>
            </p:cNvPr>
            <p:cNvSpPr/>
            <p:nvPr/>
          </p:nvSpPr>
          <p:spPr>
            <a:xfrm>
              <a:off x="640080" y="3474720"/>
              <a:ext cx="457200" cy="457200"/>
            </a:xfrm>
            <a:prstGeom prst="ellipse">
              <a:avLst/>
            </a:prstGeom>
            <a:solidFill>
              <a:srgbClr val="3E9D9B"/>
            </a:solidFill>
            <a:ln/>
          </p:spPr>
          <p:txBody>
            <a:bodyPr/>
            <a:lstStyle/>
            <a:p>
              <a:endParaRPr lang="en-GB" dirty="0"/>
            </a:p>
          </p:txBody>
        </p:sp>
        <p:pic>
          <p:nvPicPr>
            <p:cNvPr id="20" name="Image 3" descr="preencoded.png">
              <a:extLst>
                <a:ext uri="{FF2B5EF4-FFF2-40B4-BE49-F238E27FC236}">
                  <a16:creationId xmlns:a16="http://schemas.microsoft.com/office/drawing/2014/main" id="{24ED9B41-DEFC-CDDB-B9B4-D7A0C4754CAC}"/>
                </a:ext>
              </a:extLst>
            </p:cNvPr>
            <p:cNvPicPr>
              <a:picLocks noChangeAspect="1"/>
            </p:cNvPicPr>
            <p:nvPr/>
          </p:nvPicPr>
          <p:blipFill>
            <a:blip r:embed="rId5"/>
            <a:stretch>
              <a:fillRect/>
            </a:stretch>
          </p:blipFill>
          <p:spPr>
            <a:xfrm>
              <a:off x="758952" y="3593592"/>
              <a:ext cx="219456" cy="219456"/>
            </a:xfrm>
            <a:prstGeom prst="rect">
              <a:avLst/>
            </a:prstGeom>
          </p:spPr>
        </p:pic>
        <p:sp>
          <p:nvSpPr>
            <p:cNvPr id="21" name="Text 15">
              <a:extLst>
                <a:ext uri="{FF2B5EF4-FFF2-40B4-BE49-F238E27FC236}">
                  <a16:creationId xmlns:a16="http://schemas.microsoft.com/office/drawing/2014/main" id="{D4147C67-C4A4-2553-7287-0B84CC989506}"/>
                </a:ext>
              </a:extLst>
            </p:cNvPr>
            <p:cNvSpPr/>
            <p:nvPr/>
          </p:nvSpPr>
          <p:spPr>
            <a:xfrm>
              <a:off x="1188720" y="3493008"/>
              <a:ext cx="1874520" cy="420624"/>
            </a:xfrm>
            <a:prstGeom prst="rect">
              <a:avLst/>
            </a:prstGeom>
            <a:noFill/>
            <a:ln/>
          </p:spPr>
          <p:txBody>
            <a:bodyPr wrap="square" lIns="0" tIns="0" rIns="0" bIns="0" rtlCol="0" anchor="ctr"/>
            <a:lstStyle/>
            <a:p>
              <a:pPr marL="0" indent="0">
                <a:buNone/>
              </a:pPr>
              <a:r>
                <a:rPr lang="en-GB" sz="1250" b="1" dirty="0">
                  <a:solidFill>
                    <a:srgbClr val="0A2E36"/>
                  </a:solidFill>
                  <a:latin typeface="Cambria" pitchFamily="34" charset="0"/>
                  <a:ea typeface="Cambria" pitchFamily="34" charset="-122"/>
                  <a:cs typeface="Cambria" pitchFamily="34" charset="-120"/>
                </a:rPr>
                <a:t>Intrinsic interpretability</a:t>
              </a:r>
              <a:endParaRPr lang="en-GB" sz="1250" dirty="0"/>
            </a:p>
          </p:txBody>
        </p:sp>
      </p:grpSp>
      <p:sp>
        <p:nvSpPr>
          <p:cNvPr id="23" name="Shape 17">
            <a:extLst>
              <a:ext uri="{FF2B5EF4-FFF2-40B4-BE49-F238E27FC236}">
                <a16:creationId xmlns:a16="http://schemas.microsoft.com/office/drawing/2014/main" id="{C7BB4B5F-F494-03BA-8211-9F62A57D9FE5}"/>
              </a:ext>
            </a:extLst>
          </p:cNvPr>
          <p:cNvSpPr/>
          <p:nvPr/>
        </p:nvSpPr>
        <p:spPr>
          <a:xfrm>
            <a:off x="3236976"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GB" dirty="0"/>
          </a:p>
        </p:txBody>
      </p:sp>
      <p:sp>
        <p:nvSpPr>
          <p:cNvPr id="24" name="Shape 18">
            <a:extLst>
              <a:ext uri="{FF2B5EF4-FFF2-40B4-BE49-F238E27FC236}">
                <a16:creationId xmlns:a16="http://schemas.microsoft.com/office/drawing/2014/main" id="{CE4C12C8-1733-8D87-1F18-4171BFFC9726}"/>
              </a:ext>
            </a:extLst>
          </p:cNvPr>
          <p:cNvSpPr/>
          <p:nvPr/>
        </p:nvSpPr>
        <p:spPr>
          <a:xfrm>
            <a:off x="3236976" y="3310128"/>
            <a:ext cx="2679192" cy="1298448"/>
          </a:xfrm>
          <a:prstGeom prst="roundRect">
            <a:avLst>
              <a:gd name="adj" fmla="val 5634"/>
            </a:avLst>
          </a:prstGeom>
          <a:ln w="12700">
            <a:solidFill>
              <a:srgbClr val="E7F0F0"/>
            </a:solidFill>
            <a:prstDash val="solid"/>
          </a:ln>
        </p:spPr>
        <p:txBody>
          <a:bodyPr/>
          <a:lstStyle/>
          <a:p>
            <a:endParaRPr lang="en-GB" dirty="0"/>
          </a:p>
        </p:txBody>
      </p:sp>
      <p:grpSp>
        <p:nvGrpSpPr>
          <p:cNvPr id="39" name="Group 38">
            <a:extLst>
              <a:ext uri="{FF2B5EF4-FFF2-40B4-BE49-F238E27FC236}">
                <a16:creationId xmlns:a16="http://schemas.microsoft.com/office/drawing/2014/main" id="{76F6BE27-9110-692C-589C-C4C5E858A535}"/>
              </a:ext>
            </a:extLst>
          </p:cNvPr>
          <p:cNvGrpSpPr/>
          <p:nvPr/>
        </p:nvGrpSpPr>
        <p:grpSpPr>
          <a:xfrm>
            <a:off x="3451860" y="3730752"/>
            <a:ext cx="2423160" cy="457200"/>
            <a:chOff x="3419856" y="3474720"/>
            <a:chExt cx="2423160" cy="457200"/>
          </a:xfrm>
        </p:grpSpPr>
        <p:sp>
          <p:nvSpPr>
            <p:cNvPr id="25" name="Shape 19">
              <a:extLst>
                <a:ext uri="{FF2B5EF4-FFF2-40B4-BE49-F238E27FC236}">
                  <a16:creationId xmlns:a16="http://schemas.microsoft.com/office/drawing/2014/main" id="{8E63B0A2-6A9D-85AD-6EF3-1FDF5BB78AEC}"/>
                </a:ext>
              </a:extLst>
            </p:cNvPr>
            <p:cNvSpPr/>
            <p:nvPr/>
          </p:nvSpPr>
          <p:spPr>
            <a:xfrm>
              <a:off x="3419856" y="3474720"/>
              <a:ext cx="457200" cy="457200"/>
            </a:xfrm>
            <a:prstGeom prst="ellipse">
              <a:avLst/>
            </a:prstGeom>
            <a:solidFill>
              <a:srgbClr val="3E9D9B"/>
            </a:solidFill>
            <a:ln/>
          </p:spPr>
          <p:txBody>
            <a:bodyPr/>
            <a:lstStyle/>
            <a:p>
              <a:endParaRPr lang="en-GB" dirty="0"/>
            </a:p>
          </p:txBody>
        </p:sp>
        <p:pic>
          <p:nvPicPr>
            <p:cNvPr id="26" name="Image 4" descr="preencoded.png">
              <a:extLst>
                <a:ext uri="{FF2B5EF4-FFF2-40B4-BE49-F238E27FC236}">
                  <a16:creationId xmlns:a16="http://schemas.microsoft.com/office/drawing/2014/main" id="{FEDD40A4-7876-1845-23C7-58798972A7BA}"/>
                </a:ext>
              </a:extLst>
            </p:cNvPr>
            <p:cNvPicPr>
              <a:picLocks noChangeAspect="1"/>
            </p:cNvPicPr>
            <p:nvPr/>
          </p:nvPicPr>
          <p:blipFill>
            <a:blip r:embed="rId6"/>
            <a:stretch>
              <a:fillRect/>
            </a:stretch>
          </p:blipFill>
          <p:spPr>
            <a:xfrm>
              <a:off x="3538728" y="3593592"/>
              <a:ext cx="219456" cy="219456"/>
            </a:xfrm>
            <a:prstGeom prst="rect">
              <a:avLst/>
            </a:prstGeom>
          </p:spPr>
        </p:pic>
        <p:sp>
          <p:nvSpPr>
            <p:cNvPr id="27" name="Text 20">
              <a:extLst>
                <a:ext uri="{FF2B5EF4-FFF2-40B4-BE49-F238E27FC236}">
                  <a16:creationId xmlns:a16="http://schemas.microsoft.com/office/drawing/2014/main" id="{3A95707A-D829-C3C9-F3A0-68C7DA65DDF2}"/>
                </a:ext>
              </a:extLst>
            </p:cNvPr>
            <p:cNvSpPr/>
            <p:nvPr/>
          </p:nvSpPr>
          <p:spPr>
            <a:xfrm>
              <a:off x="3968496" y="3493008"/>
              <a:ext cx="1874520" cy="420624"/>
            </a:xfrm>
            <a:prstGeom prst="rect">
              <a:avLst/>
            </a:prstGeom>
            <a:noFill/>
            <a:ln/>
          </p:spPr>
          <p:txBody>
            <a:bodyPr wrap="square" lIns="0" tIns="0" rIns="0" bIns="0" rtlCol="0" anchor="ctr"/>
            <a:lstStyle/>
            <a:p>
              <a:pPr marL="0" indent="0">
                <a:buNone/>
              </a:pPr>
              <a:r>
                <a:rPr lang="en-GB" sz="1250" b="1" dirty="0">
                  <a:solidFill>
                    <a:srgbClr val="0A2E36"/>
                  </a:solidFill>
                  <a:latin typeface="Cambria" pitchFamily="34" charset="0"/>
                  <a:ea typeface="Cambria" pitchFamily="34" charset="-122"/>
                  <a:cs typeface="Cambria" pitchFamily="34" charset="-120"/>
                </a:rPr>
                <a:t>Post-hoc methods</a:t>
              </a:r>
              <a:endParaRPr lang="en-GB" sz="1250" dirty="0"/>
            </a:p>
          </p:txBody>
        </p:sp>
      </p:grpSp>
      <p:sp>
        <p:nvSpPr>
          <p:cNvPr id="29" name="Shape 22">
            <a:extLst>
              <a:ext uri="{FF2B5EF4-FFF2-40B4-BE49-F238E27FC236}">
                <a16:creationId xmlns:a16="http://schemas.microsoft.com/office/drawing/2014/main" id="{E1262AB9-E9FB-9750-CDF8-9B878D4D9912}"/>
              </a:ext>
            </a:extLst>
          </p:cNvPr>
          <p:cNvSpPr/>
          <p:nvPr/>
        </p:nvSpPr>
        <p:spPr>
          <a:xfrm>
            <a:off x="6016752" y="3310128"/>
            <a:ext cx="2679192" cy="1298448"/>
          </a:xfrm>
          <a:prstGeom prst="roundRect">
            <a:avLst>
              <a:gd name="adj" fmla="val 5634"/>
            </a:avLst>
          </a:prstGeom>
          <a:solidFill>
            <a:srgbClr val="FFFFFF"/>
          </a:solidFill>
          <a:ln/>
          <a:effectLst>
            <a:outerShdw blurRad="88900" dist="25400" dir="5400000" algn="bl" rotWithShape="0">
              <a:srgbClr val="0A2E36">
                <a:alpha val="10000"/>
              </a:srgbClr>
            </a:outerShdw>
          </a:effectLst>
        </p:spPr>
        <p:txBody>
          <a:bodyPr/>
          <a:lstStyle/>
          <a:p>
            <a:endParaRPr lang="en-GB" dirty="0"/>
          </a:p>
        </p:txBody>
      </p:sp>
      <p:sp>
        <p:nvSpPr>
          <p:cNvPr id="30" name="Shape 23">
            <a:extLst>
              <a:ext uri="{FF2B5EF4-FFF2-40B4-BE49-F238E27FC236}">
                <a16:creationId xmlns:a16="http://schemas.microsoft.com/office/drawing/2014/main" id="{1C68041D-F8E0-38B7-5281-549B7C847A32}"/>
              </a:ext>
            </a:extLst>
          </p:cNvPr>
          <p:cNvSpPr/>
          <p:nvPr/>
        </p:nvSpPr>
        <p:spPr>
          <a:xfrm>
            <a:off x="6016752" y="3310128"/>
            <a:ext cx="2679192" cy="1298448"/>
          </a:xfrm>
          <a:prstGeom prst="roundRect">
            <a:avLst>
              <a:gd name="adj" fmla="val 5634"/>
            </a:avLst>
          </a:prstGeom>
          <a:ln w="12700">
            <a:solidFill>
              <a:srgbClr val="E7F0F0"/>
            </a:solidFill>
            <a:prstDash val="solid"/>
          </a:ln>
        </p:spPr>
        <p:txBody>
          <a:bodyPr/>
          <a:lstStyle/>
          <a:p>
            <a:endParaRPr lang="en-GB" dirty="0"/>
          </a:p>
        </p:txBody>
      </p:sp>
      <p:grpSp>
        <p:nvGrpSpPr>
          <p:cNvPr id="40" name="Group 39">
            <a:extLst>
              <a:ext uri="{FF2B5EF4-FFF2-40B4-BE49-F238E27FC236}">
                <a16:creationId xmlns:a16="http://schemas.microsoft.com/office/drawing/2014/main" id="{ACDE4E7A-3615-740D-4C80-4126073FAAF0}"/>
              </a:ext>
            </a:extLst>
          </p:cNvPr>
          <p:cNvGrpSpPr/>
          <p:nvPr/>
        </p:nvGrpSpPr>
        <p:grpSpPr>
          <a:xfrm>
            <a:off x="6211202" y="3685592"/>
            <a:ext cx="2423160" cy="457200"/>
            <a:chOff x="6199632" y="3474720"/>
            <a:chExt cx="2423160" cy="457200"/>
          </a:xfrm>
        </p:grpSpPr>
        <p:sp>
          <p:nvSpPr>
            <p:cNvPr id="31" name="Shape 24">
              <a:extLst>
                <a:ext uri="{FF2B5EF4-FFF2-40B4-BE49-F238E27FC236}">
                  <a16:creationId xmlns:a16="http://schemas.microsoft.com/office/drawing/2014/main" id="{46F1647E-D7CF-914D-D282-AE9CEDB9E29B}"/>
                </a:ext>
              </a:extLst>
            </p:cNvPr>
            <p:cNvSpPr/>
            <p:nvPr/>
          </p:nvSpPr>
          <p:spPr>
            <a:xfrm>
              <a:off x="6199632" y="3474720"/>
              <a:ext cx="457200" cy="457200"/>
            </a:xfrm>
            <a:prstGeom prst="ellipse">
              <a:avLst/>
            </a:prstGeom>
            <a:solidFill>
              <a:srgbClr val="3E9D9B"/>
            </a:solidFill>
            <a:ln/>
          </p:spPr>
          <p:txBody>
            <a:bodyPr/>
            <a:lstStyle/>
            <a:p>
              <a:endParaRPr lang="en-GB" dirty="0"/>
            </a:p>
          </p:txBody>
        </p:sp>
        <p:pic>
          <p:nvPicPr>
            <p:cNvPr id="32" name="Image 5" descr="preencoded.png">
              <a:extLst>
                <a:ext uri="{FF2B5EF4-FFF2-40B4-BE49-F238E27FC236}">
                  <a16:creationId xmlns:a16="http://schemas.microsoft.com/office/drawing/2014/main" id="{4E5B6FA7-6690-0693-477C-2F2DFCD1FEF4}"/>
                </a:ext>
              </a:extLst>
            </p:cNvPr>
            <p:cNvPicPr>
              <a:picLocks noChangeAspect="1"/>
            </p:cNvPicPr>
            <p:nvPr/>
          </p:nvPicPr>
          <p:blipFill>
            <a:blip r:embed="rId7"/>
            <a:stretch>
              <a:fillRect/>
            </a:stretch>
          </p:blipFill>
          <p:spPr>
            <a:xfrm>
              <a:off x="6318504" y="3593592"/>
              <a:ext cx="219456" cy="219456"/>
            </a:xfrm>
            <a:prstGeom prst="rect">
              <a:avLst/>
            </a:prstGeom>
          </p:spPr>
        </p:pic>
        <p:sp>
          <p:nvSpPr>
            <p:cNvPr id="33" name="Text 25">
              <a:extLst>
                <a:ext uri="{FF2B5EF4-FFF2-40B4-BE49-F238E27FC236}">
                  <a16:creationId xmlns:a16="http://schemas.microsoft.com/office/drawing/2014/main" id="{25FA900D-595E-CDE2-E95F-411FF2368363}"/>
                </a:ext>
              </a:extLst>
            </p:cNvPr>
            <p:cNvSpPr/>
            <p:nvPr/>
          </p:nvSpPr>
          <p:spPr>
            <a:xfrm>
              <a:off x="6748272" y="3493008"/>
              <a:ext cx="1874520" cy="420624"/>
            </a:xfrm>
            <a:prstGeom prst="rect">
              <a:avLst/>
            </a:prstGeom>
            <a:noFill/>
            <a:ln/>
          </p:spPr>
          <p:txBody>
            <a:bodyPr wrap="square" lIns="0" tIns="0" rIns="0" bIns="0" rtlCol="0" anchor="ctr"/>
            <a:lstStyle/>
            <a:p>
              <a:pPr marL="0" indent="0">
                <a:buNone/>
              </a:pPr>
              <a:r>
                <a:rPr lang="en-GB" sz="1250" b="1" dirty="0">
                  <a:solidFill>
                    <a:srgbClr val="0A2E36"/>
                  </a:solidFill>
                  <a:latin typeface="Cambria" pitchFamily="34" charset="0"/>
                  <a:ea typeface="Cambria" pitchFamily="34" charset="-122"/>
                  <a:cs typeface="Cambria" pitchFamily="34" charset="-120"/>
                </a:rPr>
                <a:t>Counterfactuals</a:t>
              </a:r>
              <a:endParaRPr lang="en-GB" sz="1250" dirty="0"/>
            </a:p>
          </p:txBody>
        </p:sp>
      </p:grpSp>
      <p:sp>
        <p:nvSpPr>
          <p:cNvPr id="35" name="Text 27">
            <a:extLst>
              <a:ext uri="{FF2B5EF4-FFF2-40B4-BE49-F238E27FC236}">
                <a16:creationId xmlns:a16="http://schemas.microsoft.com/office/drawing/2014/main" id="{E24501DB-0D78-F590-57BF-FEACC62F57C5}"/>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GB" sz="900" dirty="0">
                <a:solidFill>
                  <a:srgbClr val="8AA0A3"/>
                </a:solidFill>
                <a:latin typeface="Calibri" pitchFamily="34" charset="0"/>
                <a:ea typeface="Calibri" pitchFamily="34" charset="-122"/>
                <a:cs typeface="Calibri" pitchFamily="34" charset="-120"/>
              </a:rPr>
              <a:t>6</a:t>
            </a:r>
            <a:endParaRPr lang="en-GB" sz="900" dirty="0"/>
          </a:p>
        </p:txBody>
      </p:sp>
      <p:pic>
        <p:nvPicPr>
          <p:cNvPr id="42" name="Graphic 41" descr="Questions with solid fill">
            <a:extLst>
              <a:ext uri="{FF2B5EF4-FFF2-40B4-BE49-F238E27FC236}">
                <a16:creationId xmlns:a16="http://schemas.microsoft.com/office/drawing/2014/main" id="{91103748-FC1F-E8DC-F443-6FA2E8CD969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6704" y="354971"/>
            <a:ext cx="473537" cy="473537"/>
          </a:xfrm>
          <a:prstGeom prst="rect">
            <a:avLst/>
          </a:prstGeom>
        </p:spPr>
      </p:pic>
    </p:spTree>
    <p:extLst>
      <p:ext uri="{BB962C8B-B14F-4D97-AF65-F5344CB8AC3E}">
        <p14:creationId xmlns:p14="http://schemas.microsoft.com/office/powerpoint/2010/main" val="99526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LLMs as conversational explanatory agents</a:t>
            </a:r>
            <a:endParaRPr lang="en-US" sz="2700"/>
          </a:p>
        </p:txBody>
      </p:sp>
      <p:grpSp>
        <p:nvGrpSpPr>
          <p:cNvPr id="19" name="Group 18">
            <a:extLst>
              <a:ext uri="{FF2B5EF4-FFF2-40B4-BE49-F238E27FC236}">
                <a16:creationId xmlns:a16="http://schemas.microsoft.com/office/drawing/2014/main" id="{7E62249C-A1B5-1746-1411-47C06BCBEF63}"/>
              </a:ext>
            </a:extLst>
          </p:cNvPr>
          <p:cNvGrpSpPr/>
          <p:nvPr/>
        </p:nvGrpSpPr>
        <p:grpSpPr>
          <a:xfrm>
            <a:off x="457200" y="1262777"/>
            <a:ext cx="8229600" cy="3108960"/>
            <a:chOff x="457200" y="1417320"/>
            <a:chExt cx="8229600" cy="3108960"/>
          </a:xfrm>
        </p:grpSpPr>
        <p:sp>
          <p:nvSpPr>
            <p:cNvPr id="6" name="Shape 3"/>
            <p:cNvSpPr/>
            <p:nvPr/>
          </p:nvSpPr>
          <p:spPr>
            <a:xfrm>
              <a:off x="457200" y="1417320"/>
              <a:ext cx="4023360" cy="3108960"/>
            </a:xfrm>
            <a:prstGeom prst="roundRect">
              <a:avLst>
                <a:gd name="adj" fmla="val 235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76656" y="1627632"/>
              <a:ext cx="548640" cy="548640"/>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819302" y="1770278"/>
              <a:ext cx="263347" cy="263347"/>
            </a:xfrm>
            <a:prstGeom prst="rect">
              <a:avLst/>
            </a:prstGeom>
          </p:spPr>
        </p:pic>
        <p:sp>
          <p:nvSpPr>
            <p:cNvPr id="9" name="Text 5"/>
            <p:cNvSpPr/>
            <p:nvPr/>
          </p:nvSpPr>
          <p:spPr>
            <a:xfrm>
              <a:off x="1335024" y="1664208"/>
              <a:ext cx="2926080" cy="365760"/>
            </a:xfrm>
            <a:prstGeom prst="rect">
              <a:avLst/>
            </a:prstGeom>
            <a:noFill/>
            <a:ln/>
          </p:spPr>
          <p:txBody>
            <a:bodyPr wrap="square" lIns="0" tIns="0" rIns="0" bIns="0" rtlCol="0" anchor="ctr"/>
            <a:lstStyle/>
            <a:p>
              <a:pPr marL="0" indent="0">
                <a:buNone/>
              </a:pPr>
              <a:r>
                <a:rPr lang="en-US" sz="1650" b="1">
                  <a:solidFill>
                    <a:srgbClr val="0A2E36"/>
                  </a:solidFill>
                  <a:latin typeface="Cambria" pitchFamily="34" charset="0"/>
                  <a:ea typeface="Cambria" pitchFamily="34" charset="-122"/>
                  <a:cs typeface="Cambria" pitchFamily="34" charset="-120"/>
                </a:rPr>
                <a:t>The opportunity</a:t>
              </a:r>
              <a:endParaRPr lang="en-US" sz="1650"/>
            </a:p>
          </p:txBody>
        </p:sp>
        <p:sp>
          <p:nvSpPr>
            <p:cNvPr id="10" name="Text 6"/>
            <p:cNvSpPr/>
            <p:nvPr/>
          </p:nvSpPr>
          <p:spPr>
            <a:xfrm>
              <a:off x="676656" y="2286000"/>
              <a:ext cx="3611880" cy="21488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Turn complex topics into accessible narratives.</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Personalised, individualised learning.</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Refine the user’s mental models.</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Iteratively fill in knowledge gaps (grounding).</a:t>
              </a:r>
              <a:endParaRPr lang="en-US" sz="1300" dirty="0"/>
            </a:p>
            <a:p>
              <a:pPr marL="342900" indent="-342900">
                <a:spcAft>
                  <a:spcPts val="800"/>
                </a:spcAft>
                <a:buSzPct val="100000"/>
                <a:buChar char="•"/>
              </a:pPr>
              <a:r>
                <a:rPr lang="en-US" sz="1300" dirty="0">
                  <a:solidFill>
                    <a:srgbClr val="183036"/>
                  </a:solidFill>
                  <a:latin typeface="Calibri" pitchFamily="34" charset="0"/>
                  <a:ea typeface="Calibri" pitchFamily="34" charset="-122"/>
                  <a:cs typeface="Calibri" pitchFamily="34" charset="-120"/>
                </a:rPr>
                <a:t>Ask follow-up questions.</a:t>
              </a:r>
              <a:endParaRPr lang="en-US" sz="1300" dirty="0"/>
            </a:p>
          </p:txBody>
        </p:sp>
        <p:sp>
          <p:nvSpPr>
            <p:cNvPr id="11" name="Shape 7"/>
            <p:cNvSpPr/>
            <p:nvPr/>
          </p:nvSpPr>
          <p:spPr>
            <a:xfrm>
              <a:off x="4663440" y="1417320"/>
              <a:ext cx="4023360" cy="3108960"/>
            </a:xfrm>
            <a:prstGeom prst="roundRect">
              <a:avLst>
                <a:gd name="adj" fmla="val 2353"/>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4882896" y="1627632"/>
              <a:ext cx="548640" cy="548640"/>
            </a:xfrm>
            <a:prstGeom prst="ellipse">
              <a:avLst/>
            </a:prstGeom>
            <a:solidFill>
              <a:srgbClr val="E9B44C"/>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5025542" y="1770278"/>
              <a:ext cx="263347" cy="263347"/>
            </a:xfrm>
            <a:prstGeom prst="rect">
              <a:avLst/>
            </a:prstGeom>
          </p:spPr>
        </p:pic>
        <p:sp>
          <p:nvSpPr>
            <p:cNvPr id="14" name="Text 9"/>
            <p:cNvSpPr/>
            <p:nvPr/>
          </p:nvSpPr>
          <p:spPr>
            <a:xfrm>
              <a:off x="5541264" y="1664208"/>
              <a:ext cx="2926080" cy="3657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The gap</a:t>
              </a:r>
              <a:endParaRPr lang="en-US" sz="1650" dirty="0"/>
            </a:p>
          </p:txBody>
        </p:sp>
        <p:sp>
          <p:nvSpPr>
            <p:cNvPr id="15" name="Text 10"/>
            <p:cNvSpPr/>
            <p:nvPr/>
          </p:nvSpPr>
          <p:spPr>
            <a:xfrm>
              <a:off x="4882896" y="2286000"/>
              <a:ext cx="3657600" cy="640080"/>
            </a:xfrm>
            <a:prstGeom prst="rect">
              <a:avLst/>
            </a:prstGeom>
            <a:noFill/>
            <a:ln/>
          </p:spPr>
          <p:txBody>
            <a:bodyPr wrap="square" lIns="0" tIns="0" rIns="0" bIns="0" rtlCol="0" anchor="ctr"/>
            <a:lstStyle/>
            <a:p>
              <a:pPr marL="0" indent="0">
                <a:buNone/>
              </a:pPr>
              <a:r>
                <a:rPr lang="en-US" sz="1300" dirty="0">
                  <a:solidFill>
                    <a:srgbClr val="F1F7F7"/>
                  </a:solidFill>
                  <a:latin typeface="Calibri" pitchFamily="34" charset="0"/>
                  <a:ea typeface="Calibri" pitchFamily="34" charset="-122"/>
                  <a:cs typeface="Calibri" pitchFamily="34" charset="-120"/>
                </a:rPr>
                <a:t>Prior LLM-for-XAI work is </a:t>
              </a:r>
              <a:r>
                <a:rPr lang="en-US" sz="1300" b="1" dirty="0">
                  <a:solidFill>
                    <a:srgbClr val="9AD1D4"/>
                  </a:solidFill>
                  <a:latin typeface="Calibri" pitchFamily="34" charset="0"/>
                  <a:ea typeface="Calibri" pitchFamily="34" charset="-122"/>
                  <a:cs typeface="Calibri" pitchFamily="34" charset="-120"/>
                </a:rPr>
                <a:t>restricted to templates</a:t>
              </a:r>
              <a:r>
                <a:rPr lang="en-US" sz="1300" dirty="0">
                  <a:solidFill>
                    <a:srgbClr val="F1F7F7"/>
                  </a:solidFill>
                  <a:latin typeface="Calibri" pitchFamily="34" charset="0"/>
                  <a:ea typeface="Calibri" pitchFamily="34" charset="-122"/>
                  <a:cs typeface="Calibri" pitchFamily="34" charset="-120"/>
                </a:rPr>
                <a:t>, limiting conversational capacity.</a:t>
              </a:r>
              <a:endParaRPr lang="en-US" sz="1300" dirty="0"/>
            </a:p>
          </p:txBody>
        </p:sp>
        <p:sp>
          <p:nvSpPr>
            <p:cNvPr id="16" name="Text 11"/>
            <p:cNvSpPr/>
            <p:nvPr/>
          </p:nvSpPr>
          <p:spPr>
            <a:xfrm>
              <a:off x="4882896" y="3035808"/>
              <a:ext cx="3657600" cy="640080"/>
            </a:xfrm>
            <a:prstGeom prst="rect">
              <a:avLst/>
            </a:prstGeom>
            <a:noFill/>
            <a:ln/>
          </p:spPr>
          <p:txBody>
            <a:bodyPr wrap="square" lIns="0" tIns="0" rIns="0" bIns="0" rtlCol="0" anchor="ctr"/>
            <a:lstStyle/>
            <a:p>
              <a:pPr marL="0" indent="0">
                <a:buNone/>
              </a:pPr>
              <a:r>
                <a:rPr lang="en-US" sz="1300" dirty="0">
                  <a:solidFill>
                    <a:srgbClr val="F1F7F7"/>
                  </a:solidFill>
                  <a:latin typeface="Calibri" pitchFamily="34" charset="0"/>
                  <a:ea typeface="Calibri" pitchFamily="34" charset="-122"/>
                  <a:cs typeface="Calibri" pitchFamily="34" charset="-120"/>
                </a:rPr>
                <a:t>Or it is judged only on </a:t>
              </a:r>
              <a:r>
                <a:rPr lang="en-US" sz="1300" b="1" dirty="0">
                  <a:solidFill>
                    <a:srgbClr val="9AD1D4"/>
                  </a:solidFill>
                  <a:latin typeface="Calibri" pitchFamily="34" charset="0"/>
                  <a:ea typeface="Calibri" pitchFamily="34" charset="-122"/>
                  <a:cs typeface="Calibri" pitchFamily="34" charset="-120"/>
                </a:rPr>
                <a:t>user satisfaction &amp; acceptance</a:t>
              </a:r>
              <a:r>
                <a:rPr lang="en-US" sz="1300" dirty="0">
                  <a:solidFill>
                    <a:srgbClr val="F1F7F7"/>
                  </a:solidFill>
                  <a:latin typeface="Calibri" pitchFamily="34" charset="0"/>
                  <a:ea typeface="Calibri" pitchFamily="34" charset="-122"/>
                  <a:cs typeface="Calibri" pitchFamily="34" charset="-120"/>
                </a:rPr>
                <a:t> — not on whether explanations are correct.</a:t>
              </a:r>
              <a:endParaRPr lang="en-US" sz="1300" dirty="0"/>
            </a:p>
          </p:txBody>
        </p:sp>
        <p:sp>
          <p:nvSpPr>
            <p:cNvPr id="17" name="Text 12"/>
            <p:cNvSpPr/>
            <p:nvPr/>
          </p:nvSpPr>
          <p:spPr>
            <a:xfrm>
              <a:off x="4882896" y="3858768"/>
              <a:ext cx="3657600" cy="548640"/>
            </a:xfrm>
            <a:prstGeom prst="rect">
              <a:avLst/>
            </a:prstGeom>
            <a:noFill/>
            <a:ln/>
          </p:spPr>
          <p:txBody>
            <a:bodyPr wrap="square" lIns="0" tIns="0" rIns="0" bIns="0" rtlCol="0" anchor="ctr"/>
            <a:lstStyle/>
            <a:p>
              <a:pPr marL="0" indent="0">
                <a:buNone/>
              </a:pPr>
              <a:r>
                <a:rPr lang="en-US" sz="1350" b="1" i="1" dirty="0">
                  <a:solidFill>
                    <a:srgbClr val="E9B44C"/>
                  </a:solidFill>
                  <a:latin typeface="Calibri" pitchFamily="34" charset="0"/>
                  <a:ea typeface="Calibri" pitchFamily="34" charset="-122"/>
                  <a:cs typeface="Calibri" pitchFamily="34" charset="-120"/>
                </a:rPr>
                <a:t>No consensus exists on what to measure, or how.</a:t>
              </a:r>
              <a:endParaRPr lang="en-US" sz="1350" dirty="0"/>
            </a:p>
          </p:txBody>
        </p:sp>
      </p:grpSp>
      <p:sp>
        <p:nvSpPr>
          <p:cNvPr id="18" name="Text 13"/>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6" name="Rounded Rectangle 45">
            <a:extLst>
              <a:ext uri="{FF2B5EF4-FFF2-40B4-BE49-F238E27FC236}">
                <a16:creationId xmlns:a16="http://schemas.microsoft.com/office/drawing/2014/main" id="{D53FB338-B864-8D9E-36B8-975312AE7E53}"/>
              </a:ext>
            </a:extLst>
          </p:cNvPr>
          <p:cNvSpPr/>
          <p:nvPr/>
        </p:nvSpPr>
        <p:spPr>
          <a:xfrm>
            <a:off x="334297" y="3102911"/>
            <a:ext cx="8475406" cy="1745226"/>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45" name="Rounded Rectangle 44">
            <a:extLst>
              <a:ext uri="{FF2B5EF4-FFF2-40B4-BE49-F238E27FC236}">
                <a16:creationId xmlns:a16="http://schemas.microsoft.com/office/drawing/2014/main" id="{AFD79BB7-9FF3-0654-2566-28BE67C7323E}"/>
              </a:ext>
            </a:extLst>
          </p:cNvPr>
          <p:cNvSpPr/>
          <p:nvPr/>
        </p:nvSpPr>
        <p:spPr>
          <a:xfrm>
            <a:off x="334297" y="1270639"/>
            <a:ext cx="8475406" cy="1745226"/>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Thesis contributions</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 transferable framework for evaluating LLM-generated explanations</a:t>
            </a:r>
            <a:endParaRPr lang="en-US" sz="1250" dirty="0"/>
          </a:p>
        </p:txBody>
      </p:sp>
      <p:sp>
        <p:nvSpPr>
          <p:cNvPr id="6" name="Shape 3"/>
          <p:cNvSpPr/>
          <p:nvPr/>
        </p:nvSpPr>
        <p:spPr>
          <a:xfrm>
            <a:off x="457200"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40080" y="1554480"/>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73217" y="1687617"/>
            <a:ext cx="245791" cy="245791"/>
          </a:xfrm>
          <a:prstGeom prst="rect">
            <a:avLst/>
          </a:prstGeom>
        </p:spPr>
      </p:pic>
      <p:sp>
        <p:nvSpPr>
          <p:cNvPr id="9" name="Text 5"/>
          <p:cNvSpPr/>
          <p:nvPr/>
        </p:nvSpPr>
        <p:spPr>
          <a:xfrm>
            <a:off x="640080" y="22865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ACF composite metric</a:t>
            </a:r>
            <a:endParaRPr lang="en-US" sz="1350" dirty="0"/>
          </a:p>
        </p:txBody>
      </p:sp>
      <p:grpSp>
        <p:nvGrpSpPr>
          <p:cNvPr id="38" name="Group 37">
            <a:extLst>
              <a:ext uri="{FF2B5EF4-FFF2-40B4-BE49-F238E27FC236}">
                <a16:creationId xmlns:a16="http://schemas.microsoft.com/office/drawing/2014/main" id="{9B0EBC91-724A-3B39-A5F9-6048B1B0F8DE}"/>
              </a:ext>
            </a:extLst>
          </p:cNvPr>
          <p:cNvGrpSpPr/>
          <p:nvPr/>
        </p:nvGrpSpPr>
        <p:grpSpPr>
          <a:xfrm>
            <a:off x="6030468" y="1384300"/>
            <a:ext cx="2679192" cy="1517904"/>
            <a:chOff x="3232404" y="1371600"/>
            <a:chExt cx="2679192" cy="1517904"/>
          </a:xfrm>
        </p:grpSpPr>
        <p:sp>
          <p:nvSpPr>
            <p:cNvPr id="11" name="Shape 7"/>
            <p:cNvSpPr/>
            <p:nvPr/>
          </p:nvSpPr>
          <p:spPr>
            <a:xfrm>
              <a:off x="3232404"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3415284" y="1554480"/>
              <a:ext cx="512064" cy="512064"/>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3548421" y="1687617"/>
              <a:ext cx="245791" cy="245791"/>
            </a:xfrm>
            <a:prstGeom prst="rect">
              <a:avLst/>
            </a:prstGeom>
          </p:spPr>
        </p:pic>
        <p:sp>
          <p:nvSpPr>
            <p:cNvPr id="14" name="Text 9"/>
            <p:cNvSpPr/>
            <p:nvPr/>
          </p:nvSpPr>
          <p:spPr>
            <a:xfrm>
              <a:off x="3415284" y="22865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Readability benchmarking</a:t>
              </a:r>
              <a:endParaRPr lang="en-US" sz="1350" dirty="0"/>
            </a:p>
          </p:txBody>
        </p:sp>
      </p:grpSp>
      <p:grpSp>
        <p:nvGrpSpPr>
          <p:cNvPr id="44" name="Group 43">
            <a:extLst>
              <a:ext uri="{FF2B5EF4-FFF2-40B4-BE49-F238E27FC236}">
                <a16:creationId xmlns:a16="http://schemas.microsoft.com/office/drawing/2014/main" id="{676256D5-6711-D4FC-D733-1451F0CD7D71}"/>
              </a:ext>
            </a:extLst>
          </p:cNvPr>
          <p:cNvGrpSpPr/>
          <p:nvPr/>
        </p:nvGrpSpPr>
        <p:grpSpPr>
          <a:xfrm>
            <a:off x="3240033" y="1384300"/>
            <a:ext cx="2679192" cy="1517904"/>
            <a:chOff x="6007608" y="1371600"/>
            <a:chExt cx="2679192" cy="1517904"/>
          </a:xfrm>
        </p:grpSpPr>
        <p:sp>
          <p:nvSpPr>
            <p:cNvPr id="16" name="Shape 11"/>
            <p:cNvSpPr/>
            <p:nvPr/>
          </p:nvSpPr>
          <p:spPr>
            <a:xfrm>
              <a:off x="6007608"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dirty="0"/>
            </a:p>
          </p:txBody>
        </p:sp>
        <p:grpSp>
          <p:nvGrpSpPr>
            <p:cNvPr id="39" name="Group 38">
              <a:extLst>
                <a:ext uri="{FF2B5EF4-FFF2-40B4-BE49-F238E27FC236}">
                  <a16:creationId xmlns:a16="http://schemas.microsoft.com/office/drawing/2014/main" id="{FD4C1E71-2B9B-3E56-5545-1327177A125D}"/>
                </a:ext>
              </a:extLst>
            </p:cNvPr>
            <p:cNvGrpSpPr/>
            <p:nvPr/>
          </p:nvGrpSpPr>
          <p:grpSpPr>
            <a:xfrm>
              <a:off x="6190488" y="1554480"/>
              <a:ext cx="2313432" cy="1024636"/>
              <a:chOff x="6190488" y="1554480"/>
              <a:chExt cx="2313432" cy="1024636"/>
            </a:xfrm>
          </p:grpSpPr>
          <p:sp>
            <p:nvSpPr>
              <p:cNvPr id="17" name="Shape 12"/>
              <p:cNvSpPr/>
              <p:nvPr/>
            </p:nvSpPr>
            <p:spPr>
              <a:xfrm>
                <a:off x="6190488" y="1554480"/>
                <a:ext cx="512064" cy="512064"/>
              </a:xfrm>
              <a:prstGeom prst="ellipse">
                <a:avLst/>
              </a:prstGeom>
              <a:solidFill>
                <a:srgbClr val="127475"/>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6323625" y="1687617"/>
                <a:ext cx="245791" cy="245791"/>
              </a:xfrm>
              <a:prstGeom prst="rect">
                <a:avLst/>
              </a:prstGeom>
            </p:spPr>
          </p:pic>
          <p:sp>
            <p:nvSpPr>
              <p:cNvPr id="19" name="Text 13"/>
              <p:cNvSpPr/>
              <p:nvPr/>
            </p:nvSpPr>
            <p:spPr>
              <a:xfrm>
                <a:off x="6190488" y="22865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Information units</a:t>
                </a:r>
                <a:endParaRPr lang="en-US" sz="1350" dirty="0"/>
              </a:p>
            </p:txBody>
          </p:sp>
        </p:grpSp>
      </p:grpSp>
      <p:grpSp>
        <p:nvGrpSpPr>
          <p:cNvPr id="42" name="Group 41">
            <a:extLst>
              <a:ext uri="{FF2B5EF4-FFF2-40B4-BE49-F238E27FC236}">
                <a16:creationId xmlns:a16="http://schemas.microsoft.com/office/drawing/2014/main" id="{FB8FA7C1-15B4-C0C1-2815-FC7542A810DD}"/>
              </a:ext>
            </a:extLst>
          </p:cNvPr>
          <p:cNvGrpSpPr/>
          <p:nvPr/>
        </p:nvGrpSpPr>
        <p:grpSpPr>
          <a:xfrm>
            <a:off x="457200" y="3229698"/>
            <a:ext cx="2679192" cy="1517904"/>
            <a:chOff x="457200" y="3072384"/>
            <a:chExt cx="2679192" cy="1517904"/>
          </a:xfrm>
        </p:grpSpPr>
        <p:sp>
          <p:nvSpPr>
            <p:cNvPr id="21" name="Shape 15"/>
            <p:cNvSpPr/>
            <p:nvPr/>
          </p:nvSpPr>
          <p:spPr>
            <a:xfrm>
              <a:off x="457200"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2" name="Shape 16"/>
            <p:cNvSpPr/>
            <p:nvPr/>
          </p:nvSpPr>
          <p:spPr>
            <a:xfrm>
              <a:off x="640080" y="3255264"/>
              <a:ext cx="512064" cy="512064"/>
            </a:xfrm>
            <a:prstGeom prst="ellipse">
              <a:avLst/>
            </a:prstGeom>
            <a:solidFill>
              <a:srgbClr val="127475"/>
            </a:solidFill>
            <a:ln/>
          </p:spPr>
          <p:txBody>
            <a:bodyPr/>
            <a:lstStyle/>
            <a:p>
              <a:endParaRPr lang="en-DE"/>
            </a:p>
          </p:txBody>
        </p:sp>
        <p:pic>
          <p:nvPicPr>
            <p:cNvPr id="23" name="Image 4" descr="preencoded.png"/>
            <p:cNvPicPr>
              <a:picLocks noChangeAspect="1"/>
            </p:cNvPicPr>
            <p:nvPr/>
          </p:nvPicPr>
          <p:blipFill>
            <a:blip r:embed="rId7"/>
            <a:stretch>
              <a:fillRect/>
            </a:stretch>
          </p:blipFill>
          <p:spPr>
            <a:xfrm>
              <a:off x="773217" y="3388401"/>
              <a:ext cx="245791" cy="245791"/>
            </a:xfrm>
            <a:prstGeom prst="rect">
              <a:avLst/>
            </a:prstGeom>
          </p:spPr>
        </p:pic>
        <p:sp>
          <p:nvSpPr>
            <p:cNvPr id="24" name="Text 17"/>
            <p:cNvSpPr/>
            <p:nvPr/>
          </p:nvSpPr>
          <p:spPr>
            <a:xfrm>
              <a:off x="640080" y="3968496"/>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XAI-QB as schema</a:t>
              </a:r>
              <a:endParaRPr lang="en-US" sz="1350" dirty="0"/>
            </a:p>
          </p:txBody>
        </p:sp>
      </p:grpSp>
      <p:grpSp>
        <p:nvGrpSpPr>
          <p:cNvPr id="41" name="Group 40">
            <a:extLst>
              <a:ext uri="{FF2B5EF4-FFF2-40B4-BE49-F238E27FC236}">
                <a16:creationId xmlns:a16="http://schemas.microsoft.com/office/drawing/2014/main" id="{B821E91A-1CC9-7008-DD31-0640FA4C00E9}"/>
              </a:ext>
            </a:extLst>
          </p:cNvPr>
          <p:cNvGrpSpPr/>
          <p:nvPr/>
        </p:nvGrpSpPr>
        <p:grpSpPr>
          <a:xfrm>
            <a:off x="6030468" y="3223082"/>
            <a:ext cx="2679192" cy="1517904"/>
            <a:chOff x="3232404" y="3072384"/>
            <a:chExt cx="2679192" cy="1517904"/>
          </a:xfrm>
        </p:grpSpPr>
        <p:sp>
          <p:nvSpPr>
            <p:cNvPr id="26" name="Shape 19"/>
            <p:cNvSpPr/>
            <p:nvPr/>
          </p:nvSpPr>
          <p:spPr>
            <a:xfrm>
              <a:off x="3232404"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7" name="Shape 20"/>
            <p:cNvSpPr/>
            <p:nvPr/>
          </p:nvSpPr>
          <p:spPr>
            <a:xfrm>
              <a:off x="3415284" y="3255264"/>
              <a:ext cx="512064" cy="512064"/>
            </a:xfrm>
            <a:prstGeom prst="ellipse">
              <a:avLst/>
            </a:prstGeom>
            <a:solidFill>
              <a:srgbClr val="127475"/>
            </a:solidFill>
            <a:ln/>
          </p:spPr>
          <p:txBody>
            <a:bodyPr/>
            <a:lstStyle/>
            <a:p>
              <a:endParaRPr lang="en-DE"/>
            </a:p>
          </p:txBody>
        </p:sp>
        <p:pic>
          <p:nvPicPr>
            <p:cNvPr id="28" name="Image 5" descr="preencoded.png"/>
            <p:cNvPicPr>
              <a:picLocks noChangeAspect="1"/>
            </p:cNvPicPr>
            <p:nvPr/>
          </p:nvPicPr>
          <p:blipFill>
            <a:blip r:embed="rId8"/>
            <a:stretch>
              <a:fillRect/>
            </a:stretch>
          </p:blipFill>
          <p:spPr>
            <a:xfrm>
              <a:off x="3548421" y="3388401"/>
              <a:ext cx="245791" cy="245791"/>
            </a:xfrm>
            <a:prstGeom prst="rect">
              <a:avLst/>
            </a:prstGeom>
          </p:spPr>
        </p:pic>
        <p:sp>
          <p:nvSpPr>
            <p:cNvPr id="29" name="Text 21"/>
            <p:cNvSpPr/>
            <p:nvPr/>
          </p:nvSpPr>
          <p:spPr>
            <a:xfrm>
              <a:off x="3415284" y="39629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Fine-tuning feedback loops</a:t>
              </a:r>
              <a:endParaRPr lang="en-US" sz="1350" dirty="0"/>
            </a:p>
          </p:txBody>
        </p:sp>
      </p:grpSp>
      <p:grpSp>
        <p:nvGrpSpPr>
          <p:cNvPr id="40" name="Group 39">
            <a:extLst>
              <a:ext uri="{FF2B5EF4-FFF2-40B4-BE49-F238E27FC236}">
                <a16:creationId xmlns:a16="http://schemas.microsoft.com/office/drawing/2014/main" id="{CE141989-C7FE-8AA7-6EA4-BADF6B3DB71E}"/>
              </a:ext>
            </a:extLst>
          </p:cNvPr>
          <p:cNvGrpSpPr/>
          <p:nvPr/>
        </p:nvGrpSpPr>
        <p:grpSpPr>
          <a:xfrm>
            <a:off x="3240033" y="3229698"/>
            <a:ext cx="2679192" cy="1517904"/>
            <a:chOff x="6007608" y="3072384"/>
            <a:chExt cx="2679192" cy="1517904"/>
          </a:xfrm>
        </p:grpSpPr>
        <p:sp>
          <p:nvSpPr>
            <p:cNvPr id="31" name="Shape 23"/>
            <p:cNvSpPr/>
            <p:nvPr/>
          </p:nvSpPr>
          <p:spPr>
            <a:xfrm>
              <a:off x="6007608"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32" name="Shape 24"/>
            <p:cNvSpPr/>
            <p:nvPr/>
          </p:nvSpPr>
          <p:spPr>
            <a:xfrm>
              <a:off x="6190488" y="3255264"/>
              <a:ext cx="512064" cy="512064"/>
            </a:xfrm>
            <a:prstGeom prst="ellipse">
              <a:avLst/>
            </a:prstGeom>
            <a:solidFill>
              <a:srgbClr val="127475"/>
            </a:solidFill>
            <a:ln/>
          </p:spPr>
          <p:txBody>
            <a:bodyPr/>
            <a:lstStyle/>
            <a:p>
              <a:endParaRPr lang="en-DE"/>
            </a:p>
          </p:txBody>
        </p:sp>
        <p:pic>
          <p:nvPicPr>
            <p:cNvPr id="33" name="Image 6" descr="preencoded.png"/>
            <p:cNvPicPr>
              <a:picLocks noChangeAspect="1"/>
            </p:cNvPicPr>
            <p:nvPr/>
          </p:nvPicPr>
          <p:blipFill>
            <a:blip r:embed="rId9"/>
            <a:stretch>
              <a:fillRect/>
            </a:stretch>
          </p:blipFill>
          <p:spPr>
            <a:xfrm>
              <a:off x="6323625" y="3388401"/>
              <a:ext cx="245791" cy="245791"/>
            </a:xfrm>
            <a:prstGeom prst="rect">
              <a:avLst/>
            </a:prstGeom>
          </p:spPr>
        </p:pic>
        <p:sp>
          <p:nvSpPr>
            <p:cNvPr id="34" name="Text 25"/>
            <p:cNvSpPr/>
            <p:nvPr/>
          </p:nvSpPr>
          <p:spPr>
            <a:xfrm>
              <a:off x="6190488" y="3962908"/>
              <a:ext cx="2313432" cy="292608"/>
            </a:xfrm>
            <a:prstGeom prst="rect">
              <a:avLst/>
            </a:prstGeom>
            <a:noFill/>
            <a:ln/>
          </p:spPr>
          <p:txBody>
            <a:bodyPr wrap="square" lIns="0" tIns="0" rIns="0" bIns="0" rtlCol="0" anchor="ctr"/>
            <a:lstStyle/>
            <a:p>
              <a:pPr marL="0" indent="0">
                <a:buNone/>
              </a:pPr>
              <a:r>
                <a:rPr lang="en-US" sz="1350" b="1" dirty="0">
                  <a:solidFill>
                    <a:srgbClr val="0A2E36"/>
                  </a:solidFill>
                  <a:latin typeface="Cambria" pitchFamily="34" charset="0"/>
                  <a:ea typeface="Cambria" pitchFamily="34" charset="-122"/>
                  <a:cs typeface="Cambria" pitchFamily="34" charset="-120"/>
                </a:rPr>
                <a:t>Instructional template</a:t>
              </a:r>
              <a:endParaRPr lang="en-US" sz="1350" dirty="0"/>
            </a:p>
          </p:txBody>
        </p:sp>
      </p:grpSp>
      <p:sp>
        <p:nvSpPr>
          <p:cNvPr id="36"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5</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The eXplainable AI Question Bank (XAI-QB)</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Prototypical questions a user might ask about an AI system</a:t>
            </a:r>
            <a:endParaRPr lang="en-US" sz="1250"/>
          </a:p>
        </p:txBody>
      </p:sp>
      <p:sp>
        <p:nvSpPr>
          <p:cNvPr id="30"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7</a:t>
            </a:r>
            <a:endParaRPr lang="en-US" sz="900"/>
          </a:p>
        </p:txBody>
      </p:sp>
      <p:sp>
        <p:nvSpPr>
          <p:cNvPr id="11" name="Text 8"/>
          <p:cNvSpPr/>
          <p:nvPr/>
        </p:nvSpPr>
        <p:spPr>
          <a:xfrm>
            <a:off x="1653822" y="1284673"/>
            <a:ext cx="4351669" cy="350947"/>
          </a:xfrm>
          <a:prstGeom prst="rect">
            <a:avLst/>
          </a:prstGeom>
          <a:noFill/>
          <a:ln/>
        </p:spPr>
        <p:txBody>
          <a:bodyPr wrap="square" lIns="0" tIns="0" rIns="0" bIns="0" rtlCol="0" anchor="ctr"/>
          <a:lstStyle/>
          <a:p>
            <a:pPr marL="0" indent="0">
              <a:buNone/>
            </a:pPr>
            <a:r>
              <a:rPr lang="en-US" sz="1300" b="1">
                <a:solidFill>
                  <a:srgbClr val="0E5E5C"/>
                </a:solidFill>
                <a:latin typeface="Calibri" pitchFamily="34" charset="0"/>
                <a:ea typeface="Calibri" pitchFamily="34" charset="-122"/>
                <a:cs typeface="Calibri" pitchFamily="34" charset="-120"/>
              </a:rPr>
              <a:t>9 explainability-needs categories</a:t>
            </a:r>
            <a:endParaRPr lang="en-US" sz="1300"/>
          </a:p>
        </p:txBody>
      </p:sp>
      <p:sp>
        <p:nvSpPr>
          <p:cNvPr id="12" name="Shape 9"/>
          <p:cNvSpPr/>
          <p:nvPr/>
        </p:nvSpPr>
        <p:spPr>
          <a:xfrm>
            <a:off x="1653822" y="1701423"/>
            <a:ext cx="1382295" cy="921236"/>
          </a:xfrm>
          <a:prstGeom prst="roundRect">
            <a:avLst>
              <a:gd name="adj" fmla="val 9524"/>
            </a:avLst>
          </a:prstGeom>
          <a:solidFill>
            <a:srgbClr val="F1F7F7"/>
          </a:solidFill>
          <a:ln>
            <a:solidFill>
              <a:schemeClr val="tx2"/>
            </a:solidFill>
          </a:ln>
          <a:effectLst>
            <a:outerShdw blurRad="88900" dist="25400" dir="5400000" algn="bl" rotWithShape="0">
              <a:srgbClr val="0A2E36">
                <a:alpha val="10000"/>
              </a:srgbClr>
            </a:outerShdw>
          </a:effectLst>
        </p:spPr>
        <p:txBody>
          <a:bodyPr/>
          <a:lstStyle/>
          <a:p>
            <a:endParaRPr lang="en-DE"/>
          </a:p>
        </p:txBody>
      </p:sp>
      <p:sp>
        <p:nvSpPr>
          <p:cNvPr id="13" name="Text 10"/>
          <p:cNvSpPr/>
          <p:nvPr/>
        </p:nvSpPr>
        <p:spPr>
          <a:xfrm>
            <a:off x="1715257" y="1701423"/>
            <a:ext cx="1259424" cy="921236"/>
          </a:xfrm>
          <a:prstGeom prst="rect">
            <a:avLst/>
          </a:prstGeom>
          <a:noFill/>
          <a:ln/>
        </p:spPr>
        <p:txBody>
          <a:bodyPr wrap="square" lIns="0" tIns="0" rIns="0" bIns="0" rtlCol="0" anchor="ctr"/>
          <a:lstStyle/>
          <a:p>
            <a:pPr marL="0" indent="0" algn="ctr">
              <a:buNone/>
            </a:pPr>
            <a:r>
              <a:rPr lang="en-US" sz="1150" b="1">
                <a:solidFill>
                  <a:srgbClr val="0E5E5C"/>
                </a:solidFill>
                <a:latin typeface="Calibri" pitchFamily="34" charset="0"/>
                <a:ea typeface="Calibri" pitchFamily="34" charset="-122"/>
                <a:cs typeface="Calibri" pitchFamily="34" charset="-120"/>
              </a:rPr>
              <a:t>Data</a:t>
            </a:r>
          </a:p>
        </p:txBody>
      </p:sp>
      <p:sp>
        <p:nvSpPr>
          <p:cNvPr id="14" name="Shape 11"/>
          <p:cNvSpPr/>
          <p:nvPr/>
        </p:nvSpPr>
        <p:spPr>
          <a:xfrm>
            <a:off x="3169225" y="1701423"/>
            <a:ext cx="1382295" cy="921236"/>
          </a:xfrm>
          <a:prstGeom prst="roundRect">
            <a:avLst>
              <a:gd name="adj" fmla="val 9524"/>
            </a:avLst>
          </a:prstGeom>
          <a:solidFill>
            <a:srgbClr val="F1F7F7"/>
          </a:solidFill>
          <a:ln>
            <a:solidFill>
              <a:schemeClr val="tx2"/>
            </a:solidFill>
          </a:ln>
          <a:effectLst>
            <a:outerShdw blurRad="88900" dist="25400" dir="5400000" algn="bl" rotWithShape="0">
              <a:srgbClr val="0A2E36">
                <a:alpha val="10000"/>
              </a:srgbClr>
            </a:outerShdw>
          </a:effectLst>
        </p:spPr>
        <p:txBody>
          <a:bodyPr/>
          <a:lstStyle/>
          <a:p>
            <a:endParaRPr lang="en-DE"/>
          </a:p>
        </p:txBody>
      </p:sp>
      <p:sp>
        <p:nvSpPr>
          <p:cNvPr id="15" name="Text 12"/>
          <p:cNvSpPr/>
          <p:nvPr/>
        </p:nvSpPr>
        <p:spPr>
          <a:xfrm>
            <a:off x="3199944" y="1701423"/>
            <a:ext cx="1259424" cy="921236"/>
          </a:xfrm>
          <a:prstGeom prst="rect">
            <a:avLst/>
          </a:prstGeom>
          <a:noFill/>
          <a:ln/>
        </p:spPr>
        <p:txBody>
          <a:bodyPr wrap="square" lIns="0" tIns="0" rIns="0" bIns="0" rtlCol="0" anchor="ctr"/>
          <a:lstStyle/>
          <a:p>
            <a:pPr marL="0" indent="0" algn="ctr">
              <a:buNone/>
            </a:pPr>
            <a:r>
              <a:rPr lang="en-US" sz="1150" b="1">
                <a:solidFill>
                  <a:srgbClr val="0E5E5C"/>
                </a:solidFill>
                <a:latin typeface="Calibri" pitchFamily="34" charset="0"/>
                <a:ea typeface="Calibri" pitchFamily="34" charset="-122"/>
                <a:cs typeface="Calibri" pitchFamily="34" charset="-120"/>
              </a:rPr>
              <a:t>Output</a:t>
            </a:r>
            <a:endParaRPr lang="en-US" sz="1150"/>
          </a:p>
        </p:txBody>
      </p:sp>
      <p:sp>
        <p:nvSpPr>
          <p:cNvPr id="16" name="Shape 13"/>
          <p:cNvSpPr/>
          <p:nvPr/>
        </p:nvSpPr>
        <p:spPr>
          <a:xfrm>
            <a:off x="4669120" y="1721756"/>
            <a:ext cx="1382295" cy="921236"/>
          </a:xfrm>
          <a:prstGeom prst="roundRect">
            <a:avLst>
              <a:gd name="adj" fmla="val 9524"/>
            </a:avLst>
          </a:prstGeom>
          <a:solidFill>
            <a:srgbClr val="F1F7F7"/>
          </a:solidFill>
          <a:ln>
            <a:solidFill>
              <a:schemeClr val="tx2"/>
            </a:solidFill>
          </a:ln>
          <a:effectLst>
            <a:outerShdw blurRad="88900" dist="25400" dir="5400000" algn="bl" rotWithShape="0">
              <a:srgbClr val="0A2E36">
                <a:alpha val="10000"/>
              </a:srgbClr>
            </a:outerShdw>
          </a:effectLst>
        </p:spPr>
        <p:txBody>
          <a:bodyPr/>
          <a:lstStyle/>
          <a:p>
            <a:endParaRPr lang="en-DE" dirty="0"/>
          </a:p>
        </p:txBody>
      </p:sp>
      <p:sp>
        <p:nvSpPr>
          <p:cNvPr id="17" name="Text 14"/>
          <p:cNvSpPr/>
          <p:nvPr/>
        </p:nvSpPr>
        <p:spPr>
          <a:xfrm>
            <a:off x="4684631" y="1701423"/>
            <a:ext cx="1259424" cy="92123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Performance</a:t>
            </a:r>
            <a:endParaRPr lang="en-US" sz="1150" dirty="0"/>
          </a:p>
        </p:txBody>
      </p:sp>
      <p:sp>
        <p:nvSpPr>
          <p:cNvPr id="18" name="Shape 15"/>
          <p:cNvSpPr/>
          <p:nvPr/>
        </p:nvSpPr>
        <p:spPr>
          <a:xfrm>
            <a:off x="1653822" y="2754263"/>
            <a:ext cx="1382295" cy="921236"/>
          </a:xfrm>
          <a:prstGeom prst="roundRect">
            <a:avLst>
              <a:gd name="adj" fmla="val 9524"/>
            </a:avLst>
          </a:prstGeom>
          <a:solidFill>
            <a:srgbClr val="F1F7F7"/>
          </a:solidFill>
          <a:ln>
            <a:solidFill>
              <a:schemeClr val="tx2"/>
            </a:solidFill>
          </a:ln>
          <a:effectLst>
            <a:outerShdw blurRad="88900" dist="25400" dir="5400000" algn="bl" rotWithShape="0">
              <a:srgbClr val="0A2E36">
                <a:alpha val="10000"/>
              </a:srgbClr>
            </a:outerShdw>
          </a:effectLst>
        </p:spPr>
        <p:txBody>
          <a:bodyPr/>
          <a:lstStyle/>
          <a:p>
            <a:endParaRPr lang="en-DE"/>
          </a:p>
        </p:txBody>
      </p:sp>
      <p:sp>
        <p:nvSpPr>
          <p:cNvPr id="19" name="Text 16"/>
          <p:cNvSpPr/>
          <p:nvPr/>
        </p:nvSpPr>
        <p:spPr>
          <a:xfrm>
            <a:off x="1715257" y="2754263"/>
            <a:ext cx="1259424" cy="921236"/>
          </a:xfrm>
          <a:prstGeom prst="rect">
            <a:avLst/>
          </a:prstGeom>
          <a:noFill/>
          <a:ln/>
        </p:spPr>
        <p:txBody>
          <a:bodyPr wrap="square" lIns="0" tIns="0" rIns="0" bIns="0" rtlCol="0" anchor="ctr"/>
          <a:lstStyle/>
          <a:p>
            <a:pPr marL="0" indent="0" algn="ctr">
              <a:buNone/>
            </a:pPr>
            <a:r>
              <a:rPr lang="en-US" sz="1150" b="1">
                <a:solidFill>
                  <a:srgbClr val="0E5E5C"/>
                </a:solidFill>
                <a:latin typeface="Calibri" pitchFamily="34" charset="0"/>
                <a:ea typeface="Calibri" pitchFamily="34" charset="-122"/>
                <a:cs typeface="Calibri" pitchFamily="34" charset="-120"/>
              </a:rPr>
              <a:t>How (global)</a:t>
            </a:r>
            <a:endParaRPr lang="en-US" sz="1150"/>
          </a:p>
        </p:txBody>
      </p:sp>
      <p:grpSp>
        <p:nvGrpSpPr>
          <p:cNvPr id="43" name="Group 42">
            <a:extLst>
              <a:ext uri="{FF2B5EF4-FFF2-40B4-BE49-F238E27FC236}">
                <a16:creationId xmlns:a16="http://schemas.microsoft.com/office/drawing/2014/main" id="{1247ABB7-67C2-11A1-9634-A17C5058D25F}"/>
              </a:ext>
            </a:extLst>
          </p:cNvPr>
          <p:cNvGrpSpPr/>
          <p:nvPr/>
        </p:nvGrpSpPr>
        <p:grpSpPr>
          <a:xfrm>
            <a:off x="4669120" y="2754263"/>
            <a:ext cx="1382295" cy="921236"/>
            <a:chOff x="3138509" y="2754263"/>
            <a:chExt cx="1382295" cy="921236"/>
          </a:xfrm>
        </p:grpSpPr>
        <p:sp>
          <p:nvSpPr>
            <p:cNvPr id="20" name="Shape 17"/>
            <p:cNvSpPr/>
            <p:nvPr/>
          </p:nvSpPr>
          <p:spPr>
            <a:xfrm>
              <a:off x="3138509" y="2754263"/>
              <a:ext cx="1382295" cy="92123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1" name="Text 18"/>
            <p:cNvSpPr/>
            <p:nvPr/>
          </p:nvSpPr>
          <p:spPr>
            <a:xfrm>
              <a:off x="3199944" y="2754263"/>
              <a:ext cx="1259424" cy="92123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Why (local)</a:t>
              </a:r>
              <a:endParaRPr lang="en-US" sz="1150" dirty="0"/>
            </a:p>
          </p:txBody>
        </p:sp>
      </p:grpSp>
      <p:grpSp>
        <p:nvGrpSpPr>
          <p:cNvPr id="42" name="Group 41">
            <a:extLst>
              <a:ext uri="{FF2B5EF4-FFF2-40B4-BE49-F238E27FC236}">
                <a16:creationId xmlns:a16="http://schemas.microsoft.com/office/drawing/2014/main" id="{A3B0A374-D550-2228-7C36-DFB9DC5541B5}"/>
              </a:ext>
            </a:extLst>
          </p:cNvPr>
          <p:cNvGrpSpPr/>
          <p:nvPr/>
        </p:nvGrpSpPr>
        <p:grpSpPr>
          <a:xfrm>
            <a:off x="1653821" y="3807104"/>
            <a:ext cx="1382295" cy="921236"/>
            <a:chOff x="4623196" y="2754263"/>
            <a:chExt cx="1382295" cy="921236"/>
          </a:xfrm>
        </p:grpSpPr>
        <p:sp>
          <p:nvSpPr>
            <p:cNvPr id="22" name="Shape 19"/>
            <p:cNvSpPr/>
            <p:nvPr/>
          </p:nvSpPr>
          <p:spPr>
            <a:xfrm>
              <a:off x="4623196" y="2754263"/>
              <a:ext cx="1382295" cy="92123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Text 20"/>
            <p:cNvSpPr/>
            <p:nvPr/>
          </p:nvSpPr>
          <p:spPr>
            <a:xfrm>
              <a:off x="4684631" y="2754263"/>
              <a:ext cx="1259424" cy="92123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Why not</a:t>
              </a:r>
              <a:endParaRPr lang="en-US" sz="1150" dirty="0"/>
            </a:p>
          </p:txBody>
        </p:sp>
      </p:grpSp>
      <p:grpSp>
        <p:nvGrpSpPr>
          <p:cNvPr id="41" name="Group 40">
            <a:extLst>
              <a:ext uri="{FF2B5EF4-FFF2-40B4-BE49-F238E27FC236}">
                <a16:creationId xmlns:a16="http://schemas.microsoft.com/office/drawing/2014/main" id="{476B64C4-03BA-FB17-23C9-2495ECF31FE6}"/>
              </a:ext>
            </a:extLst>
          </p:cNvPr>
          <p:cNvGrpSpPr/>
          <p:nvPr/>
        </p:nvGrpSpPr>
        <p:grpSpPr>
          <a:xfrm>
            <a:off x="3189705" y="3807104"/>
            <a:ext cx="1382295" cy="921236"/>
            <a:chOff x="1653822" y="3807104"/>
            <a:chExt cx="1382295" cy="921236"/>
          </a:xfrm>
        </p:grpSpPr>
        <p:sp>
          <p:nvSpPr>
            <p:cNvPr id="24" name="Shape 21"/>
            <p:cNvSpPr/>
            <p:nvPr/>
          </p:nvSpPr>
          <p:spPr>
            <a:xfrm>
              <a:off x="1653822" y="3807104"/>
              <a:ext cx="1382295" cy="92123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5" name="Text 22"/>
            <p:cNvSpPr/>
            <p:nvPr/>
          </p:nvSpPr>
          <p:spPr>
            <a:xfrm>
              <a:off x="1715257" y="3807104"/>
              <a:ext cx="1259424" cy="92123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What if</a:t>
              </a:r>
              <a:endParaRPr lang="en-US" sz="1150" dirty="0"/>
            </a:p>
          </p:txBody>
        </p:sp>
      </p:grpSp>
      <p:grpSp>
        <p:nvGrpSpPr>
          <p:cNvPr id="40" name="Group 39">
            <a:extLst>
              <a:ext uri="{FF2B5EF4-FFF2-40B4-BE49-F238E27FC236}">
                <a16:creationId xmlns:a16="http://schemas.microsoft.com/office/drawing/2014/main" id="{FBDA1821-6C27-3277-A443-95641C1C0DAB}"/>
              </a:ext>
            </a:extLst>
          </p:cNvPr>
          <p:cNvGrpSpPr/>
          <p:nvPr/>
        </p:nvGrpSpPr>
        <p:grpSpPr>
          <a:xfrm>
            <a:off x="4684631" y="3807104"/>
            <a:ext cx="1382295" cy="921236"/>
            <a:chOff x="3138509" y="3807104"/>
            <a:chExt cx="1382295" cy="921236"/>
          </a:xfrm>
        </p:grpSpPr>
        <p:sp>
          <p:nvSpPr>
            <p:cNvPr id="26" name="Shape 23"/>
            <p:cNvSpPr/>
            <p:nvPr/>
          </p:nvSpPr>
          <p:spPr>
            <a:xfrm>
              <a:off x="3138509" y="3807104"/>
              <a:ext cx="1382295" cy="921236"/>
            </a:xfrm>
            <a:prstGeom prst="roundRect">
              <a:avLst>
                <a:gd name="adj" fmla="val 9524"/>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7" name="Text 24"/>
            <p:cNvSpPr/>
            <p:nvPr/>
          </p:nvSpPr>
          <p:spPr>
            <a:xfrm>
              <a:off x="3199944" y="3807104"/>
              <a:ext cx="1259424" cy="92123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How to be that</a:t>
              </a:r>
              <a:endParaRPr lang="en-US" sz="1150" dirty="0"/>
            </a:p>
          </p:txBody>
        </p:sp>
      </p:grpSp>
      <p:sp>
        <p:nvSpPr>
          <p:cNvPr id="28" name="Shape 25"/>
          <p:cNvSpPr/>
          <p:nvPr/>
        </p:nvSpPr>
        <p:spPr>
          <a:xfrm>
            <a:off x="6179557" y="3807104"/>
            <a:ext cx="1382295" cy="921236"/>
          </a:xfrm>
          <a:prstGeom prst="roundRect">
            <a:avLst>
              <a:gd name="adj" fmla="val 9524"/>
            </a:avLst>
          </a:prstGeom>
          <a:solidFill>
            <a:srgbClr val="E9B44C">
              <a:alpha val="75000"/>
            </a:srgbClr>
          </a:solidFill>
          <a:ln>
            <a:solidFill>
              <a:schemeClr val="tx2"/>
            </a:solidFill>
          </a:ln>
          <a:effectLst>
            <a:outerShdw blurRad="88900" dist="25400" dir="5400000" algn="bl" rotWithShape="0">
              <a:srgbClr val="0A2E36">
                <a:alpha val="10000"/>
              </a:srgbClr>
            </a:outerShdw>
          </a:effectLst>
        </p:spPr>
        <p:txBody>
          <a:bodyPr/>
          <a:lstStyle/>
          <a:p>
            <a:endParaRPr lang="en-DE" dirty="0"/>
          </a:p>
        </p:txBody>
      </p:sp>
      <p:sp>
        <p:nvSpPr>
          <p:cNvPr id="29" name="Text 26"/>
          <p:cNvSpPr/>
          <p:nvPr/>
        </p:nvSpPr>
        <p:spPr>
          <a:xfrm>
            <a:off x="6240992" y="3807104"/>
            <a:ext cx="1259424" cy="921236"/>
          </a:xfrm>
          <a:prstGeom prst="rect">
            <a:avLst/>
          </a:prstGeom>
          <a:noFill/>
          <a:ln/>
        </p:spPr>
        <p:txBody>
          <a:bodyPr wrap="square" lIns="0" tIns="0" rIns="0" bIns="0" rtlCol="0" anchor="ctr"/>
          <a:lstStyle/>
          <a:p>
            <a:pPr marL="0" indent="0" algn="ctr">
              <a:buNone/>
            </a:pPr>
            <a:r>
              <a:rPr lang="en-US" sz="1150" b="1" dirty="0">
                <a:solidFill>
                  <a:srgbClr val="0A2E36"/>
                </a:solidFill>
                <a:latin typeface="Calibri" pitchFamily="34" charset="0"/>
                <a:ea typeface="Calibri" pitchFamily="34" charset="-122"/>
                <a:cs typeface="Calibri" pitchFamily="34" charset="-120"/>
              </a:rPr>
              <a:t>UI (added)</a:t>
            </a:r>
            <a:endParaRPr lang="en-US" sz="1150" dirty="0"/>
          </a:p>
        </p:txBody>
      </p:sp>
      <p:grpSp>
        <p:nvGrpSpPr>
          <p:cNvPr id="39" name="Group 38">
            <a:extLst>
              <a:ext uri="{FF2B5EF4-FFF2-40B4-BE49-F238E27FC236}">
                <a16:creationId xmlns:a16="http://schemas.microsoft.com/office/drawing/2014/main" id="{420EBE2B-A213-3693-7958-1A6D9103E118}"/>
              </a:ext>
            </a:extLst>
          </p:cNvPr>
          <p:cNvGrpSpPr/>
          <p:nvPr/>
        </p:nvGrpSpPr>
        <p:grpSpPr>
          <a:xfrm>
            <a:off x="3169226" y="2754263"/>
            <a:ext cx="1382295" cy="921236"/>
            <a:chOff x="4623196" y="3807104"/>
            <a:chExt cx="1382295" cy="921236"/>
          </a:xfrm>
        </p:grpSpPr>
        <p:sp>
          <p:nvSpPr>
            <p:cNvPr id="31" name="Shape 23">
              <a:extLst>
                <a:ext uri="{FF2B5EF4-FFF2-40B4-BE49-F238E27FC236}">
                  <a16:creationId xmlns:a16="http://schemas.microsoft.com/office/drawing/2014/main" id="{775235AC-D8BB-936D-3121-308B0AEF1FE9}"/>
                </a:ext>
              </a:extLst>
            </p:cNvPr>
            <p:cNvSpPr/>
            <p:nvPr/>
          </p:nvSpPr>
          <p:spPr>
            <a:xfrm>
              <a:off x="4623196" y="3807104"/>
              <a:ext cx="1382295" cy="921236"/>
            </a:xfrm>
            <a:prstGeom prst="roundRect">
              <a:avLst>
                <a:gd name="adj" fmla="val 9524"/>
              </a:avLst>
            </a:prstGeom>
            <a:solidFill>
              <a:srgbClr val="F1F7F7"/>
            </a:solidFill>
            <a:ln>
              <a:solidFill>
                <a:schemeClr val="tx2"/>
              </a:solidFill>
            </a:ln>
            <a:effectLst>
              <a:outerShdw blurRad="88900" dist="25400" dir="5400000" algn="bl" rotWithShape="0">
                <a:srgbClr val="0A2E36">
                  <a:alpha val="10000"/>
                </a:srgbClr>
              </a:outerShdw>
            </a:effectLst>
          </p:spPr>
          <p:txBody>
            <a:bodyPr/>
            <a:lstStyle/>
            <a:p>
              <a:endParaRPr lang="en-DE"/>
            </a:p>
          </p:txBody>
        </p:sp>
        <p:sp>
          <p:nvSpPr>
            <p:cNvPr id="32" name="Text 24">
              <a:extLst>
                <a:ext uri="{FF2B5EF4-FFF2-40B4-BE49-F238E27FC236}">
                  <a16:creationId xmlns:a16="http://schemas.microsoft.com/office/drawing/2014/main" id="{57CA331D-D5DE-4D6C-D1B0-C27C7A244143}"/>
                </a:ext>
              </a:extLst>
            </p:cNvPr>
            <p:cNvSpPr/>
            <p:nvPr/>
          </p:nvSpPr>
          <p:spPr>
            <a:xfrm>
              <a:off x="4684631" y="3807104"/>
              <a:ext cx="1259424" cy="921236"/>
            </a:xfrm>
            <a:prstGeom prst="rect">
              <a:avLst/>
            </a:prstGeom>
            <a:noFill/>
            <a:ln/>
          </p:spPr>
          <p:txBody>
            <a:bodyPr wrap="square" lIns="0" tIns="0" rIns="0" bIns="0" rtlCol="0" anchor="ctr"/>
            <a:lstStyle/>
            <a:p>
              <a:pPr marL="0" indent="0" algn="ctr">
                <a:buNone/>
              </a:pPr>
              <a:r>
                <a:rPr lang="en-US" sz="1150" b="1" dirty="0">
                  <a:solidFill>
                    <a:srgbClr val="0E5E5C"/>
                  </a:solidFill>
                  <a:latin typeface="Calibri" pitchFamily="34" charset="0"/>
                  <a:ea typeface="Calibri" pitchFamily="34" charset="-122"/>
                  <a:cs typeface="Calibri" pitchFamily="34" charset="-120"/>
                </a:rPr>
                <a:t>Others</a:t>
              </a:r>
              <a:endParaRPr lang="en-US" sz="115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Study design</a:t>
            </a:r>
            <a:endParaRPr lang="en-US" sz="2700"/>
          </a:p>
        </p:txBody>
      </p:sp>
      <p:sp>
        <p:nvSpPr>
          <p:cNvPr id="6" name="Shape 3"/>
          <p:cNvSpPr/>
          <p:nvPr/>
        </p:nvSpPr>
        <p:spPr>
          <a:xfrm>
            <a:off x="365760" y="2225166"/>
            <a:ext cx="960120" cy="914400"/>
          </a:xfrm>
          <a:prstGeom prst="roundRect">
            <a:avLst>
              <a:gd name="adj" fmla="val 8000"/>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87907" y="2292189"/>
            <a:ext cx="323697" cy="365760"/>
          </a:xfrm>
          <a:prstGeom prst="ellipse">
            <a:avLst/>
          </a:prstGeom>
          <a:solidFill>
            <a:srgbClr val="E9B44C"/>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75448" y="2387287"/>
            <a:ext cx="155375" cy="175565"/>
          </a:xfrm>
          <a:prstGeom prst="rect">
            <a:avLst/>
          </a:prstGeom>
        </p:spPr>
      </p:pic>
      <p:sp>
        <p:nvSpPr>
          <p:cNvPr id="9" name="Text 5"/>
          <p:cNvSpPr/>
          <p:nvPr/>
        </p:nvSpPr>
        <p:spPr>
          <a:xfrm>
            <a:off x="365760" y="2715768"/>
            <a:ext cx="960120" cy="365760"/>
          </a:xfrm>
          <a:prstGeom prst="rect">
            <a:avLst/>
          </a:prstGeom>
          <a:noFill/>
          <a:ln/>
        </p:spPr>
        <p:txBody>
          <a:bodyPr wrap="square" lIns="0" tIns="0" rIns="0" bIns="0" rtlCol="0" anchor="ctr"/>
          <a:lstStyle/>
          <a:p>
            <a:pPr marL="0" indent="0" algn="ctr">
              <a:buNone/>
            </a:pPr>
            <a:r>
              <a:rPr lang="en-US" sz="1250" b="1">
                <a:solidFill>
                  <a:srgbClr val="FFFFFF"/>
                </a:solidFill>
                <a:latin typeface="Cambria" pitchFamily="34" charset="0"/>
                <a:ea typeface="Cambria" pitchFamily="34" charset="-122"/>
                <a:cs typeface="Cambria" pitchFamily="34" charset="-120"/>
              </a:rPr>
              <a:t>Data</a:t>
            </a:r>
            <a:endParaRPr lang="en-US" sz="1250"/>
          </a:p>
        </p:txBody>
      </p:sp>
      <p:sp>
        <p:nvSpPr>
          <p:cNvPr id="10" name="Shape 6"/>
          <p:cNvSpPr/>
          <p:nvPr/>
        </p:nvSpPr>
        <p:spPr>
          <a:xfrm>
            <a:off x="1371600" y="2697480"/>
            <a:ext cx="292608" cy="0"/>
          </a:xfrm>
          <a:prstGeom prst="line">
            <a:avLst/>
          </a:prstGeom>
          <a:noFill/>
          <a:ln w="34925">
            <a:solidFill>
              <a:srgbClr val="3E9D9B"/>
            </a:solidFill>
            <a:prstDash val="solid"/>
            <a:tailEnd type="triangle"/>
          </a:ln>
        </p:spPr>
        <p:txBody>
          <a:bodyPr/>
          <a:lstStyle/>
          <a:p>
            <a:endParaRPr lang="en-DE"/>
          </a:p>
        </p:txBody>
      </p:sp>
      <p:sp>
        <p:nvSpPr>
          <p:cNvPr id="11" name="Shape 7"/>
          <p:cNvSpPr/>
          <p:nvPr/>
        </p:nvSpPr>
        <p:spPr>
          <a:xfrm>
            <a:off x="1755648" y="1828799"/>
            <a:ext cx="2331720" cy="1791009"/>
          </a:xfrm>
          <a:prstGeom prst="roundRect">
            <a:avLst>
              <a:gd name="adj" fmla="val 4211"/>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2" name="Text 8"/>
          <p:cNvSpPr/>
          <p:nvPr/>
        </p:nvSpPr>
        <p:spPr>
          <a:xfrm>
            <a:off x="1755648" y="1911096"/>
            <a:ext cx="2331720" cy="274320"/>
          </a:xfrm>
          <a:prstGeom prst="rect">
            <a:avLst/>
          </a:prstGeom>
          <a:noFill/>
          <a:ln/>
        </p:spPr>
        <p:txBody>
          <a:bodyPr wrap="square" lIns="0" tIns="0" rIns="0" bIns="0" rtlCol="0" anchor="ctr"/>
          <a:lstStyle/>
          <a:p>
            <a:pPr marL="0" indent="0" algn="ctr">
              <a:buNone/>
            </a:pPr>
            <a:r>
              <a:rPr lang="en-US" sz="1250" b="1">
                <a:solidFill>
                  <a:srgbClr val="FFFFFF"/>
                </a:solidFill>
                <a:latin typeface="Cambria" pitchFamily="34" charset="0"/>
                <a:ea typeface="Cambria" pitchFamily="34" charset="-122"/>
                <a:cs typeface="Cambria" pitchFamily="34" charset="-120"/>
              </a:rPr>
              <a:t>AI System</a:t>
            </a:r>
            <a:endParaRPr lang="en-US" sz="1250"/>
          </a:p>
        </p:txBody>
      </p:sp>
      <p:sp>
        <p:nvSpPr>
          <p:cNvPr id="13" name="Shape 9"/>
          <p:cNvSpPr/>
          <p:nvPr/>
        </p:nvSpPr>
        <p:spPr>
          <a:xfrm>
            <a:off x="1883664" y="2240280"/>
            <a:ext cx="2075688" cy="292608"/>
          </a:xfrm>
          <a:prstGeom prst="roundRect">
            <a:avLst>
              <a:gd name="adj" fmla="val 12500"/>
            </a:avLst>
          </a:prstGeom>
          <a:solidFill>
            <a:srgbClr val="FFFFFF">
              <a:alpha val="92000"/>
            </a:srgbClr>
          </a:solidFill>
          <a:ln/>
        </p:spPr>
        <p:txBody>
          <a:bodyPr/>
          <a:lstStyle/>
          <a:p>
            <a:endParaRPr lang="en-DE"/>
          </a:p>
        </p:txBody>
      </p:sp>
      <p:sp>
        <p:nvSpPr>
          <p:cNvPr id="14" name="Text 10"/>
          <p:cNvSpPr/>
          <p:nvPr/>
        </p:nvSpPr>
        <p:spPr>
          <a:xfrm>
            <a:off x="1938528" y="2240280"/>
            <a:ext cx="2011680" cy="292608"/>
          </a:xfrm>
          <a:prstGeom prst="rect">
            <a:avLst/>
          </a:prstGeom>
          <a:noFill/>
          <a:ln/>
        </p:spPr>
        <p:txBody>
          <a:bodyPr wrap="square" lIns="0" tIns="0" rIns="0" bIns="0" rtlCol="0" anchor="ctr"/>
          <a:lstStyle/>
          <a:p>
            <a:pPr marL="0" indent="0">
              <a:buNone/>
            </a:pPr>
            <a:r>
              <a:rPr lang="en-US" sz="950" b="1">
                <a:solidFill>
                  <a:srgbClr val="0E5E5C"/>
                </a:solidFill>
                <a:latin typeface="Calibri" pitchFamily="34" charset="0"/>
                <a:ea typeface="Calibri" pitchFamily="34" charset="-122"/>
                <a:cs typeface="Calibri" pitchFamily="34" charset="-120"/>
              </a:rPr>
              <a:t>1 · Exploratory Data Analysis</a:t>
            </a:r>
            <a:endParaRPr lang="en-US" sz="950"/>
          </a:p>
        </p:txBody>
      </p:sp>
      <p:sp>
        <p:nvSpPr>
          <p:cNvPr id="15" name="Shape 11"/>
          <p:cNvSpPr/>
          <p:nvPr/>
        </p:nvSpPr>
        <p:spPr>
          <a:xfrm>
            <a:off x="1883664" y="2578608"/>
            <a:ext cx="2075688" cy="292608"/>
          </a:xfrm>
          <a:prstGeom prst="roundRect">
            <a:avLst>
              <a:gd name="adj" fmla="val 12500"/>
            </a:avLst>
          </a:prstGeom>
          <a:solidFill>
            <a:srgbClr val="FFFFFF">
              <a:alpha val="92000"/>
            </a:srgbClr>
          </a:solidFill>
          <a:ln/>
        </p:spPr>
        <p:txBody>
          <a:bodyPr/>
          <a:lstStyle/>
          <a:p>
            <a:endParaRPr lang="en-DE"/>
          </a:p>
        </p:txBody>
      </p:sp>
      <p:sp>
        <p:nvSpPr>
          <p:cNvPr id="16" name="Text 12"/>
          <p:cNvSpPr/>
          <p:nvPr/>
        </p:nvSpPr>
        <p:spPr>
          <a:xfrm>
            <a:off x="1938528" y="2578608"/>
            <a:ext cx="2011680" cy="292608"/>
          </a:xfrm>
          <a:prstGeom prst="rect">
            <a:avLst/>
          </a:prstGeom>
          <a:noFill/>
          <a:ln/>
        </p:spPr>
        <p:txBody>
          <a:bodyPr wrap="square" lIns="0" tIns="0" rIns="0" bIns="0" rtlCol="0" anchor="ctr"/>
          <a:lstStyle/>
          <a:p>
            <a:pPr marL="0" indent="0">
              <a:buNone/>
            </a:pPr>
            <a:r>
              <a:rPr lang="en-US" sz="950" b="1">
                <a:solidFill>
                  <a:srgbClr val="0E5E5C"/>
                </a:solidFill>
                <a:latin typeface="Calibri" pitchFamily="34" charset="0"/>
                <a:ea typeface="Calibri" pitchFamily="34" charset="-122"/>
                <a:cs typeface="Calibri" pitchFamily="34" charset="-120"/>
              </a:rPr>
              <a:t>2 · Modelling</a:t>
            </a:r>
            <a:endParaRPr lang="en-US" sz="950"/>
          </a:p>
        </p:txBody>
      </p:sp>
      <p:sp>
        <p:nvSpPr>
          <p:cNvPr id="17" name="Shape 13"/>
          <p:cNvSpPr/>
          <p:nvPr/>
        </p:nvSpPr>
        <p:spPr>
          <a:xfrm>
            <a:off x="1883664" y="2916936"/>
            <a:ext cx="2075688" cy="292608"/>
          </a:xfrm>
          <a:prstGeom prst="roundRect">
            <a:avLst>
              <a:gd name="adj" fmla="val 12500"/>
            </a:avLst>
          </a:prstGeom>
          <a:solidFill>
            <a:srgbClr val="FFFFFF">
              <a:alpha val="92000"/>
            </a:srgbClr>
          </a:solidFill>
          <a:ln/>
        </p:spPr>
        <p:txBody>
          <a:bodyPr/>
          <a:lstStyle/>
          <a:p>
            <a:endParaRPr lang="en-DE"/>
          </a:p>
        </p:txBody>
      </p:sp>
      <p:sp>
        <p:nvSpPr>
          <p:cNvPr id="18" name="Text 14"/>
          <p:cNvSpPr/>
          <p:nvPr/>
        </p:nvSpPr>
        <p:spPr>
          <a:xfrm>
            <a:off x="1938528" y="2916936"/>
            <a:ext cx="2011680" cy="292608"/>
          </a:xfrm>
          <a:prstGeom prst="rect">
            <a:avLst/>
          </a:prstGeom>
          <a:noFill/>
          <a:ln/>
        </p:spPr>
        <p:txBody>
          <a:bodyPr wrap="square" lIns="0" tIns="0" rIns="0" bIns="0" rtlCol="0" anchor="ctr"/>
          <a:lstStyle/>
          <a:p>
            <a:pPr marL="0" indent="0">
              <a:buNone/>
            </a:pPr>
            <a:r>
              <a:rPr lang="en-US" sz="950" b="1">
                <a:solidFill>
                  <a:srgbClr val="0E5E5C"/>
                </a:solidFill>
                <a:latin typeface="Calibri" pitchFamily="34" charset="0"/>
                <a:ea typeface="Calibri" pitchFamily="34" charset="-122"/>
                <a:cs typeface="Calibri" pitchFamily="34" charset="-120"/>
              </a:rPr>
              <a:t>3 · Explanations</a:t>
            </a:r>
            <a:endParaRPr lang="en-US" sz="950"/>
          </a:p>
        </p:txBody>
      </p:sp>
      <p:sp>
        <p:nvSpPr>
          <p:cNvPr id="19" name="Shape 15"/>
          <p:cNvSpPr/>
          <p:nvPr/>
        </p:nvSpPr>
        <p:spPr>
          <a:xfrm>
            <a:off x="1883664" y="3255264"/>
            <a:ext cx="2075688" cy="292608"/>
          </a:xfrm>
          <a:prstGeom prst="roundRect">
            <a:avLst>
              <a:gd name="adj" fmla="val 12500"/>
            </a:avLst>
          </a:prstGeom>
          <a:solidFill>
            <a:srgbClr val="FFFFFF">
              <a:alpha val="92000"/>
            </a:srgbClr>
          </a:solidFill>
          <a:ln/>
        </p:spPr>
        <p:txBody>
          <a:bodyPr/>
          <a:lstStyle/>
          <a:p>
            <a:endParaRPr lang="en-DE"/>
          </a:p>
        </p:txBody>
      </p:sp>
      <p:sp>
        <p:nvSpPr>
          <p:cNvPr id="20" name="Text 16"/>
          <p:cNvSpPr/>
          <p:nvPr/>
        </p:nvSpPr>
        <p:spPr>
          <a:xfrm>
            <a:off x="1938528" y="3255264"/>
            <a:ext cx="2011680" cy="292608"/>
          </a:xfrm>
          <a:prstGeom prst="rect">
            <a:avLst/>
          </a:prstGeom>
          <a:noFill/>
          <a:ln/>
        </p:spPr>
        <p:txBody>
          <a:bodyPr wrap="square" lIns="0" tIns="0" rIns="0" bIns="0" rtlCol="0" anchor="ctr"/>
          <a:lstStyle/>
          <a:p>
            <a:pPr marL="0" indent="0">
              <a:buNone/>
            </a:pPr>
            <a:r>
              <a:rPr lang="en-US" sz="950" b="1">
                <a:solidFill>
                  <a:srgbClr val="0E5E5C"/>
                </a:solidFill>
                <a:latin typeface="Calibri" pitchFamily="34" charset="0"/>
                <a:ea typeface="Calibri" pitchFamily="34" charset="-122"/>
                <a:cs typeface="Calibri" pitchFamily="34" charset="-120"/>
              </a:rPr>
              <a:t>4 · What-If? Dashboard (UI)</a:t>
            </a:r>
            <a:endParaRPr lang="en-US" sz="950"/>
          </a:p>
        </p:txBody>
      </p:sp>
      <p:sp>
        <p:nvSpPr>
          <p:cNvPr id="21" name="Shape 17"/>
          <p:cNvSpPr/>
          <p:nvPr/>
        </p:nvSpPr>
        <p:spPr>
          <a:xfrm>
            <a:off x="4114800" y="2697480"/>
            <a:ext cx="292608" cy="0"/>
          </a:xfrm>
          <a:prstGeom prst="line">
            <a:avLst/>
          </a:prstGeom>
          <a:noFill/>
          <a:ln w="34925">
            <a:solidFill>
              <a:srgbClr val="3E9D9B"/>
            </a:solidFill>
            <a:prstDash val="solid"/>
            <a:tailEnd type="triangle"/>
          </a:ln>
        </p:spPr>
        <p:txBody>
          <a:bodyPr/>
          <a:lstStyle/>
          <a:p>
            <a:endParaRPr lang="en-DE"/>
          </a:p>
        </p:txBody>
      </p:sp>
      <p:sp>
        <p:nvSpPr>
          <p:cNvPr id="22" name="Shape 18"/>
          <p:cNvSpPr/>
          <p:nvPr/>
        </p:nvSpPr>
        <p:spPr>
          <a:xfrm>
            <a:off x="4443984" y="2240280"/>
            <a:ext cx="1417320" cy="914400"/>
          </a:xfrm>
          <a:prstGeom prst="roundRect">
            <a:avLst>
              <a:gd name="adj" fmla="val 800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Shape 19"/>
          <p:cNvSpPr/>
          <p:nvPr/>
        </p:nvSpPr>
        <p:spPr>
          <a:xfrm>
            <a:off x="4924044" y="2292189"/>
            <a:ext cx="365760" cy="365760"/>
          </a:xfrm>
          <a:prstGeom prst="ellipse">
            <a:avLst/>
          </a:prstGeom>
          <a:solidFill>
            <a:srgbClr val="127475"/>
          </a:solidFill>
          <a:ln/>
        </p:spPr>
        <p:txBody>
          <a:bodyPr/>
          <a:lstStyle/>
          <a:p>
            <a:endParaRPr lang="en-DE"/>
          </a:p>
        </p:txBody>
      </p:sp>
      <p:pic>
        <p:nvPicPr>
          <p:cNvPr id="24" name="Image 2" descr="preencoded.png"/>
          <p:cNvPicPr>
            <a:picLocks noChangeAspect="1"/>
          </p:cNvPicPr>
          <p:nvPr/>
        </p:nvPicPr>
        <p:blipFill>
          <a:blip r:embed="rId5"/>
          <a:stretch>
            <a:fillRect/>
          </a:stretch>
        </p:blipFill>
        <p:spPr>
          <a:xfrm>
            <a:off x="5019142" y="2387287"/>
            <a:ext cx="175565" cy="175565"/>
          </a:xfrm>
          <a:prstGeom prst="rect">
            <a:avLst/>
          </a:prstGeom>
        </p:spPr>
      </p:pic>
      <p:sp>
        <p:nvSpPr>
          <p:cNvPr id="25" name="Text 20"/>
          <p:cNvSpPr/>
          <p:nvPr/>
        </p:nvSpPr>
        <p:spPr>
          <a:xfrm>
            <a:off x="4443984" y="2679192"/>
            <a:ext cx="1417320" cy="457200"/>
          </a:xfrm>
          <a:prstGeom prst="rect">
            <a:avLst/>
          </a:prstGeom>
          <a:noFill/>
          <a:ln/>
        </p:spPr>
        <p:txBody>
          <a:bodyPr wrap="square" lIns="0" tIns="0" rIns="0" bIns="0" rtlCol="0" anchor="ctr"/>
          <a:lstStyle/>
          <a:p>
            <a:pPr marL="0" indent="0" algn="ctr">
              <a:buNone/>
            </a:pPr>
            <a:r>
              <a:rPr lang="en-US" sz="1050" b="1">
                <a:solidFill>
                  <a:srgbClr val="0A2E36"/>
                </a:solidFill>
                <a:latin typeface="Calibri" pitchFamily="34" charset="0"/>
                <a:ea typeface="Calibri" pitchFamily="34" charset="-122"/>
                <a:cs typeface="Calibri" pitchFamily="34" charset="-120"/>
              </a:rPr>
              <a:t>Instructional</a:t>
            </a:r>
            <a:endParaRPr lang="en-US" sz="1050"/>
          </a:p>
          <a:p>
            <a:pPr marL="0" indent="0" algn="ctr">
              <a:buNone/>
            </a:pPr>
            <a:r>
              <a:rPr lang="en-US" sz="1050" b="1">
                <a:solidFill>
                  <a:srgbClr val="0A2E36"/>
                </a:solidFill>
                <a:latin typeface="Calibri" pitchFamily="34" charset="0"/>
                <a:ea typeface="Calibri" pitchFamily="34" charset="-122"/>
                <a:cs typeface="Calibri" pitchFamily="34" charset="-120"/>
              </a:rPr>
              <a:t>template (JSON)</a:t>
            </a:r>
            <a:endParaRPr lang="en-US" sz="1050"/>
          </a:p>
        </p:txBody>
      </p:sp>
      <p:sp>
        <p:nvSpPr>
          <p:cNvPr id="26" name="Shape 21"/>
          <p:cNvSpPr/>
          <p:nvPr/>
        </p:nvSpPr>
        <p:spPr>
          <a:xfrm>
            <a:off x="5888736" y="2697480"/>
            <a:ext cx="274320" cy="0"/>
          </a:xfrm>
          <a:prstGeom prst="line">
            <a:avLst/>
          </a:prstGeom>
          <a:noFill/>
          <a:ln w="34925">
            <a:solidFill>
              <a:srgbClr val="3E9D9B"/>
            </a:solidFill>
            <a:prstDash val="solid"/>
            <a:tailEnd type="triangle"/>
          </a:ln>
        </p:spPr>
        <p:txBody>
          <a:bodyPr/>
          <a:lstStyle/>
          <a:p>
            <a:endParaRPr lang="en-DE"/>
          </a:p>
        </p:txBody>
      </p:sp>
      <p:sp>
        <p:nvSpPr>
          <p:cNvPr id="27" name="Shape 22"/>
          <p:cNvSpPr/>
          <p:nvPr/>
        </p:nvSpPr>
        <p:spPr>
          <a:xfrm>
            <a:off x="6181344" y="1984248"/>
            <a:ext cx="141732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8" name="Text 23"/>
          <p:cNvSpPr/>
          <p:nvPr/>
        </p:nvSpPr>
        <p:spPr>
          <a:xfrm>
            <a:off x="6181344" y="1984248"/>
            <a:ext cx="1417320" cy="603504"/>
          </a:xfrm>
          <a:prstGeom prst="rect">
            <a:avLst/>
          </a:prstGeom>
          <a:noFill/>
          <a:ln/>
        </p:spPr>
        <p:txBody>
          <a:bodyPr wrap="square" lIns="0" tIns="0" rIns="0" bIns="0" rtlCol="0" anchor="ctr"/>
          <a:lstStyle/>
          <a:p>
            <a:pPr marL="0" indent="0" algn="ctr">
              <a:buNone/>
            </a:pPr>
            <a:r>
              <a:rPr lang="en-US" sz="1050" b="1">
                <a:solidFill>
                  <a:srgbClr val="0E5E5C"/>
                </a:solidFill>
                <a:latin typeface="Calibri" pitchFamily="34" charset="0"/>
                <a:ea typeface="Calibri" pitchFamily="34" charset="-122"/>
                <a:cs typeface="Calibri" pitchFamily="34" charset="-120"/>
              </a:rPr>
              <a:t>Human answers</a:t>
            </a:r>
            <a:endParaRPr lang="en-US" sz="1050"/>
          </a:p>
        </p:txBody>
      </p:sp>
      <p:sp>
        <p:nvSpPr>
          <p:cNvPr id="29" name="Shape 24"/>
          <p:cNvSpPr/>
          <p:nvPr/>
        </p:nvSpPr>
        <p:spPr>
          <a:xfrm>
            <a:off x="6181344" y="2752344"/>
            <a:ext cx="1417320" cy="603504"/>
          </a:xfrm>
          <a:prstGeom prst="roundRect">
            <a:avLst>
              <a:gd name="adj" fmla="val 1212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30" name="Text 25"/>
          <p:cNvSpPr/>
          <p:nvPr/>
        </p:nvSpPr>
        <p:spPr>
          <a:xfrm>
            <a:off x="6181344" y="2752344"/>
            <a:ext cx="1417320" cy="603504"/>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LLM answers</a:t>
            </a:r>
            <a:endParaRPr lang="en-US" sz="1050"/>
          </a:p>
        </p:txBody>
      </p:sp>
      <p:sp>
        <p:nvSpPr>
          <p:cNvPr id="31" name="Shape 26"/>
          <p:cNvSpPr/>
          <p:nvPr/>
        </p:nvSpPr>
        <p:spPr>
          <a:xfrm>
            <a:off x="7626096" y="2697480"/>
            <a:ext cx="274320" cy="0"/>
          </a:xfrm>
          <a:prstGeom prst="line">
            <a:avLst/>
          </a:prstGeom>
          <a:noFill/>
          <a:ln w="34925">
            <a:solidFill>
              <a:srgbClr val="3E9D9B"/>
            </a:solidFill>
            <a:prstDash val="solid"/>
            <a:tailEnd type="triangle"/>
          </a:ln>
        </p:spPr>
        <p:txBody>
          <a:bodyPr/>
          <a:lstStyle/>
          <a:p>
            <a:endParaRPr lang="en-DE"/>
          </a:p>
        </p:txBody>
      </p:sp>
      <p:sp>
        <p:nvSpPr>
          <p:cNvPr id="32" name="Shape 27"/>
          <p:cNvSpPr/>
          <p:nvPr/>
        </p:nvSpPr>
        <p:spPr>
          <a:xfrm>
            <a:off x="7900416" y="2240280"/>
            <a:ext cx="914400" cy="914400"/>
          </a:xfrm>
          <a:prstGeom prst="roundRect">
            <a:avLst>
              <a:gd name="adj" fmla="val 8000"/>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33" name="Shape 28"/>
          <p:cNvSpPr/>
          <p:nvPr/>
        </p:nvSpPr>
        <p:spPr>
          <a:xfrm>
            <a:off x="8174735" y="2299715"/>
            <a:ext cx="365760" cy="365760"/>
          </a:xfrm>
          <a:prstGeom prst="ellipse">
            <a:avLst/>
          </a:prstGeom>
          <a:solidFill>
            <a:srgbClr val="0A2E36"/>
          </a:solidFill>
          <a:ln/>
        </p:spPr>
        <p:txBody>
          <a:bodyPr/>
          <a:lstStyle/>
          <a:p>
            <a:endParaRPr lang="en-DE"/>
          </a:p>
        </p:txBody>
      </p:sp>
      <p:pic>
        <p:nvPicPr>
          <p:cNvPr id="34" name="Image 3" descr="preencoded.png"/>
          <p:cNvPicPr>
            <a:picLocks noChangeAspect="1"/>
          </p:cNvPicPr>
          <p:nvPr/>
        </p:nvPicPr>
        <p:blipFill>
          <a:blip r:embed="rId6"/>
          <a:stretch>
            <a:fillRect/>
          </a:stretch>
        </p:blipFill>
        <p:spPr>
          <a:xfrm>
            <a:off x="8269833" y="2394813"/>
            <a:ext cx="175565" cy="175565"/>
          </a:xfrm>
          <a:prstGeom prst="rect">
            <a:avLst/>
          </a:prstGeom>
        </p:spPr>
      </p:pic>
      <p:sp>
        <p:nvSpPr>
          <p:cNvPr id="35" name="Text 29"/>
          <p:cNvSpPr/>
          <p:nvPr/>
        </p:nvSpPr>
        <p:spPr>
          <a:xfrm>
            <a:off x="7900416" y="2715768"/>
            <a:ext cx="914400" cy="365760"/>
          </a:xfrm>
          <a:prstGeom prst="rect">
            <a:avLst/>
          </a:prstGeom>
          <a:noFill/>
          <a:ln/>
        </p:spPr>
        <p:txBody>
          <a:bodyPr wrap="square" lIns="0" tIns="0" rIns="0" bIns="0" rtlCol="0" anchor="ctr"/>
          <a:lstStyle/>
          <a:p>
            <a:pPr marL="0" indent="0" algn="ctr">
              <a:buNone/>
            </a:pPr>
            <a:r>
              <a:rPr lang="en-US" sz="1100" b="1">
                <a:solidFill>
                  <a:srgbClr val="0A2E36"/>
                </a:solidFill>
                <a:latin typeface="Cambria" pitchFamily="34" charset="0"/>
                <a:ea typeface="Cambria" pitchFamily="34" charset="-122"/>
                <a:cs typeface="Cambria" pitchFamily="34" charset="-120"/>
              </a:rPr>
              <a:t>Evaluation</a:t>
            </a:r>
            <a:endParaRPr lang="en-US" sz="1100"/>
          </a:p>
        </p:txBody>
      </p:sp>
      <p:sp>
        <p:nvSpPr>
          <p:cNvPr id="36" name="Shape 30"/>
          <p:cNvSpPr/>
          <p:nvPr/>
        </p:nvSpPr>
        <p:spPr>
          <a:xfrm>
            <a:off x="8345356" y="3154679"/>
            <a:ext cx="0" cy="914399"/>
          </a:xfrm>
          <a:prstGeom prst="line">
            <a:avLst/>
          </a:prstGeom>
          <a:noFill/>
          <a:ln w="25400">
            <a:solidFill>
              <a:srgbClr val="E07A5F"/>
            </a:solidFill>
            <a:prstDash val="dash"/>
          </a:ln>
        </p:spPr>
        <p:txBody>
          <a:bodyPr/>
          <a:lstStyle/>
          <a:p>
            <a:endParaRPr lang="en-DE"/>
          </a:p>
        </p:txBody>
      </p:sp>
      <p:sp>
        <p:nvSpPr>
          <p:cNvPr id="37" name="Shape 31"/>
          <p:cNvSpPr/>
          <p:nvPr/>
        </p:nvSpPr>
        <p:spPr>
          <a:xfrm flipV="1">
            <a:off x="5136444" y="4087365"/>
            <a:ext cx="3208901" cy="0"/>
          </a:xfrm>
          <a:prstGeom prst="line">
            <a:avLst/>
          </a:prstGeom>
          <a:noFill/>
          <a:ln w="25400">
            <a:solidFill>
              <a:srgbClr val="E07A5F"/>
            </a:solidFill>
            <a:prstDash val="dash"/>
          </a:ln>
        </p:spPr>
        <p:txBody>
          <a:bodyPr/>
          <a:lstStyle/>
          <a:p>
            <a:endParaRPr lang="en-DE"/>
          </a:p>
        </p:txBody>
      </p:sp>
      <p:sp>
        <p:nvSpPr>
          <p:cNvPr id="38" name="Shape 32"/>
          <p:cNvSpPr/>
          <p:nvPr/>
        </p:nvSpPr>
        <p:spPr>
          <a:xfrm flipH="1">
            <a:off x="2873049" y="3619808"/>
            <a:ext cx="694" cy="449268"/>
          </a:xfrm>
          <a:prstGeom prst="line">
            <a:avLst/>
          </a:prstGeom>
          <a:noFill/>
          <a:ln w="25400">
            <a:solidFill>
              <a:srgbClr val="E07A5F"/>
            </a:solidFill>
            <a:prstDash val="dash"/>
            <a:headEnd type="triangle"/>
          </a:ln>
        </p:spPr>
        <p:txBody>
          <a:bodyPr/>
          <a:lstStyle/>
          <a:p>
            <a:endParaRPr lang="en-DE"/>
          </a:p>
        </p:txBody>
      </p:sp>
      <p:sp>
        <p:nvSpPr>
          <p:cNvPr id="39" name="Text 33"/>
          <p:cNvSpPr/>
          <p:nvPr/>
        </p:nvSpPr>
        <p:spPr>
          <a:xfrm>
            <a:off x="2873048" y="4159302"/>
            <a:ext cx="5467439" cy="274320"/>
          </a:xfrm>
          <a:prstGeom prst="rect">
            <a:avLst/>
          </a:prstGeom>
          <a:noFill/>
          <a:ln/>
        </p:spPr>
        <p:txBody>
          <a:bodyPr wrap="square" lIns="0" tIns="0" rIns="0" bIns="0" rtlCol="0" anchor="ctr"/>
          <a:lstStyle/>
          <a:p>
            <a:pPr marL="0" indent="0" algn="ctr">
              <a:buNone/>
            </a:pPr>
            <a:r>
              <a:rPr lang="en-US" sz="1000" b="1" i="1">
                <a:solidFill>
                  <a:srgbClr val="E07A5F"/>
                </a:solidFill>
                <a:latin typeface="Calibri" pitchFamily="34" charset="0"/>
                <a:ea typeface="Calibri" pitchFamily="34" charset="-122"/>
                <a:cs typeface="Calibri" pitchFamily="34" charset="-120"/>
              </a:rPr>
              <a:t>Fine-tuning loop</a:t>
            </a:r>
            <a:endParaRPr lang="en-US" sz="1000"/>
          </a:p>
        </p:txBody>
      </p:sp>
      <p:sp>
        <p:nvSpPr>
          <p:cNvPr id="40" name="Text 34"/>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8</a:t>
            </a:r>
            <a:endParaRPr lang="en-US" sz="900"/>
          </a:p>
        </p:txBody>
      </p:sp>
      <p:sp>
        <p:nvSpPr>
          <p:cNvPr id="46" name="Shape 32">
            <a:extLst>
              <a:ext uri="{FF2B5EF4-FFF2-40B4-BE49-F238E27FC236}">
                <a16:creationId xmlns:a16="http://schemas.microsoft.com/office/drawing/2014/main" id="{4AC05FAB-F469-F38A-6613-D4EBAA639582}"/>
              </a:ext>
            </a:extLst>
          </p:cNvPr>
          <p:cNvSpPr/>
          <p:nvPr/>
        </p:nvSpPr>
        <p:spPr>
          <a:xfrm>
            <a:off x="5136444" y="3209544"/>
            <a:ext cx="0" cy="923544"/>
          </a:xfrm>
          <a:prstGeom prst="line">
            <a:avLst/>
          </a:prstGeom>
          <a:noFill/>
          <a:ln w="25400">
            <a:solidFill>
              <a:srgbClr val="E07A5F"/>
            </a:solidFill>
            <a:prstDash val="dash"/>
            <a:headEnd type="triangle"/>
          </a:ln>
        </p:spPr>
        <p:txBody>
          <a:bodyPr/>
          <a:lstStyle/>
          <a:p>
            <a:endParaRPr lang="en-DE"/>
          </a:p>
        </p:txBody>
      </p:sp>
      <p:sp>
        <p:nvSpPr>
          <p:cNvPr id="47" name="Shape 31">
            <a:extLst>
              <a:ext uri="{FF2B5EF4-FFF2-40B4-BE49-F238E27FC236}">
                <a16:creationId xmlns:a16="http://schemas.microsoft.com/office/drawing/2014/main" id="{4A4C1813-F490-E338-4A6B-8316AC61F1AF}"/>
              </a:ext>
            </a:extLst>
          </p:cNvPr>
          <p:cNvSpPr/>
          <p:nvPr/>
        </p:nvSpPr>
        <p:spPr>
          <a:xfrm flipV="1">
            <a:off x="2873050" y="4086150"/>
            <a:ext cx="2229030" cy="1"/>
          </a:xfrm>
          <a:prstGeom prst="line">
            <a:avLst/>
          </a:prstGeom>
          <a:noFill/>
          <a:ln w="25400">
            <a:solidFill>
              <a:srgbClr val="E07A5F"/>
            </a:solidFill>
            <a:prstDash val="dash"/>
          </a:ln>
        </p:spPr>
        <p:txBody>
          <a:bodyPr/>
          <a:lstStyle/>
          <a:p>
            <a:endParaRPr lang="en-D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GB" dirty="0"/>
          </a:p>
        </p:txBody>
      </p:sp>
      <p:pic>
        <p:nvPicPr>
          <p:cNvPr id="3" name="Image 0" descr="preencoded.png"/>
          <p:cNvPicPr>
            <a:picLocks noChangeAspect="1"/>
          </p:cNvPicPr>
          <p:nvPr/>
        </p:nvPicPr>
        <p:blipFill>
          <a:blip r:embed="rId4"/>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GB" sz="2700" b="1" dirty="0">
                <a:solidFill>
                  <a:srgbClr val="0A2E36"/>
                </a:solidFill>
                <a:latin typeface="Cambria" pitchFamily="34" charset="0"/>
                <a:ea typeface="Cambria" pitchFamily="34" charset="-122"/>
                <a:cs typeface="Cambria" pitchFamily="34" charset="-120"/>
              </a:rPr>
              <a:t>The AI system</a:t>
            </a:r>
            <a:endParaRPr lang="en-GB"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GB" sz="1250" i="1" dirty="0">
                <a:solidFill>
                  <a:srgbClr val="0E5E5C"/>
                </a:solidFill>
                <a:latin typeface="Calibri" pitchFamily="34" charset="0"/>
                <a:ea typeface="Calibri" pitchFamily="34" charset="-122"/>
                <a:cs typeface="Calibri" pitchFamily="34" charset="-120"/>
              </a:rPr>
              <a:t>A prediction tool and explanation interface for the healthcare domain</a:t>
            </a:r>
            <a:endParaRPr lang="en-GB" sz="1250" dirty="0"/>
          </a:p>
        </p:txBody>
      </p:sp>
      <p:sp>
        <p:nvSpPr>
          <p:cNvPr id="6" name="Text 3"/>
          <p:cNvSpPr/>
          <p:nvPr/>
        </p:nvSpPr>
        <p:spPr>
          <a:xfrm>
            <a:off x="457200" y="1536192"/>
            <a:ext cx="8229600" cy="310896"/>
          </a:xfrm>
          <a:prstGeom prst="rect">
            <a:avLst/>
          </a:prstGeom>
          <a:noFill/>
          <a:ln/>
        </p:spPr>
        <p:txBody>
          <a:bodyPr wrap="square" lIns="0" tIns="0" rIns="0" bIns="0" rtlCol="0" anchor="ctr"/>
          <a:lstStyle/>
          <a:p>
            <a:pPr marL="0" indent="0">
              <a:buNone/>
            </a:pPr>
            <a:r>
              <a:rPr lang="en-GB" sz="1300" b="1" dirty="0">
                <a:solidFill>
                  <a:srgbClr val="0E5E5C"/>
                </a:solidFill>
                <a:latin typeface="Calibri" pitchFamily="34" charset="0"/>
                <a:ea typeface="Calibri" pitchFamily="34" charset="-122"/>
                <a:cs typeface="Calibri" pitchFamily="34" charset="-120"/>
              </a:rPr>
              <a:t>Task:  </a:t>
            </a:r>
            <a:r>
              <a:rPr lang="en-GB" sz="1300" dirty="0">
                <a:solidFill>
                  <a:srgbClr val="183036"/>
                </a:solidFill>
                <a:latin typeface="Calibri" pitchFamily="34" charset="0"/>
                <a:ea typeface="Calibri" pitchFamily="34" charset="-122"/>
                <a:cs typeface="Calibri" pitchFamily="34" charset="-120"/>
              </a:rPr>
              <a:t>Binary classification of H1N1 vaccine uptake</a:t>
            </a:r>
            <a:r>
              <a:rPr lang="en-GB" sz="1300" i="1" dirty="0">
                <a:solidFill>
                  <a:srgbClr val="55686B"/>
                </a:solidFill>
                <a:latin typeface="Calibri" pitchFamily="34" charset="0"/>
                <a:ea typeface="Calibri" pitchFamily="34" charset="-122"/>
                <a:cs typeface="Calibri" pitchFamily="34" charset="-120"/>
              </a:rPr>
              <a:t> simulating AI-assisted clinical decision-making.</a:t>
            </a:r>
            <a:endParaRPr lang="en-GB" sz="1300" dirty="0"/>
          </a:p>
        </p:txBody>
      </p:sp>
      <p:grpSp>
        <p:nvGrpSpPr>
          <p:cNvPr id="48" name="Group 47">
            <a:extLst>
              <a:ext uri="{FF2B5EF4-FFF2-40B4-BE49-F238E27FC236}">
                <a16:creationId xmlns:a16="http://schemas.microsoft.com/office/drawing/2014/main" id="{2C085FB8-65B3-3B60-D504-CC4D97EC6125}"/>
              </a:ext>
            </a:extLst>
          </p:cNvPr>
          <p:cNvGrpSpPr/>
          <p:nvPr/>
        </p:nvGrpSpPr>
        <p:grpSpPr>
          <a:xfrm>
            <a:off x="457200" y="2231622"/>
            <a:ext cx="8302752" cy="1417320"/>
            <a:chOff x="457200" y="1810512"/>
            <a:chExt cx="8302752" cy="1417320"/>
          </a:xfrm>
        </p:grpSpPr>
        <p:sp>
          <p:nvSpPr>
            <p:cNvPr id="7" name="Shape 4"/>
            <p:cNvSpPr/>
            <p:nvPr/>
          </p:nvSpPr>
          <p:spPr>
            <a:xfrm>
              <a:off x="45720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GB" dirty="0"/>
            </a:p>
          </p:txBody>
        </p:sp>
        <p:sp>
          <p:nvSpPr>
            <p:cNvPr id="8" name="Shape 5"/>
            <p:cNvSpPr/>
            <p:nvPr/>
          </p:nvSpPr>
          <p:spPr>
            <a:xfrm>
              <a:off x="640080" y="1993392"/>
              <a:ext cx="512064" cy="512064"/>
            </a:xfrm>
            <a:prstGeom prst="ellipse">
              <a:avLst/>
            </a:prstGeom>
            <a:solidFill>
              <a:srgbClr val="127475"/>
            </a:solidFill>
            <a:ln/>
          </p:spPr>
          <p:txBody>
            <a:bodyPr/>
            <a:lstStyle/>
            <a:p>
              <a:endParaRPr lang="en-GB" dirty="0"/>
            </a:p>
          </p:txBody>
        </p:sp>
        <p:pic>
          <p:nvPicPr>
            <p:cNvPr id="9" name="Image 1" descr="preencoded.png"/>
            <p:cNvPicPr>
              <a:picLocks noChangeAspect="1"/>
            </p:cNvPicPr>
            <p:nvPr/>
          </p:nvPicPr>
          <p:blipFill>
            <a:blip r:embed="rId5"/>
            <a:stretch>
              <a:fillRect/>
            </a:stretch>
          </p:blipFill>
          <p:spPr>
            <a:xfrm>
              <a:off x="773217" y="2126529"/>
              <a:ext cx="245791" cy="245791"/>
            </a:xfrm>
            <a:prstGeom prst="rect">
              <a:avLst/>
            </a:prstGeom>
          </p:spPr>
        </p:pic>
        <p:sp>
          <p:nvSpPr>
            <p:cNvPr id="10" name="Text 6"/>
            <p:cNvSpPr/>
            <p:nvPr/>
          </p:nvSpPr>
          <p:spPr>
            <a:xfrm>
              <a:off x="1993392" y="1975104"/>
              <a:ext cx="310896" cy="310896"/>
            </a:xfrm>
            <a:prstGeom prst="rect">
              <a:avLst/>
            </a:prstGeom>
            <a:noFill/>
            <a:ln/>
          </p:spPr>
          <p:txBody>
            <a:bodyPr wrap="square" lIns="0" tIns="0" rIns="0" bIns="0" rtlCol="0" anchor="ctr"/>
            <a:lstStyle/>
            <a:p>
              <a:pPr marL="0" indent="0" algn="r">
                <a:buNone/>
              </a:pPr>
              <a:r>
                <a:rPr lang="en-GB" sz="1800" b="1" dirty="0">
                  <a:solidFill>
                    <a:srgbClr val="9AD1D4"/>
                  </a:solidFill>
                  <a:latin typeface="Cambria" pitchFamily="34" charset="0"/>
                  <a:ea typeface="Cambria" pitchFamily="34" charset="-122"/>
                  <a:cs typeface="Cambria" pitchFamily="34" charset="-120"/>
                </a:rPr>
                <a:t>1</a:t>
              </a:r>
              <a:endParaRPr lang="en-GB" sz="1800" dirty="0"/>
            </a:p>
          </p:txBody>
        </p:sp>
        <p:sp>
          <p:nvSpPr>
            <p:cNvPr id="11" name="Text 7"/>
            <p:cNvSpPr/>
            <p:nvPr/>
          </p:nvSpPr>
          <p:spPr>
            <a:xfrm>
              <a:off x="640080" y="2560320"/>
              <a:ext cx="1664208" cy="310896"/>
            </a:xfrm>
            <a:prstGeom prst="rect">
              <a:avLst/>
            </a:prstGeom>
            <a:noFill/>
            <a:ln/>
          </p:spPr>
          <p:txBody>
            <a:bodyPr wrap="square" lIns="0" tIns="0" rIns="0" bIns="0" rtlCol="0" anchor="ctr"/>
            <a:lstStyle/>
            <a:p>
              <a:pPr marL="0" indent="0">
                <a:buNone/>
              </a:pPr>
              <a:r>
                <a:rPr lang="en-GB" sz="1300" b="1" dirty="0">
                  <a:solidFill>
                    <a:srgbClr val="0A2E36"/>
                  </a:solidFill>
                  <a:latin typeface="Cambria" pitchFamily="34" charset="0"/>
                  <a:ea typeface="Cambria" pitchFamily="34" charset="-122"/>
                  <a:cs typeface="Cambria" pitchFamily="34" charset="-120"/>
                </a:rPr>
                <a:t>EDA</a:t>
              </a:r>
              <a:endParaRPr lang="en-GB" sz="1300" dirty="0"/>
            </a:p>
          </p:txBody>
        </p:sp>
        <p:sp>
          <p:nvSpPr>
            <p:cNvPr id="12" name="Text 8"/>
            <p:cNvSpPr/>
            <p:nvPr/>
          </p:nvSpPr>
          <p:spPr>
            <a:xfrm>
              <a:off x="640080" y="2834640"/>
              <a:ext cx="1682496" cy="365760"/>
            </a:xfrm>
            <a:prstGeom prst="rect">
              <a:avLst/>
            </a:prstGeom>
            <a:noFill/>
            <a:ln/>
          </p:spPr>
          <p:txBody>
            <a:bodyPr wrap="square" lIns="0" tIns="0" rIns="0" bIns="0" rtlCol="0" anchor="ctr"/>
            <a:lstStyle/>
            <a:p>
              <a:pPr marL="0" indent="0">
                <a:buNone/>
              </a:pPr>
              <a:r>
                <a:rPr lang="en-GB" sz="1030" dirty="0">
                  <a:solidFill>
                    <a:srgbClr val="55686B"/>
                  </a:solidFill>
                  <a:latin typeface="Calibri" pitchFamily="34" charset="0"/>
                  <a:ea typeface="Calibri" pitchFamily="34" charset="-122"/>
                  <a:cs typeface="Calibri" pitchFamily="34" charset="-120"/>
                </a:rPr>
                <a:t>Describe data and feature selection</a:t>
              </a:r>
              <a:endParaRPr lang="en-GB" sz="1030" dirty="0"/>
            </a:p>
          </p:txBody>
        </p:sp>
        <p:sp>
          <p:nvSpPr>
            <p:cNvPr id="13" name="Shape 9"/>
            <p:cNvSpPr/>
            <p:nvPr/>
          </p:nvSpPr>
          <p:spPr>
            <a:xfrm>
              <a:off x="2432304" y="2519172"/>
              <a:ext cx="109728" cy="0"/>
            </a:xfrm>
            <a:prstGeom prst="line">
              <a:avLst/>
            </a:prstGeom>
            <a:noFill/>
            <a:ln w="34925">
              <a:solidFill>
                <a:srgbClr val="3E9D9B"/>
              </a:solidFill>
              <a:prstDash val="solid"/>
              <a:tailEnd type="triangle"/>
            </a:ln>
          </p:spPr>
          <p:txBody>
            <a:bodyPr/>
            <a:lstStyle/>
            <a:p>
              <a:endParaRPr lang="en-GB" dirty="0"/>
            </a:p>
          </p:txBody>
        </p:sp>
        <p:sp>
          <p:nvSpPr>
            <p:cNvPr id="14" name="Shape 10"/>
            <p:cNvSpPr/>
            <p:nvPr/>
          </p:nvSpPr>
          <p:spPr>
            <a:xfrm>
              <a:off x="256032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GB" dirty="0"/>
            </a:p>
          </p:txBody>
        </p:sp>
        <p:sp>
          <p:nvSpPr>
            <p:cNvPr id="15" name="Shape 11"/>
            <p:cNvSpPr/>
            <p:nvPr/>
          </p:nvSpPr>
          <p:spPr>
            <a:xfrm>
              <a:off x="2743200" y="1993392"/>
              <a:ext cx="512064" cy="512064"/>
            </a:xfrm>
            <a:prstGeom prst="ellipse">
              <a:avLst/>
            </a:prstGeom>
            <a:solidFill>
              <a:srgbClr val="127475"/>
            </a:solidFill>
            <a:ln/>
          </p:spPr>
          <p:txBody>
            <a:bodyPr/>
            <a:lstStyle/>
            <a:p>
              <a:endParaRPr lang="en-GB" dirty="0"/>
            </a:p>
          </p:txBody>
        </p:sp>
        <p:pic>
          <p:nvPicPr>
            <p:cNvPr id="16" name="Image 2" descr="preencoded.png"/>
            <p:cNvPicPr>
              <a:picLocks noChangeAspect="1"/>
            </p:cNvPicPr>
            <p:nvPr/>
          </p:nvPicPr>
          <p:blipFill>
            <a:blip r:embed="rId6"/>
            <a:stretch>
              <a:fillRect/>
            </a:stretch>
          </p:blipFill>
          <p:spPr>
            <a:xfrm>
              <a:off x="2876337" y="2126529"/>
              <a:ext cx="245791" cy="245791"/>
            </a:xfrm>
            <a:prstGeom prst="rect">
              <a:avLst/>
            </a:prstGeom>
          </p:spPr>
        </p:pic>
        <p:sp>
          <p:nvSpPr>
            <p:cNvPr id="17" name="Text 12"/>
            <p:cNvSpPr/>
            <p:nvPr/>
          </p:nvSpPr>
          <p:spPr>
            <a:xfrm>
              <a:off x="4096512" y="1975104"/>
              <a:ext cx="310896" cy="310896"/>
            </a:xfrm>
            <a:prstGeom prst="rect">
              <a:avLst/>
            </a:prstGeom>
            <a:noFill/>
            <a:ln/>
          </p:spPr>
          <p:txBody>
            <a:bodyPr wrap="square" lIns="0" tIns="0" rIns="0" bIns="0" rtlCol="0" anchor="ctr"/>
            <a:lstStyle/>
            <a:p>
              <a:pPr marL="0" indent="0" algn="r">
                <a:buNone/>
              </a:pPr>
              <a:r>
                <a:rPr lang="en-GB" sz="1800" b="1" dirty="0">
                  <a:solidFill>
                    <a:srgbClr val="9AD1D4"/>
                  </a:solidFill>
                  <a:latin typeface="Cambria" pitchFamily="34" charset="0"/>
                  <a:ea typeface="Cambria" pitchFamily="34" charset="-122"/>
                  <a:cs typeface="Cambria" pitchFamily="34" charset="-120"/>
                </a:rPr>
                <a:t>2</a:t>
              </a:r>
              <a:endParaRPr lang="en-GB" sz="1800" dirty="0"/>
            </a:p>
          </p:txBody>
        </p:sp>
        <p:sp>
          <p:nvSpPr>
            <p:cNvPr id="18" name="Text 13"/>
            <p:cNvSpPr/>
            <p:nvPr/>
          </p:nvSpPr>
          <p:spPr>
            <a:xfrm>
              <a:off x="2743200" y="2560320"/>
              <a:ext cx="1664208" cy="310896"/>
            </a:xfrm>
            <a:prstGeom prst="rect">
              <a:avLst/>
            </a:prstGeom>
            <a:noFill/>
            <a:ln/>
          </p:spPr>
          <p:txBody>
            <a:bodyPr wrap="square" lIns="0" tIns="0" rIns="0" bIns="0" rtlCol="0" anchor="ctr"/>
            <a:lstStyle/>
            <a:p>
              <a:pPr marL="0" indent="0">
                <a:buNone/>
              </a:pPr>
              <a:r>
                <a:rPr lang="en-GB" sz="1300" b="1" dirty="0">
                  <a:solidFill>
                    <a:srgbClr val="0A2E36"/>
                  </a:solidFill>
                  <a:latin typeface="Cambria" pitchFamily="34" charset="0"/>
                  <a:ea typeface="Cambria" pitchFamily="34" charset="-122"/>
                  <a:cs typeface="Cambria" pitchFamily="34" charset="-120"/>
                </a:rPr>
                <a:t>Modelling</a:t>
              </a:r>
              <a:endParaRPr lang="en-GB" sz="1300" dirty="0"/>
            </a:p>
          </p:txBody>
        </p:sp>
        <p:sp>
          <p:nvSpPr>
            <p:cNvPr id="19" name="Text 14"/>
            <p:cNvSpPr/>
            <p:nvPr/>
          </p:nvSpPr>
          <p:spPr>
            <a:xfrm>
              <a:off x="2743200" y="2834640"/>
              <a:ext cx="1682496" cy="365760"/>
            </a:xfrm>
            <a:prstGeom prst="rect">
              <a:avLst/>
            </a:prstGeom>
            <a:noFill/>
            <a:ln/>
          </p:spPr>
          <p:txBody>
            <a:bodyPr wrap="square" lIns="0" tIns="0" rIns="0" bIns="0" rtlCol="0" anchor="ctr"/>
            <a:lstStyle/>
            <a:p>
              <a:pPr marL="0" indent="0">
                <a:buNone/>
              </a:pPr>
              <a:r>
                <a:rPr lang="en-GB" sz="1030" dirty="0">
                  <a:solidFill>
                    <a:srgbClr val="55686B"/>
                  </a:solidFill>
                  <a:latin typeface="Calibri" pitchFamily="34" charset="0"/>
                  <a:ea typeface="Calibri" pitchFamily="34" charset="-122"/>
                  <a:cs typeface="Calibri" pitchFamily="34" charset="-120"/>
                </a:rPr>
                <a:t>Train and select the best model</a:t>
              </a:r>
              <a:endParaRPr lang="en-GB" sz="1030" dirty="0"/>
            </a:p>
          </p:txBody>
        </p:sp>
        <p:sp>
          <p:nvSpPr>
            <p:cNvPr id="20" name="Shape 15"/>
            <p:cNvSpPr/>
            <p:nvPr/>
          </p:nvSpPr>
          <p:spPr>
            <a:xfrm>
              <a:off x="4535424" y="2519172"/>
              <a:ext cx="109728" cy="0"/>
            </a:xfrm>
            <a:prstGeom prst="line">
              <a:avLst/>
            </a:prstGeom>
            <a:noFill/>
            <a:ln w="34925">
              <a:solidFill>
                <a:srgbClr val="3E9D9B"/>
              </a:solidFill>
              <a:prstDash val="solid"/>
              <a:tailEnd type="triangle"/>
            </a:ln>
          </p:spPr>
          <p:txBody>
            <a:bodyPr/>
            <a:lstStyle/>
            <a:p>
              <a:endParaRPr lang="en-GB" dirty="0"/>
            </a:p>
          </p:txBody>
        </p:sp>
        <p:sp>
          <p:nvSpPr>
            <p:cNvPr id="21" name="Shape 16"/>
            <p:cNvSpPr/>
            <p:nvPr/>
          </p:nvSpPr>
          <p:spPr>
            <a:xfrm>
              <a:off x="466344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GB" dirty="0"/>
            </a:p>
          </p:txBody>
        </p:sp>
        <p:sp>
          <p:nvSpPr>
            <p:cNvPr id="22" name="Shape 17"/>
            <p:cNvSpPr/>
            <p:nvPr/>
          </p:nvSpPr>
          <p:spPr>
            <a:xfrm>
              <a:off x="4846320" y="1993392"/>
              <a:ext cx="512064" cy="512064"/>
            </a:xfrm>
            <a:prstGeom prst="ellipse">
              <a:avLst/>
            </a:prstGeom>
            <a:solidFill>
              <a:srgbClr val="127475"/>
            </a:solidFill>
            <a:ln/>
          </p:spPr>
          <p:txBody>
            <a:bodyPr/>
            <a:lstStyle/>
            <a:p>
              <a:endParaRPr lang="en-GB" dirty="0"/>
            </a:p>
          </p:txBody>
        </p:sp>
        <p:pic>
          <p:nvPicPr>
            <p:cNvPr id="23" name="Image 3" descr="preencoded.png"/>
            <p:cNvPicPr>
              <a:picLocks noChangeAspect="1"/>
            </p:cNvPicPr>
            <p:nvPr/>
          </p:nvPicPr>
          <p:blipFill>
            <a:blip r:embed="rId7"/>
            <a:stretch>
              <a:fillRect/>
            </a:stretch>
          </p:blipFill>
          <p:spPr>
            <a:xfrm>
              <a:off x="4979457" y="2126529"/>
              <a:ext cx="245791" cy="245791"/>
            </a:xfrm>
            <a:prstGeom prst="rect">
              <a:avLst/>
            </a:prstGeom>
          </p:spPr>
        </p:pic>
        <p:sp>
          <p:nvSpPr>
            <p:cNvPr id="24" name="Text 18"/>
            <p:cNvSpPr/>
            <p:nvPr/>
          </p:nvSpPr>
          <p:spPr>
            <a:xfrm>
              <a:off x="6199632" y="1975104"/>
              <a:ext cx="310896" cy="310896"/>
            </a:xfrm>
            <a:prstGeom prst="rect">
              <a:avLst/>
            </a:prstGeom>
            <a:noFill/>
            <a:ln/>
          </p:spPr>
          <p:txBody>
            <a:bodyPr wrap="square" lIns="0" tIns="0" rIns="0" bIns="0" rtlCol="0" anchor="ctr"/>
            <a:lstStyle/>
            <a:p>
              <a:pPr marL="0" indent="0" algn="r">
                <a:buNone/>
              </a:pPr>
              <a:r>
                <a:rPr lang="en-GB" sz="1800" b="1" dirty="0">
                  <a:solidFill>
                    <a:srgbClr val="9AD1D4"/>
                  </a:solidFill>
                  <a:latin typeface="Cambria" pitchFamily="34" charset="0"/>
                  <a:ea typeface="Cambria" pitchFamily="34" charset="-122"/>
                  <a:cs typeface="Cambria" pitchFamily="34" charset="-120"/>
                </a:rPr>
                <a:t>3</a:t>
              </a:r>
              <a:endParaRPr lang="en-GB" sz="1800" dirty="0"/>
            </a:p>
          </p:txBody>
        </p:sp>
        <p:sp>
          <p:nvSpPr>
            <p:cNvPr id="25" name="Text 19"/>
            <p:cNvSpPr/>
            <p:nvPr/>
          </p:nvSpPr>
          <p:spPr>
            <a:xfrm>
              <a:off x="4846320" y="2560320"/>
              <a:ext cx="1664208" cy="310896"/>
            </a:xfrm>
            <a:prstGeom prst="rect">
              <a:avLst/>
            </a:prstGeom>
            <a:noFill/>
            <a:ln/>
          </p:spPr>
          <p:txBody>
            <a:bodyPr wrap="square" lIns="0" tIns="0" rIns="0" bIns="0" rtlCol="0" anchor="ctr"/>
            <a:lstStyle/>
            <a:p>
              <a:pPr marL="0" indent="0">
                <a:buNone/>
              </a:pPr>
              <a:r>
                <a:rPr lang="en-GB" sz="1300" b="1" dirty="0">
                  <a:solidFill>
                    <a:srgbClr val="0A2E36"/>
                  </a:solidFill>
                  <a:latin typeface="Cambria" pitchFamily="34" charset="0"/>
                  <a:ea typeface="Cambria" pitchFamily="34" charset="-122"/>
                  <a:cs typeface="Cambria" pitchFamily="34" charset="-120"/>
                </a:rPr>
                <a:t>Explanations</a:t>
              </a:r>
              <a:endParaRPr lang="en-GB" sz="1300" dirty="0"/>
            </a:p>
          </p:txBody>
        </p:sp>
        <p:sp>
          <p:nvSpPr>
            <p:cNvPr id="26" name="Text 20"/>
            <p:cNvSpPr/>
            <p:nvPr/>
          </p:nvSpPr>
          <p:spPr>
            <a:xfrm>
              <a:off x="4846320" y="2834640"/>
              <a:ext cx="1682496" cy="365760"/>
            </a:xfrm>
            <a:prstGeom prst="rect">
              <a:avLst/>
            </a:prstGeom>
            <a:noFill/>
            <a:ln/>
          </p:spPr>
          <p:txBody>
            <a:bodyPr wrap="square" lIns="0" tIns="0" rIns="0" bIns="0" rtlCol="0" anchor="ctr"/>
            <a:lstStyle/>
            <a:p>
              <a:pPr marL="0" indent="0">
                <a:buNone/>
              </a:pPr>
              <a:r>
                <a:rPr lang="en-GB" sz="1030" dirty="0">
                  <a:solidFill>
                    <a:srgbClr val="55686B"/>
                  </a:solidFill>
                  <a:latin typeface="Calibri" pitchFamily="34" charset="0"/>
                  <a:ea typeface="Calibri" pitchFamily="34" charset="-122"/>
                  <a:cs typeface="Calibri" pitchFamily="34" charset="-120"/>
                </a:rPr>
                <a:t>Feature importance, PDP, ALE, SHAP</a:t>
              </a:r>
              <a:endParaRPr lang="en-GB" sz="1030" dirty="0"/>
            </a:p>
          </p:txBody>
        </p:sp>
        <p:sp>
          <p:nvSpPr>
            <p:cNvPr id="27" name="Shape 21"/>
            <p:cNvSpPr/>
            <p:nvPr/>
          </p:nvSpPr>
          <p:spPr>
            <a:xfrm>
              <a:off x="6638544" y="2519172"/>
              <a:ext cx="109728" cy="0"/>
            </a:xfrm>
            <a:prstGeom prst="line">
              <a:avLst/>
            </a:prstGeom>
            <a:noFill/>
            <a:ln w="34925">
              <a:solidFill>
                <a:srgbClr val="3E9D9B"/>
              </a:solidFill>
              <a:prstDash val="solid"/>
              <a:tailEnd type="triangle"/>
            </a:ln>
          </p:spPr>
          <p:txBody>
            <a:bodyPr/>
            <a:lstStyle/>
            <a:p>
              <a:endParaRPr lang="en-GB" dirty="0"/>
            </a:p>
          </p:txBody>
        </p:sp>
        <p:sp>
          <p:nvSpPr>
            <p:cNvPr id="28" name="Shape 22"/>
            <p:cNvSpPr/>
            <p:nvPr/>
          </p:nvSpPr>
          <p:spPr>
            <a:xfrm>
              <a:off x="6766560" y="1810512"/>
              <a:ext cx="1993392" cy="1417320"/>
            </a:xfrm>
            <a:prstGeom prst="roundRect">
              <a:avLst>
                <a:gd name="adj" fmla="val 5161"/>
              </a:avLst>
            </a:prstGeom>
            <a:solidFill>
              <a:srgbClr val="F1F7F7"/>
            </a:solidFill>
            <a:ln/>
            <a:effectLst>
              <a:outerShdw blurRad="88900" dist="25400" dir="5400000" algn="bl" rotWithShape="0">
                <a:srgbClr val="0A2E36">
                  <a:alpha val="10000"/>
                </a:srgbClr>
              </a:outerShdw>
            </a:effectLst>
          </p:spPr>
          <p:txBody>
            <a:bodyPr/>
            <a:lstStyle/>
            <a:p>
              <a:endParaRPr lang="en-GB" dirty="0"/>
            </a:p>
          </p:txBody>
        </p:sp>
        <p:sp>
          <p:nvSpPr>
            <p:cNvPr id="29" name="Shape 23"/>
            <p:cNvSpPr/>
            <p:nvPr/>
          </p:nvSpPr>
          <p:spPr>
            <a:xfrm>
              <a:off x="6949440" y="1993392"/>
              <a:ext cx="512064" cy="512064"/>
            </a:xfrm>
            <a:prstGeom prst="ellipse">
              <a:avLst/>
            </a:prstGeom>
            <a:solidFill>
              <a:srgbClr val="127475"/>
            </a:solidFill>
            <a:ln/>
          </p:spPr>
          <p:txBody>
            <a:bodyPr/>
            <a:lstStyle/>
            <a:p>
              <a:endParaRPr lang="en-GB" dirty="0"/>
            </a:p>
          </p:txBody>
        </p:sp>
        <p:pic>
          <p:nvPicPr>
            <p:cNvPr id="30" name="Image 4" descr="preencoded.png"/>
            <p:cNvPicPr>
              <a:picLocks noChangeAspect="1"/>
            </p:cNvPicPr>
            <p:nvPr/>
          </p:nvPicPr>
          <p:blipFill>
            <a:blip r:embed="rId8"/>
            <a:stretch>
              <a:fillRect/>
            </a:stretch>
          </p:blipFill>
          <p:spPr>
            <a:xfrm>
              <a:off x="7082577" y="2126529"/>
              <a:ext cx="245791" cy="245791"/>
            </a:xfrm>
            <a:prstGeom prst="rect">
              <a:avLst/>
            </a:prstGeom>
          </p:spPr>
        </p:pic>
        <p:sp>
          <p:nvSpPr>
            <p:cNvPr id="31" name="Text 24"/>
            <p:cNvSpPr/>
            <p:nvPr/>
          </p:nvSpPr>
          <p:spPr>
            <a:xfrm>
              <a:off x="8302752" y="1975104"/>
              <a:ext cx="310896" cy="310896"/>
            </a:xfrm>
            <a:prstGeom prst="rect">
              <a:avLst/>
            </a:prstGeom>
            <a:noFill/>
            <a:ln/>
          </p:spPr>
          <p:txBody>
            <a:bodyPr wrap="square" lIns="0" tIns="0" rIns="0" bIns="0" rtlCol="0" anchor="ctr"/>
            <a:lstStyle/>
            <a:p>
              <a:pPr marL="0" indent="0" algn="r">
                <a:buNone/>
              </a:pPr>
              <a:r>
                <a:rPr lang="en-GB" sz="1800" b="1" dirty="0">
                  <a:solidFill>
                    <a:srgbClr val="9AD1D4"/>
                  </a:solidFill>
                  <a:latin typeface="Cambria" pitchFamily="34" charset="0"/>
                  <a:ea typeface="Cambria" pitchFamily="34" charset="-122"/>
                  <a:cs typeface="Cambria" pitchFamily="34" charset="-120"/>
                </a:rPr>
                <a:t>4</a:t>
              </a:r>
              <a:endParaRPr lang="en-GB" sz="1800" dirty="0"/>
            </a:p>
          </p:txBody>
        </p:sp>
        <p:sp>
          <p:nvSpPr>
            <p:cNvPr id="32" name="Text 25"/>
            <p:cNvSpPr/>
            <p:nvPr/>
          </p:nvSpPr>
          <p:spPr>
            <a:xfrm>
              <a:off x="6949440" y="2560320"/>
              <a:ext cx="1664208" cy="310896"/>
            </a:xfrm>
            <a:prstGeom prst="rect">
              <a:avLst/>
            </a:prstGeom>
            <a:noFill/>
            <a:ln/>
          </p:spPr>
          <p:txBody>
            <a:bodyPr wrap="square" lIns="0" tIns="0" rIns="0" bIns="0" rtlCol="0" anchor="ctr"/>
            <a:lstStyle/>
            <a:p>
              <a:pPr marL="0" indent="0">
                <a:buNone/>
              </a:pPr>
              <a:r>
                <a:rPr lang="en-GB" sz="1300" b="1" dirty="0">
                  <a:solidFill>
                    <a:srgbClr val="0A2E36"/>
                  </a:solidFill>
                  <a:latin typeface="Cambria" pitchFamily="34" charset="0"/>
                  <a:ea typeface="Cambria" pitchFamily="34" charset="-122"/>
                  <a:cs typeface="Cambria" pitchFamily="34" charset="-120"/>
                </a:rPr>
                <a:t>What-If? dashboard</a:t>
              </a:r>
              <a:endParaRPr lang="en-GB" sz="1300" dirty="0"/>
            </a:p>
          </p:txBody>
        </p:sp>
        <p:sp>
          <p:nvSpPr>
            <p:cNvPr id="33" name="Text 26"/>
            <p:cNvSpPr/>
            <p:nvPr/>
          </p:nvSpPr>
          <p:spPr>
            <a:xfrm>
              <a:off x="6949440" y="2834640"/>
              <a:ext cx="1682496" cy="365760"/>
            </a:xfrm>
            <a:prstGeom prst="rect">
              <a:avLst/>
            </a:prstGeom>
            <a:noFill/>
            <a:ln/>
          </p:spPr>
          <p:txBody>
            <a:bodyPr wrap="square" lIns="0" tIns="0" rIns="0" bIns="0" rtlCol="0" anchor="ctr"/>
            <a:lstStyle/>
            <a:p>
              <a:pPr marL="0" indent="0">
                <a:buNone/>
              </a:pPr>
              <a:r>
                <a:rPr lang="en-GB" sz="1030" dirty="0">
                  <a:solidFill>
                    <a:srgbClr val="55686B"/>
                  </a:solidFill>
                  <a:latin typeface="Calibri" pitchFamily="34" charset="0"/>
                  <a:ea typeface="Calibri" pitchFamily="34" charset="-122"/>
                  <a:cs typeface="Calibri" pitchFamily="34" charset="-120"/>
                </a:rPr>
                <a:t>Interactive UI</a:t>
              </a:r>
              <a:endParaRPr lang="en-GB" sz="1030" dirty="0"/>
            </a:p>
          </p:txBody>
        </p:sp>
      </p:grpSp>
      <p:sp>
        <p:nvSpPr>
          <p:cNvPr id="34" name="Text 27"/>
          <p:cNvSpPr/>
          <p:nvPr/>
        </p:nvSpPr>
        <p:spPr>
          <a:xfrm>
            <a:off x="457200" y="4329684"/>
            <a:ext cx="8229600" cy="274320"/>
          </a:xfrm>
          <a:prstGeom prst="rect">
            <a:avLst/>
          </a:prstGeom>
          <a:noFill/>
          <a:ln/>
        </p:spPr>
        <p:txBody>
          <a:bodyPr wrap="square" lIns="0" tIns="0" rIns="0" bIns="0" rtlCol="0" anchor="ctr"/>
          <a:lstStyle/>
          <a:p>
            <a:pPr marL="0" indent="0">
              <a:buNone/>
            </a:pPr>
            <a:r>
              <a:rPr lang="en-GB" sz="1200" b="1" dirty="0">
                <a:solidFill>
                  <a:srgbClr val="0E5E5C"/>
                </a:solidFill>
                <a:latin typeface="Calibri" pitchFamily="34" charset="0"/>
                <a:ea typeface="Calibri" pitchFamily="34" charset="-122"/>
                <a:cs typeface="Calibri" pitchFamily="34" charset="-120"/>
              </a:rPr>
              <a:t>Data — </a:t>
            </a:r>
            <a:r>
              <a:rPr lang="en-GB" sz="1200" b="1" dirty="0" err="1">
                <a:solidFill>
                  <a:srgbClr val="0E5E5C"/>
                </a:solidFill>
                <a:latin typeface="Calibri" pitchFamily="34" charset="0"/>
                <a:ea typeface="Calibri" pitchFamily="34" charset="-122"/>
                <a:cs typeface="Calibri" pitchFamily="34" charset="-120"/>
              </a:rPr>
              <a:t>DrivenData</a:t>
            </a:r>
            <a:r>
              <a:rPr lang="en-GB" sz="1200" b="1" dirty="0">
                <a:solidFill>
                  <a:srgbClr val="0E5E5C"/>
                </a:solidFill>
                <a:latin typeface="Calibri" pitchFamily="34" charset="0"/>
                <a:ea typeface="Calibri" pitchFamily="34" charset="-122"/>
                <a:cs typeface="Calibri" pitchFamily="34" charset="-120"/>
              </a:rPr>
              <a:t> “Flu Shot Learning”, from the US National 2009 H1N1 Flu Survey</a:t>
            </a:r>
          </a:p>
          <a:p>
            <a:pPr marL="0" indent="0">
              <a:buNone/>
            </a:pPr>
            <a:endParaRPr lang="en-GB" sz="1200" dirty="0"/>
          </a:p>
          <a:p>
            <a:r>
              <a:rPr lang="en-GB" sz="1200" i="1" dirty="0">
                <a:solidFill>
                  <a:srgbClr val="55686B"/>
                </a:solidFill>
                <a:latin typeface="Calibri" pitchFamily="34" charset="0"/>
                <a:ea typeface="Calibri" pitchFamily="34" charset="-122"/>
                <a:cs typeface="Calibri" pitchFamily="34" charset="-120"/>
              </a:rPr>
              <a:t>Containing protected, demographic, behavioural, health and opinion related features</a:t>
            </a:r>
            <a:endParaRPr lang="en-GB" sz="1200" dirty="0"/>
          </a:p>
          <a:p>
            <a:pPr marL="0" indent="0">
              <a:buNone/>
            </a:pPr>
            <a:endParaRPr lang="en-GB" sz="1200" dirty="0"/>
          </a:p>
        </p:txBody>
      </p:sp>
      <p:sp>
        <p:nvSpPr>
          <p:cNvPr id="47" name="Text 40"/>
          <p:cNvSpPr/>
          <p:nvPr/>
        </p:nvSpPr>
        <p:spPr>
          <a:xfrm>
            <a:off x="8458200" y="4828032"/>
            <a:ext cx="502920" cy="228600"/>
          </a:xfrm>
          <a:prstGeom prst="rect">
            <a:avLst/>
          </a:prstGeom>
          <a:noFill/>
          <a:ln/>
        </p:spPr>
        <p:txBody>
          <a:bodyPr wrap="square" lIns="0" tIns="0" rIns="0" bIns="0" rtlCol="0" anchor="ctr"/>
          <a:lstStyle/>
          <a:p>
            <a:pPr marL="0" indent="0" algn="r">
              <a:buNone/>
            </a:pPr>
            <a:r>
              <a:rPr lang="en-GB" sz="900" dirty="0">
                <a:solidFill>
                  <a:srgbClr val="8AA0A3"/>
                </a:solidFill>
                <a:latin typeface="Calibri" pitchFamily="34" charset="0"/>
                <a:ea typeface="Calibri" pitchFamily="34" charset="-122"/>
                <a:cs typeface="Calibri" pitchFamily="34" charset="-120"/>
              </a:rPr>
              <a:t>9</a:t>
            </a:r>
            <a:endParaRPr lang="en-GB" sz="900" dirty="0"/>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Modelling</a:t>
            </a:r>
            <a:endParaRPr lang="en-US" sz="2700"/>
          </a:p>
        </p:txBody>
      </p:sp>
      <p:sp>
        <p:nvSpPr>
          <p:cNvPr id="6" name="Shape 3"/>
          <p:cNvSpPr/>
          <p:nvPr/>
        </p:nvSpPr>
        <p:spPr>
          <a:xfrm>
            <a:off x="457200" y="1263419"/>
            <a:ext cx="1993392"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1170432" y="1446299"/>
            <a:ext cx="566928" cy="566928"/>
          </a:xfrm>
          <a:prstGeom prst="ellipse">
            <a:avLst/>
          </a:prstGeom>
          <a:solidFill>
            <a:srgbClr val="3E9D9B"/>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1317833" y="1593700"/>
            <a:ext cx="272125" cy="272125"/>
          </a:xfrm>
          <a:prstGeom prst="rect">
            <a:avLst/>
          </a:prstGeom>
        </p:spPr>
      </p:pic>
      <p:sp>
        <p:nvSpPr>
          <p:cNvPr id="9" name="Text 5"/>
          <p:cNvSpPr/>
          <p:nvPr/>
        </p:nvSpPr>
        <p:spPr>
          <a:xfrm>
            <a:off x="548640" y="2049803"/>
            <a:ext cx="1810512" cy="329184"/>
          </a:xfrm>
          <a:prstGeom prst="rect">
            <a:avLst/>
          </a:prstGeom>
          <a:noFill/>
          <a:ln/>
        </p:spPr>
        <p:txBody>
          <a:bodyPr wrap="square" lIns="0" tIns="0" rIns="0" bIns="0" rtlCol="0" anchor="ctr"/>
          <a:lstStyle/>
          <a:p>
            <a:pPr marL="0" indent="0" algn="ctr">
              <a:buNone/>
            </a:pPr>
            <a:r>
              <a:rPr lang="en-US" sz="1250" b="1">
                <a:solidFill>
                  <a:srgbClr val="0A2E36"/>
                </a:solidFill>
                <a:latin typeface="Cambria" pitchFamily="34" charset="0"/>
                <a:ea typeface="Cambria" pitchFamily="34" charset="-122"/>
                <a:cs typeface="Cambria" pitchFamily="34" charset="-120"/>
              </a:rPr>
              <a:t>Logistic Regression</a:t>
            </a:r>
            <a:endParaRPr lang="en-US" sz="1250"/>
          </a:p>
        </p:txBody>
      </p:sp>
      <p:sp>
        <p:nvSpPr>
          <p:cNvPr id="10" name="Text 6"/>
          <p:cNvSpPr/>
          <p:nvPr/>
        </p:nvSpPr>
        <p:spPr>
          <a:xfrm>
            <a:off x="548640" y="2342411"/>
            <a:ext cx="1810512" cy="256032"/>
          </a:xfrm>
          <a:prstGeom prst="rect">
            <a:avLst/>
          </a:prstGeom>
          <a:noFill/>
          <a:ln/>
        </p:spPr>
        <p:txBody>
          <a:bodyPr wrap="square" lIns="0" tIns="0" rIns="0" bIns="0" rtlCol="0" anchor="ctr"/>
          <a:lstStyle/>
          <a:p>
            <a:pPr marL="0" indent="0" algn="ctr">
              <a:buNone/>
            </a:pPr>
            <a:r>
              <a:rPr lang="en-US" sz="1050">
                <a:solidFill>
                  <a:srgbClr val="55686B"/>
                </a:solidFill>
                <a:latin typeface="Calibri" pitchFamily="34" charset="0"/>
                <a:ea typeface="Calibri" pitchFamily="34" charset="-122"/>
                <a:cs typeface="Calibri" pitchFamily="34" charset="-120"/>
              </a:rPr>
              <a:t>Linear baseline</a:t>
            </a:r>
            <a:endParaRPr lang="en-US" sz="1050"/>
          </a:p>
        </p:txBody>
      </p:sp>
      <p:sp>
        <p:nvSpPr>
          <p:cNvPr id="11" name="Shape 7"/>
          <p:cNvSpPr/>
          <p:nvPr/>
        </p:nvSpPr>
        <p:spPr>
          <a:xfrm>
            <a:off x="2560320" y="1263419"/>
            <a:ext cx="1993392"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3273552" y="1446299"/>
            <a:ext cx="566928" cy="566928"/>
          </a:xfrm>
          <a:prstGeom prst="ellipse">
            <a:avLst/>
          </a:prstGeom>
          <a:solidFill>
            <a:srgbClr val="3E9D9B"/>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3420953" y="1593700"/>
            <a:ext cx="272125" cy="272125"/>
          </a:xfrm>
          <a:prstGeom prst="rect">
            <a:avLst/>
          </a:prstGeom>
        </p:spPr>
      </p:pic>
      <p:sp>
        <p:nvSpPr>
          <p:cNvPr id="14" name="Text 9"/>
          <p:cNvSpPr/>
          <p:nvPr/>
        </p:nvSpPr>
        <p:spPr>
          <a:xfrm>
            <a:off x="2651760" y="2049803"/>
            <a:ext cx="1810512" cy="329184"/>
          </a:xfrm>
          <a:prstGeom prst="rect">
            <a:avLst/>
          </a:prstGeom>
          <a:noFill/>
          <a:ln/>
        </p:spPr>
        <p:txBody>
          <a:bodyPr wrap="square" lIns="0" tIns="0" rIns="0" bIns="0" rtlCol="0" anchor="ctr"/>
          <a:lstStyle/>
          <a:p>
            <a:pPr marL="0" indent="0" algn="ctr">
              <a:buNone/>
            </a:pPr>
            <a:r>
              <a:rPr lang="en-US" sz="1250" b="1">
                <a:solidFill>
                  <a:srgbClr val="0A2E36"/>
                </a:solidFill>
                <a:latin typeface="Cambria" pitchFamily="34" charset="0"/>
                <a:ea typeface="Cambria" pitchFamily="34" charset="-122"/>
                <a:cs typeface="Cambria" pitchFamily="34" charset="-120"/>
              </a:rPr>
              <a:t>Random Forest</a:t>
            </a:r>
            <a:endParaRPr lang="en-US" sz="1250"/>
          </a:p>
        </p:txBody>
      </p:sp>
      <p:sp>
        <p:nvSpPr>
          <p:cNvPr id="15" name="Text 10"/>
          <p:cNvSpPr/>
          <p:nvPr/>
        </p:nvSpPr>
        <p:spPr>
          <a:xfrm>
            <a:off x="2651760" y="2342411"/>
            <a:ext cx="1810512" cy="256032"/>
          </a:xfrm>
          <a:prstGeom prst="rect">
            <a:avLst/>
          </a:prstGeom>
          <a:noFill/>
          <a:ln/>
        </p:spPr>
        <p:txBody>
          <a:bodyPr wrap="square" lIns="0" tIns="0" rIns="0" bIns="0" rtlCol="0" anchor="ctr"/>
          <a:lstStyle/>
          <a:p>
            <a:pPr marL="0" indent="0" algn="ctr">
              <a:buNone/>
            </a:pPr>
            <a:r>
              <a:rPr lang="en-US" sz="1050" dirty="0">
                <a:solidFill>
                  <a:srgbClr val="55686B"/>
                </a:solidFill>
                <a:latin typeface="Calibri" pitchFamily="34" charset="0"/>
                <a:ea typeface="Calibri" pitchFamily="34" charset="-122"/>
                <a:cs typeface="Calibri" pitchFamily="34" charset="-120"/>
              </a:rPr>
              <a:t>Bagged decision trees</a:t>
            </a:r>
            <a:endParaRPr lang="en-US" sz="1050" dirty="0"/>
          </a:p>
        </p:txBody>
      </p:sp>
      <p:sp>
        <p:nvSpPr>
          <p:cNvPr id="16" name="Shape 11"/>
          <p:cNvSpPr/>
          <p:nvPr/>
        </p:nvSpPr>
        <p:spPr>
          <a:xfrm>
            <a:off x="4663440" y="1263419"/>
            <a:ext cx="1993392" cy="1371600"/>
          </a:xfrm>
          <a:prstGeom prst="roundRect">
            <a:avLst>
              <a:gd name="adj" fmla="val 5333"/>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5376672" y="1495067"/>
            <a:ext cx="566928" cy="566928"/>
          </a:xfrm>
          <a:prstGeom prst="ellipse">
            <a:avLst/>
          </a:prstGeom>
          <a:solidFill>
            <a:srgbClr val="E9B44C"/>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5524073" y="1642468"/>
            <a:ext cx="272125" cy="272125"/>
          </a:xfrm>
          <a:prstGeom prst="rect">
            <a:avLst/>
          </a:prstGeom>
        </p:spPr>
      </p:pic>
      <p:sp>
        <p:nvSpPr>
          <p:cNvPr id="19" name="Text 13"/>
          <p:cNvSpPr/>
          <p:nvPr/>
        </p:nvSpPr>
        <p:spPr>
          <a:xfrm>
            <a:off x="4754880" y="2049803"/>
            <a:ext cx="1810512" cy="329184"/>
          </a:xfrm>
          <a:prstGeom prst="rect">
            <a:avLst/>
          </a:prstGeom>
          <a:noFill/>
          <a:ln/>
        </p:spPr>
        <p:txBody>
          <a:bodyPr wrap="square" lIns="0" tIns="0" rIns="0" bIns="0" rtlCol="0" anchor="ctr"/>
          <a:lstStyle/>
          <a:p>
            <a:pPr marL="0" indent="0" algn="ctr">
              <a:buNone/>
            </a:pPr>
            <a:r>
              <a:rPr lang="en-US" sz="1250" b="1">
                <a:solidFill>
                  <a:srgbClr val="FFFFFF"/>
                </a:solidFill>
                <a:latin typeface="Cambria" pitchFamily="34" charset="0"/>
                <a:ea typeface="Cambria" pitchFamily="34" charset="-122"/>
                <a:cs typeface="Cambria" pitchFamily="34" charset="-120"/>
              </a:rPr>
              <a:t>XGBoost</a:t>
            </a:r>
            <a:endParaRPr lang="en-US" sz="1250"/>
          </a:p>
        </p:txBody>
      </p:sp>
      <p:sp>
        <p:nvSpPr>
          <p:cNvPr id="20" name="Text 14"/>
          <p:cNvSpPr/>
          <p:nvPr/>
        </p:nvSpPr>
        <p:spPr>
          <a:xfrm>
            <a:off x="4754880" y="2342411"/>
            <a:ext cx="1810512" cy="256032"/>
          </a:xfrm>
          <a:prstGeom prst="rect">
            <a:avLst/>
          </a:prstGeom>
          <a:noFill/>
          <a:ln/>
        </p:spPr>
        <p:txBody>
          <a:bodyPr wrap="square" lIns="0" tIns="0" rIns="0" bIns="0" rtlCol="0" anchor="ctr"/>
          <a:lstStyle/>
          <a:p>
            <a:pPr marL="0" indent="0" algn="ctr">
              <a:buNone/>
            </a:pPr>
            <a:r>
              <a:rPr lang="en-US" sz="1050" dirty="0">
                <a:solidFill>
                  <a:srgbClr val="9AD1D4"/>
                </a:solidFill>
                <a:latin typeface="Calibri" pitchFamily="34" charset="0"/>
                <a:ea typeface="Calibri" pitchFamily="34" charset="-122"/>
                <a:cs typeface="Calibri" pitchFamily="34" charset="-120"/>
              </a:rPr>
              <a:t>Boosted decision trees</a:t>
            </a:r>
            <a:endParaRPr lang="en-US" sz="1050" dirty="0"/>
          </a:p>
        </p:txBody>
      </p:sp>
      <p:sp>
        <p:nvSpPr>
          <p:cNvPr id="21" name="Text 15"/>
          <p:cNvSpPr/>
          <p:nvPr/>
        </p:nvSpPr>
        <p:spPr>
          <a:xfrm>
            <a:off x="4754880" y="1245131"/>
            <a:ext cx="1810512" cy="237744"/>
          </a:xfrm>
          <a:prstGeom prst="rect">
            <a:avLst/>
          </a:prstGeom>
          <a:noFill/>
          <a:ln/>
        </p:spPr>
        <p:txBody>
          <a:bodyPr wrap="square" lIns="0" tIns="0" rIns="0" bIns="0" rtlCol="0" anchor="ctr"/>
          <a:lstStyle/>
          <a:p>
            <a:pPr marL="0" indent="0" algn="ctr">
              <a:buNone/>
            </a:pPr>
            <a:r>
              <a:rPr lang="en-US" sz="900" b="1" kern="0" spc="200">
                <a:solidFill>
                  <a:srgbClr val="E9B44C"/>
                </a:solidFill>
                <a:latin typeface="Calibri" pitchFamily="34" charset="0"/>
                <a:ea typeface="Calibri" pitchFamily="34" charset="-122"/>
                <a:cs typeface="Calibri" pitchFamily="34" charset="-120"/>
              </a:rPr>
              <a:t>SELECTED</a:t>
            </a:r>
            <a:endParaRPr lang="en-US" sz="900"/>
          </a:p>
        </p:txBody>
      </p:sp>
      <p:sp>
        <p:nvSpPr>
          <p:cNvPr id="22" name="Shape 16"/>
          <p:cNvSpPr/>
          <p:nvPr/>
        </p:nvSpPr>
        <p:spPr>
          <a:xfrm>
            <a:off x="6766560" y="1263419"/>
            <a:ext cx="1993392"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Shape 17"/>
          <p:cNvSpPr/>
          <p:nvPr/>
        </p:nvSpPr>
        <p:spPr>
          <a:xfrm>
            <a:off x="7479792" y="1446299"/>
            <a:ext cx="566928" cy="566928"/>
          </a:xfrm>
          <a:prstGeom prst="ellipse">
            <a:avLst/>
          </a:prstGeom>
          <a:solidFill>
            <a:srgbClr val="3E9D9B"/>
          </a:solidFill>
          <a:ln/>
        </p:spPr>
        <p:txBody>
          <a:bodyPr/>
          <a:lstStyle/>
          <a:p>
            <a:endParaRPr lang="en-DE"/>
          </a:p>
        </p:txBody>
      </p:sp>
      <p:pic>
        <p:nvPicPr>
          <p:cNvPr id="24" name="Image 4" descr="preencoded.png"/>
          <p:cNvPicPr>
            <a:picLocks noChangeAspect="1"/>
          </p:cNvPicPr>
          <p:nvPr/>
        </p:nvPicPr>
        <p:blipFill>
          <a:blip r:embed="rId7"/>
          <a:stretch>
            <a:fillRect/>
          </a:stretch>
        </p:blipFill>
        <p:spPr>
          <a:xfrm>
            <a:off x="7627193" y="1593700"/>
            <a:ext cx="272125" cy="272125"/>
          </a:xfrm>
          <a:prstGeom prst="rect">
            <a:avLst/>
          </a:prstGeom>
        </p:spPr>
      </p:pic>
      <p:sp>
        <p:nvSpPr>
          <p:cNvPr id="25" name="Text 18"/>
          <p:cNvSpPr/>
          <p:nvPr/>
        </p:nvSpPr>
        <p:spPr>
          <a:xfrm>
            <a:off x="6858000" y="2049803"/>
            <a:ext cx="1810512" cy="329184"/>
          </a:xfrm>
          <a:prstGeom prst="rect">
            <a:avLst/>
          </a:prstGeom>
          <a:noFill/>
          <a:ln/>
        </p:spPr>
        <p:txBody>
          <a:bodyPr wrap="square" lIns="0" tIns="0" rIns="0" bIns="0" rtlCol="0" anchor="ctr"/>
          <a:lstStyle/>
          <a:p>
            <a:pPr marL="0" indent="0" algn="ctr">
              <a:buNone/>
            </a:pPr>
            <a:r>
              <a:rPr lang="en-US" sz="1250" b="1">
                <a:solidFill>
                  <a:srgbClr val="0A2E36"/>
                </a:solidFill>
                <a:latin typeface="Cambria" pitchFamily="34" charset="0"/>
                <a:ea typeface="Cambria" pitchFamily="34" charset="-122"/>
                <a:cs typeface="Cambria" pitchFamily="34" charset="-120"/>
              </a:rPr>
              <a:t>Multi-layer Perceptron</a:t>
            </a:r>
            <a:endParaRPr lang="en-US" sz="1250"/>
          </a:p>
        </p:txBody>
      </p:sp>
      <p:sp>
        <p:nvSpPr>
          <p:cNvPr id="26" name="Text 19"/>
          <p:cNvSpPr/>
          <p:nvPr/>
        </p:nvSpPr>
        <p:spPr>
          <a:xfrm>
            <a:off x="6858000" y="2342411"/>
            <a:ext cx="1810512" cy="256032"/>
          </a:xfrm>
          <a:prstGeom prst="rect">
            <a:avLst/>
          </a:prstGeom>
          <a:noFill/>
          <a:ln/>
        </p:spPr>
        <p:txBody>
          <a:bodyPr wrap="square" lIns="0" tIns="0" rIns="0" bIns="0" rtlCol="0" anchor="ctr"/>
          <a:lstStyle/>
          <a:p>
            <a:pPr marL="0" indent="0" algn="ctr">
              <a:buNone/>
            </a:pPr>
            <a:r>
              <a:rPr lang="en-US" sz="1050">
                <a:solidFill>
                  <a:srgbClr val="55686B"/>
                </a:solidFill>
                <a:latin typeface="Calibri" pitchFamily="34" charset="0"/>
                <a:ea typeface="Calibri" pitchFamily="34" charset="-122"/>
                <a:cs typeface="Calibri" pitchFamily="34" charset="-120"/>
              </a:rPr>
              <a:t>Neural network</a:t>
            </a:r>
            <a:endParaRPr lang="en-US" sz="1050"/>
          </a:p>
        </p:txBody>
      </p:sp>
      <p:sp>
        <p:nvSpPr>
          <p:cNvPr id="27" name="Shape 20"/>
          <p:cNvSpPr/>
          <p:nvPr/>
        </p:nvSpPr>
        <p:spPr>
          <a:xfrm>
            <a:off x="457200" y="2927627"/>
            <a:ext cx="8302752" cy="1444752"/>
          </a:xfrm>
          <a:prstGeom prst="roundRect">
            <a:avLst>
              <a:gd name="adj" fmla="val 5063"/>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37" name="Group 36">
            <a:extLst>
              <a:ext uri="{FF2B5EF4-FFF2-40B4-BE49-F238E27FC236}">
                <a16:creationId xmlns:a16="http://schemas.microsoft.com/office/drawing/2014/main" id="{1AD36FD8-480F-18CA-8CC0-80FB0463D268}"/>
              </a:ext>
            </a:extLst>
          </p:cNvPr>
          <p:cNvGrpSpPr/>
          <p:nvPr/>
        </p:nvGrpSpPr>
        <p:grpSpPr>
          <a:xfrm>
            <a:off x="647161" y="3403115"/>
            <a:ext cx="4842475" cy="493776"/>
            <a:chOff x="658368" y="3110507"/>
            <a:chExt cx="4842475" cy="493776"/>
          </a:xfrm>
        </p:grpSpPr>
        <p:sp>
          <p:nvSpPr>
            <p:cNvPr id="28" name="Shape 21"/>
            <p:cNvSpPr/>
            <p:nvPr/>
          </p:nvSpPr>
          <p:spPr>
            <a:xfrm>
              <a:off x="658368" y="3110507"/>
              <a:ext cx="493776" cy="493776"/>
            </a:xfrm>
            <a:prstGeom prst="ellipse">
              <a:avLst/>
            </a:prstGeom>
            <a:solidFill>
              <a:srgbClr val="127475"/>
            </a:solidFill>
            <a:ln/>
          </p:spPr>
          <p:txBody>
            <a:bodyPr/>
            <a:lstStyle/>
            <a:p>
              <a:endParaRPr lang="en-DE"/>
            </a:p>
          </p:txBody>
        </p:sp>
        <p:pic>
          <p:nvPicPr>
            <p:cNvPr id="29" name="Image 5" descr="preencoded.png"/>
            <p:cNvPicPr>
              <a:picLocks noChangeAspect="1"/>
            </p:cNvPicPr>
            <p:nvPr/>
          </p:nvPicPr>
          <p:blipFill>
            <a:blip r:embed="rId8"/>
            <a:stretch>
              <a:fillRect/>
            </a:stretch>
          </p:blipFill>
          <p:spPr>
            <a:xfrm>
              <a:off x="786750" y="3238889"/>
              <a:ext cx="237012" cy="237012"/>
            </a:xfrm>
            <a:prstGeom prst="rect">
              <a:avLst/>
            </a:prstGeom>
          </p:spPr>
        </p:pic>
        <p:sp>
          <p:nvSpPr>
            <p:cNvPr id="30" name="Text 22"/>
            <p:cNvSpPr/>
            <p:nvPr/>
          </p:nvSpPr>
          <p:spPr>
            <a:xfrm>
              <a:off x="1294603" y="3201947"/>
              <a:ext cx="4206240" cy="310896"/>
            </a:xfrm>
            <a:prstGeom prst="rect">
              <a:avLst/>
            </a:prstGeom>
            <a:noFill/>
            <a:ln/>
          </p:spPr>
          <p:txBody>
            <a:bodyPr wrap="square" lIns="0" tIns="0" rIns="0" bIns="0" rtlCol="0" anchor="ctr"/>
            <a:lstStyle/>
            <a:p>
              <a:pPr marL="0" indent="0">
                <a:buNone/>
              </a:pPr>
              <a:r>
                <a:rPr lang="en-US" sz="1400" b="1" dirty="0">
                  <a:solidFill>
                    <a:srgbClr val="0A2E36"/>
                  </a:solidFill>
                  <a:latin typeface="Cambria" pitchFamily="34" charset="0"/>
                  <a:ea typeface="Cambria" pitchFamily="34" charset="-122"/>
                  <a:cs typeface="Cambria" pitchFamily="34" charset="-120"/>
                </a:rPr>
                <a:t>Hyperparameter tuning</a:t>
              </a:r>
              <a:endParaRPr lang="en-US" sz="1400" dirty="0"/>
            </a:p>
          </p:txBody>
        </p:sp>
      </p:grpSp>
      <p:sp>
        <p:nvSpPr>
          <p:cNvPr id="31" name="Text 23"/>
          <p:cNvSpPr/>
          <p:nvPr/>
        </p:nvSpPr>
        <p:spPr>
          <a:xfrm>
            <a:off x="3557015" y="3249214"/>
            <a:ext cx="4846320" cy="777240"/>
          </a:xfrm>
          <a:prstGeom prst="rect">
            <a:avLst/>
          </a:prstGeom>
          <a:noFill/>
          <a:ln/>
        </p:spPr>
        <p:txBody>
          <a:bodyPr wrap="square" lIns="0" tIns="0" rIns="0" bIns="0" rtlCol="0" anchor="ctr"/>
          <a:lstStyle/>
          <a:p>
            <a:pPr marL="342900" indent="-342900">
              <a:spcAft>
                <a:spcPts val="400"/>
              </a:spcAft>
              <a:buSzPct val="100000"/>
              <a:buChar char="•"/>
            </a:pPr>
            <a:r>
              <a:rPr lang="en-US" sz="1150" dirty="0" err="1">
                <a:solidFill>
                  <a:srgbClr val="183036"/>
                </a:solidFill>
                <a:latin typeface="Calibri" pitchFamily="34" charset="0"/>
                <a:ea typeface="Calibri" pitchFamily="34" charset="-122"/>
                <a:cs typeface="Calibri" pitchFamily="34" charset="-120"/>
              </a:rPr>
              <a:t>Randomised</a:t>
            </a:r>
            <a:r>
              <a:rPr lang="en-US" sz="1150" dirty="0">
                <a:solidFill>
                  <a:srgbClr val="183036"/>
                </a:solidFill>
                <a:latin typeface="Calibri" pitchFamily="34" charset="0"/>
                <a:ea typeface="Calibri" pitchFamily="34" charset="-122"/>
                <a:cs typeface="Calibri" pitchFamily="34" charset="-120"/>
              </a:rPr>
              <a:t> 5-fold cross-validated grid search</a:t>
            </a:r>
            <a:endParaRPr lang="en-US" sz="1150" dirty="0"/>
          </a:p>
          <a:p>
            <a:pPr marL="342900" indent="-342900">
              <a:spcAft>
                <a:spcPts val="400"/>
              </a:spcAft>
              <a:buSzPct val="100000"/>
              <a:buChar char="•"/>
            </a:pPr>
            <a:r>
              <a:rPr lang="en-US" sz="1150" dirty="0">
                <a:solidFill>
                  <a:srgbClr val="183036"/>
                </a:solidFill>
                <a:latin typeface="Calibri" pitchFamily="34" charset="0"/>
                <a:ea typeface="Calibri" pitchFamily="34" charset="-122"/>
                <a:cs typeface="Calibri" pitchFamily="34" charset="-120"/>
              </a:rPr>
              <a:t>50 iterations × 5 folds = 250 fits per model</a:t>
            </a:r>
            <a:endParaRPr lang="en-US" sz="1150" dirty="0"/>
          </a:p>
          <a:p>
            <a:pPr marL="342900" indent="-342900">
              <a:spcAft>
                <a:spcPts val="400"/>
              </a:spcAft>
              <a:buSzPct val="100000"/>
              <a:buChar char="•"/>
            </a:pPr>
            <a:r>
              <a:rPr lang="en-US" sz="1150" dirty="0">
                <a:solidFill>
                  <a:srgbClr val="183036"/>
                </a:solidFill>
                <a:latin typeface="Calibri" pitchFamily="34" charset="0"/>
                <a:ea typeface="Calibri" pitchFamily="34" charset="-122"/>
                <a:cs typeface="Calibri" pitchFamily="34" charset="-120"/>
              </a:rPr>
              <a:t>Best parameters chosen on ROC-AUC</a:t>
            </a:r>
            <a:endParaRPr lang="en-US" sz="1150" dirty="0"/>
          </a:p>
        </p:txBody>
      </p:sp>
      <p:sp>
        <p:nvSpPr>
          <p:cNvPr id="36" name="Text 28"/>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10</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Explanations — the XAI artefacts</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Global, post-hoc methods the LLMs must read and explain</a:t>
            </a:r>
            <a:endParaRPr lang="en-US" sz="1250" dirty="0"/>
          </a:p>
        </p:txBody>
      </p:sp>
      <p:sp>
        <p:nvSpPr>
          <p:cNvPr id="6" name="Shape 3"/>
          <p:cNvSpPr/>
          <p:nvPr/>
        </p:nvSpPr>
        <p:spPr>
          <a:xfrm>
            <a:off x="457200"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37" name="Group 36">
            <a:extLst>
              <a:ext uri="{FF2B5EF4-FFF2-40B4-BE49-F238E27FC236}">
                <a16:creationId xmlns:a16="http://schemas.microsoft.com/office/drawing/2014/main" id="{3EDB1374-7E0A-6FBC-72F2-DEB80C890EC7}"/>
              </a:ext>
            </a:extLst>
          </p:cNvPr>
          <p:cNvGrpSpPr/>
          <p:nvPr/>
        </p:nvGrpSpPr>
        <p:grpSpPr>
          <a:xfrm>
            <a:off x="640080" y="1874520"/>
            <a:ext cx="2368296" cy="512064"/>
            <a:chOff x="640080" y="1554480"/>
            <a:chExt cx="2368296" cy="512064"/>
          </a:xfrm>
        </p:grpSpPr>
        <p:sp>
          <p:nvSpPr>
            <p:cNvPr id="7" name="Shape 4"/>
            <p:cNvSpPr/>
            <p:nvPr/>
          </p:nvSpPr>
          <p:spPr>
            <a:xfrm>
              <a:off x="640080" y="1554480"/>
              <a:ext cx="512064" cy="512064"/>
            </a:xfrm>
            <a:prstGeom prst="ellipse">
              <a:avLst/>
            </a:prstGeom>
            <a:solidFill>
              <a:srgbClr val="3E9D9B"/>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73217" y="1687617"/>
              <a:ext cx="245791" cy="245791"/>
            </a:xfrm>
            <a:prstGeom prst="rect">
              <a:avLst/>
            </a:prstGeom>
          </p:spPr>
        </p:pic>
        <p:sp>
          <p:nvSpPr>
            <p:cNvPr id="9" name="Text 5"/>
            <p:cNvSpPr/>
            <p:nvPr/>
          </p:nvSpPr>
          <p:spPr>
            <a:xfrm>
              <a:off x="1243584" y="1554480"/>
              <a:ext cx="1764792" cy="512064"/>
            </a:xfrm>
            <a:prstGeom prst="rect">
              <a:avLst/>
            </a:prstGeom>
            <a:noFill/>
            <a:ln/>
          </p:spPr>
          <p:txBody>
            <a:bodyPr wrap="square" lIns="0" tIns="0" rIns="0" bIns="0" rtlCol="0" anchor="ctr"/>
            <a:lstStyle/>
            <a:p>
              <a:pPr marL="0" indent="0">
                <a:buNone/>
              </a:pPr>
              <a:r>
                <a:rPr lang="en-US" sz="1350" b="1">
                  <a:solidFill>
                    <a:srgbClr val="0A2E36"/>
                  </a:solidFill>
                  <a:latin typeface="Cambria" pitchFamily="34" charset="0"/>
                  <a:ea typeface="Cambria" pitchFamily="34" charset="-122"/>
                  <a:cs typeface="Cambria" pitchFamily="34" charset="-120"/>
                </a:rPr>
                <a:t>Confusion matrix</a:t>
              </a:r>
              <a:endParaRPr lang="en-US" sz="1350"/>
            </a:p>
          </p:txBody>
        </p:sp>
      </p:grpSp>
      <p:sp>
        <p:nvSpPr>
          <p:cNvPr id="11" name="Shape 7"/>
          <p:cNvSpPr/>
          <p:nvPr/>
        </p:nvSpPr>
        <p:spPr>
          <a:xfrm>
            <a:off x="3232404"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38" name="Group 37">
            <a:extLst>
              <a:ext uri="{FF2B5EF4-FFF2-40B4-BE49-F238E27FC236}">
                <a16:creationId xmlns:a16="http://schemas.microsoft.com/office/drawing/2014/main" id="{0CD8B3BF-B49D-B230-3E41-E4757E28B1D3}"/>
              </a:ext>
            </a:extLst>
          </p:cNvPr>
          <p:cNvGrpSpPr/>
          <p:nvPr/>
        </p:nvGrpSpPr>
        <p:grpSpPr>
          <a:xfrm>
            <a:off x="3415284" y="1874520"/>
            <a:ext cx="2368296" cy="512064"/>
            <a:chOff x="3415284" y="1554480"/>
            <a:chExt cx="2368296" cy="512064"/>
          </a:xfrm>
        </p:grpSpPr>
        <p:sp>
          <p:nvSpPr>
            <p:cNvPr id="12" name="Shape 8"/>
            <p:cNvSpPr/>
            <p:nvPr/>
          </p:nvSpPr>
          <p:spPr>
            <a:xfrm>
              <a:off x="3415284" y="1554480"/>
              <a:ext cx="512064" cy="512064"/>
            </a:xfrm>
            <a:prstGeom prst="ellipse">
              <a:avLst/>
            </a:prstGeom>
            <a:solidFill>
              <a:srgbClr val="3E9D9B"/>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3548421" y="1687617"/>
              <a:ext cx="245791" cy="245791"/>
            </a:xfrm>
            <a:prstGeom prst="rect">
              <a:avLst/>
            </a:prstGeom>
          </p:spPr>
        </p:pic>
        <p:sp>
          <p:nvSpPr>
            <p:cNvPr id="14" name="Text 9"/>
            <p:cNvSpPr/>
            <p:nvPr/>
          </p:nvSpPr>
          <p:spPr>
            <a:xfrm>
              <a:off x="4018788" y="1554480"/>
              <a:ext cx="1764792" cy="512064"/>
            </a:xfrm>
            <a:prstGeom prst="rect">
              <a:avLst/>
            </a:prstGeom>
            <a:noFill/>
            <a:ln/>
          </p:spPr>
          <p:txBody>
            <a:bodyPr wrap="square" lIns="0" tIns="0" rIns="0" bIns="0" rtlCol="0" anchor="ctr"/>
            <a:lstStyle/>
            <a:p>
              <a:pPr marL="0" indent="0">
                <a:buNone/>
              </a:pPr>
              <a:r>
                <a:rPr lang="en-US" sz="1350" b="1">
                  <a:solidFill>
                    <a:srgbClr val="0A2E36"/>
                  </a:solidFill>
                  <a:latin typeface="Cambria" pitchFamily="34" charset="0"/>
                  <a:ea typeface="Cambria" pitchFamily="34" charset="-122"/>
                  <a:cs typeface="Cambria" pitchFamily="34" charset="-120"/>
                </a:rPr>
                <a:t>AUC-ROC</a:t>
              </a:r>
              <a:endParaRPr lang="en-US" sz="1350"/>
            </a:p>
          </p:txBody>
        </p:sp>
      </p:grpSp>
      <p:sp>
        <p:nvSpPr>
          <p:cNvPr id="16" name="Shape 11"/>
          <p:cNvSpPr/>
          <p:nvPr/>
        </p:nvSpPr>
        <p:spPr>
          <a:xfrm>
            <a:off x="6007608" y="1371600"/>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39" name="Group 38">
            <a:extLst>
              <a:ext uri="{FF2B5EF4-FFF2-40B4-BE49-F238E27FC236}">
                <a16:creationId xmlns:a16="http://schemas.microsoft.com/office/drawing/2014/main" id="{C0F20B65-8EA7-5DD5-F4E9-454DF6803018}"/>
              </a:ext>
            </a:extLst>
          </p:cNvPr>
          <p:cNvGrpSpPr/>
          <p:nvPr/>
        </p:nvGrpSpPr>
        <p:grpSpPr>
          <a:xfrm>
            <a:off x="6190488" y="1874520"/>
            <a:ext cx="2368296" cy="512064"/>
            <a:chOff x="6190488" y="1554480"/>
            <a:chExt cx="2368296" cy="512064"/>
          </a:xfrm>
        </p:grpSpPr>
        <p:sp>
          <p:nvSpPr>
            <p:cNvPr id="17" name="Shape 12"/>
            <p:cNvSpPr/>
            <p:nvPr/>
          </p:nvSpPr>
          <p:spPr>
            <a:xfrm>
              <a:off x="6190488" y="1554480"/>
              <a:ext cx="512064" cy="512064"/>
            </a:xfrm>
            <a:prstGeom prst="ellipse">
              <a:avLst/>
            </a:prstGeom>
            <a:solidFill>
              <a:srgbClr val="3E9D9B"/>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6323625" y="1687617"/>
              <a:ext cx="245791" cy="245791"/>
            </a:xfrm>
            <a:prstGeom prst="rect">
              <a:avLst/>
            </a:prstGeom>
          </p:spPr>
        </p:pic>
        <p:sp>
          <p:nvSpPr>
            <p:cNvPr id="19" name="Text 13"/>
            <p:cNvSpPr/>
            <p:nvPr/>
          </p:nvSpPr>
          <p:spPr>
            <a:xfrm>
              <a:off x="6793992" y="1554480"/>
              <a:ext cx="1764792" cy="512064"/>
            </a:xfrm>
            <a:prstGeom prst="rect">
              <a:avLst/>
            </a:prstGeom>
            <a:noFill/>
            <a:ln/>
          </p:spPr>
          <p:txBody>
            <a:bodyPr wrap="square" lIns="0" tIns="0" rIns="0" bIns="0" rtlCol="0" anchor="ctr"/>
            <a:lstStyle/>
            <a:p>
              <a:pPr marL="0" indent="0">
                <a:buNone/>
              </a:pPr>
              <a:r>
                <a:rPr lang="en-US" sz="1350" b="1">
                  <a:solidFill>
                    <a:srgbClr val="0A2E36"/>
                  </a:solidFill>
                  <a:latin typeface="Cambria" pitchFamily="34" charset="0"/>
                  <a:ea typeface="Cambria" pitchFamily="34" charset="-122"/>
                  <a:cs typeface="Cambria" pitchFamily="34" charset="-120"/>
                </a:rPr>
                <a:t>Feature importance</a:t>
              </a:r>
              <a:endParaRPr lang="en-US" sz="1350"/>
            </a:p>
          </p:txBody>
        </p:sp>
      </p:grpSp>
      <p:sp>
        <p:nvSpPr>
          <p:cNvPr id="21" name="Shape 15"/>
          <p:cNvSpPr/>
          <p:nvPr/>
        </p:nvSpPr>
        <p:spPr>
          <a:xfrm>
            <a:off x="457200"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42" name="Group 41">
            <a:extLst>
              <a:ext uri="{FF2B5EF4-FFF2-40B4-BE49-F238E27FC236}">
                <a16:creationId xmlns:a16="http://schemas.microsoft.com/office/drawing/2014/main" id="{7EAA89D8-2C85-88A2-E5EB-FF5708DA93DB}"/>
              </a:ext>
            </a:extLst>
          </p:cNvPr>
          <p:cNvGrpSpPr/>
          <p:nvPr/>
        </p:nvGrpSpPr>
        <p:grpSpPr>
          <a:xfrm>
            <a:off x="640080" y="3575304"/>
            <a:ext cx="2368296" cy="512064"/>
            <a:chOff x="640080" y="3255264"/>
            <a:chExt cx="2368296" cy="512064"/>
          </a:xfrm>
        </p:grpSpPr>
        <p:sp>
          <p:nvSpPr>
            <p:cNvPr id="22" name="Shape 16"/>
            <p:cNvSpPr/>
            <p:nvPr/>
          </p:nvSpPr>
          <p:spPr>
            <a:xfrm>
              <a:off x="640080" y="3255264"/>
              <a:ext cx="512064" cy="512064"/>
            </a:xfrm>
            <a:prstGeom prst="ellipse">
              <a:avLst/>
            </a:prstGeom>
            <a:solidFill>
              <a:srgbClr val="3E9D9B"/>
            </a:solidFill>
            <a:ln/>
          </p:spPr>
          <p:txBody>
            <a:bodyPr/>
            <a:lstStyle/>
            <a:p>
              <a:endParaRPr lang="en-DE"/>
            </a:p>
          </p:txBody>
        </p:sp>
        <p:pic>
          <p:nvPicPr>
            <p:cNvPr id="23" name="Image 4" descr="preencoded.png"/>
            <p:cNvPicPr>
              <a:picLocks noChangeAspect="1"/>
            </p:cNvPicPr>
            <p:nvPr/>
          </p:nvPicPr>
          <p:blipFill>
            <a:blip r:embed="rId7"/>
            <a:stretch>
              <a:fillRect/>
            </a:stretch>
          </p:blipFill>
          <p:spPr>
            <a:xfrm>
              <a:off x="773217" y="3388401"/>
              <a:ext cx="245791" cy="245791"/>
            </a:xfrm>
            <a:prstGeom prst="rect">
              <a:avLst/>
            </a:prstGeom>
          </p:spPr>
        </p:pic>
        <p:sp>
          <p:nvSpPr>
            <p:cNvPr id="24" name="Text 17"/>
            <p:cNvSpPr/>
            <p:nvPr/>
          </p:nvSpPr>
          <p:spPr>
            <a:xfrm>
              <a:off x="1243584" y="3255264"/>
              <a:ext cx="1764792" cy="512064"/>
            </a:xfrm>
            <a:prstGeom prst="rect">
              <a:avLst/>
            </a:prstGeom>
            <a:noFill/>
            <a:ln/>
          </p:spPr>
          <p:txBody>
            <a:bodyPr wrap="square" lIns="0" tIns="0" rIns="0" bIns="0" rtlCol="0" anchor="ctr"/>
            <a:lstStyle/>
            <a:p>
              <a:pPr marL="0" indent="0">
                <a:buNone/>
              </a:pPr>
              <a:r>
                <a:rPr lang="en-US" sz="1350" b="1">
                  <a:solidFill>
                    <a:srgbClr val="0A2E36"/>
                  </a:solidFill>
                  <a:latin typeface="Cambria" pitchFamily="34" charset="0"/>
                  <a:ea typeface="Cambria" pitchFamily="34" charset="-122"/>
                  <a:cs typeface="Cambria" pitchFamily="34" charset="-120"/>
                </a:rPr>
                <a:t>PDP &amp; ALE</a:t>
              </a:r>
              <a:endParaRPr lang="en-US" sz="1350"/>
            </a:p>
          </p:txBody>
        </p:sp>
      </p:grpSp>
      <p:sp>
        <p:nvSpPr>
          <p:cNvPr id="26" name="Shape 19"/>
          <p:cNvSpPr/>
          <p:nvPr/>
        </p:nvSpPr>
        <p:spPr>
          <a:xfrm>
            <a:off x="3232404"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41" name="Group 40">
            <a:extLst>
              <a:ext uri="{FF2B5EF4-FFF2-40B4-BE49-F238E27FC236}">
                <a16:creationId xmlns:a16="http://schemas.microsoft.com/office/drawing/2014/main" id="{A0AB327F-7B8E-D831-4E86-D816769911BB}"/>
              </a:ext>
            </a:extLst>
          </p:cNvPr>
          <p:cNvGrpSpPr/>
          <p:nvPr/>
        </p:nvGrpSpPr>
        <p:grpSpPr>
          <a:xfrm>
            <a:off x="3415284" y="3575304"/>
            <a:ext cx="2368296" cy="512064"/>
            <a:chOff x="3415284" y="3255264"/>
            <a:chExt cx="2368296" cy="512064"/>
          </a:xfrm>
        </p:grpSpPr>
        <p:sp>
          <p:nvSpPr>
            <p:cNvPr id="27" name="Shape 20"/>
            <p:cNvSpPr/>
            <p:nvPr/>
          </p:nvSpPr>
          <p:spPr>
            <a:xfrm>
              <a:off x="3415284" y="3255264"/>
              <a:ext cx="512064" cy="512064"/>
            </a:xfrm>
            <a:prstGeom prst="ellipse">
              <a:avLst/>
            </a:prstGeom>
            <a:solidFill>
              <a:srgbClr val="3E9D9B"/>
            </a:solidFill>
            <a:ln/>
          </p:spPr>
          <p:txBody>
            <a:bodyPr/>
            <a:lstStyle/>
            <a:p>
              <a:endParaRPr lang="en-DE"/>
            </a:p>
          </p:txBody>
        </p:sp>
        <p:pic>
          <p:nvPicPr>
            <p:cNvPr id="28" name="Image 5" descr="preencoded.png"/>
            <p:cNvPicPr>
              <a:picLocks noChangeAspect="1"/>
            </p:cNvPicPr>
            <p:nvPr/>
          </p:nvPicPr>
          <p:blipFill>
            <a:blip r:embed="rId8"/>
            <a:stretch>
              <a:fillRect/>
            </a:stretch>
          </p:blipFill>
          <p:spPr>
            <a:xfrm>
              <a:off x="3571092" y="3373287"/>
              <a:ext cx="245791" cy="245791"/>
            </a:xfrm>
            <a:prstGeom prst="rect">
              <a:avLst/>
            </a:prstGeom>
          </p:spPr>
        </p:pic>
        <p:sp>
          <p:nvSpPr>
            <p:cNvPr id="29" name="Text 21"/>
            <p:cNvSpPr/>
            <p:nvPr/>
          </p:nvSpPr>
          <p:spPr>
            <a:xfrm>
              <a:off x="4018788" y="3255264"/>
              <a:ext cx="1764792" cy="512064"/>
            </a:xfrm>
            <a:prstGeom prst="rect">
              <a:avLst/>
            </a:prstGeom>
            <a:noFill/>
            <a:ln/>
          </p:spPr>
          <p:txBody>
            <a:bodyPr wrap="square" lIns="0" tIns="0" rIns="0" bIns="0" rtlCol="0" anchor="ctr"/>
            <a:lstStyle/>
            <a:p>
              <a:pPr marL="0" indent="0">
                <a:buNone/>
              </a:pPr>
              <a:r>
                <a:rPr lang="en-US" sz="1350" b="1">
                  <a:solidFill>
                    <a:srgbClr val="0A2E36"/>
                  </a:solidFill>
                  <a:latin typeface="Cambria" pitchFamily="34" charset="0"/>
                  <a:ea typeface="Cambria" pitchFamily="34" charset="-122"/>
                  <a:cs typeface="Cambria" pitchFamily="34" charset="-120"/>
                </a:rPr>
                <a:t>SHAP values</a:t>
              </a:r>
              <a:endParaRPr lang="en-US" sz="1350"/>
            </a:p>
          </p:txBody>
        </p:sp>
      </p:grpSp>
      <p:sp>
        <p:nvSpPr>
          <p:cNvPr id="31" name="Shape 23"/>
          <p:cNvSpPr/>
          <p:nvPr/>
        </p:nvSpPr>
        <p:spPr>
          <a:xfrm>
            <a:off x="6007608" y="3072384"/>
            <a:ext cx="2679192" cy="1517904"/>
          </a:xfrm>
          <a:prstGeom prst="roundRect">
            <a:avLst>
              <a:gd name="adj" fmla="val 48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grpSp>
        <p:nvGrpSpPr>
          <p:cNvPr id="40" name="Group 39">
            <a:extLst>
              <a:ext uri="{FF2B5EF4-FFF2-40B4-BE49-F238E27FC236}">
                <a16:creationId xmlns:a16="http://schemas.microsoft.com/office/drawing/2014/main" id="{EE9AB263-0C29-1FF2-7E5F-A5EE3ACEF496}"/>
              </a:ext>
            </a:extLst>
          </p:cNvPr>
          <p:cNvGrpSpPr/>
          <p:nvPr/>
        </p:nvGrpSpPr>
        <p:grpSpPr>
          <a:xfrm>
            <a:off x="6190488" y="3575304"/>
            <a:ext cx="2368296" cy="512064"/>
            <a:chOff x="6190488" y="3255264"/>
            <a:chExt cx="2368296" cy="512064"/>
          </a:xfrm>
        </p:grpSpPr>
        <p:sp>
          <p:nvSpPr>
            <p:cNvPr id="32" name="Shape 24"/>
            <p:cNvSpPr/>
            <p:nvPr/>
          </p:nvSpPr>
          <p:spPr>
            <a:xfrm>
              <a:off x="6190488" y="3255264"/>
              <a:ext cx="512064" cy="512064"/>
            </a:xfrm>
            <a:prstGeom prst="ellipse">
              <a:avLst/>
            </a:prstGeom>
            <a:solidFill>
              <a:srgbClr val="3E9D9B"/>
            </a:solidFill>
            <a:ln/>
          </p:spPr>
          <p:txBody>
            <a:bodyPr/>
            <a:lstStyle/>
            <a:p>
              <a:endParaRPr lang="en-DE"/>
            </a:p>
          </p:txBody>
        </p:sp>
        <p:pic>
          <p:nvPicPr>
            <p:cNvPr id="33" name="Image 6" descr="preencoded.png"/>
            <p:cNvPicPr>
              <a:picLocks noChangeAspect="1"/>
            </p:cNvPicPr>
            <p:nvPr/>
          </p:nvPicPr>
          <p:blipFill>
            <a:blip r:embed="rId9"/>
            <a:stretch>
              <a:fillRect/>
            </a:stretch>
          </p:blipFill>
          <p:spPr>
            <a:xfrm>
              <a:off x="6323625" y="3388401"/>
              <a:ext cx="245791" cy="245791"/>
            </a:xfrm>
            <a:prstGeom prst="rect">
              <a:avLst/>
            </a:prstGeom>
          </p:spPr>
        </p:pic>
        <p:sp>
          <p:nvSpPr>
            <p:cNvPr id="34" name="Text 25"/>
            <p:cNvSpPr/>
            <p:nvPr/>
          </p:nvSpPr>
          <p:spPr>
            <a:xfrm>
              <a:off x="6793992" y="3255264"/>
              <a:ext cx="1764792" cy="512064"/>
            </a:xfrm>
            <a:prstGeom prst="rect">
              <a:avLst/>
            </a:prstGeom>
            <a:noFill/>
            <a:ln/>
          </p:spPr>
          <p:txBody>
            <a:bodyPr wrap="square" lIns="0" tIns="0" rIns="0" bIns="0" rtlCol="0" anchor="ctr"/>
            <a:lstStyle/>
            <a:p>
              <a:pPr marL="0" indent="0">
                <a:buNone/>
              </a:pPr>
              <a:r>
                <a:rPr lang="en-US" sz="1350" b="1">
                  <a:solidFill>
                    <a:srgbClr val="0A2E36"/>
                  </a:solidFill>
                  <a:latin typeface="Cambria" pitchFamily="34" charset="0"/>
                  <a:ea typeface="Cambria" pitchFamily="34" charset="-122"/>
                  <a:cs typeface="Cambria" pitchFamily="34" charset="-120"/>
                </a:rPr>
                <a:t>Top features → UI</a:t>
              </a:r>
              <a:endParaRPr lang="en-US" sz="1350"/>
            </a:p>
          </p:txBody>
        </p:sp>
      </p:grpSp>
      <p:sp>
        <p:nvSpPr>
          <p:cNvPr id="36"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11</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The What-If? dashboard</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An interactive UI – the system’s user-facing component</a:t>
            </a:r>
            <a:endParaRPr lang="en-US" sz="1250" dirty="0"/>
          </a:p>
        </p:txBody>
      </p:sp>
      <p:sp>
        <p:nvSpPr>
          <p:cNvPr id="6" name="Shape 3"/>
          <p:cNvSpPr/>
          <p:nvPr/>
        </p:nvSpPr>
        <p:spPr>
          <a:xfrm>
            <a:off x="457200" y="1406883"/>
            <a:ext cx="4023360" cy="3154680"/>
          </a:xfrm>
          <a:prstGeom prst="roundRect">
            <a:avLst>
              <a:gd name="adj" fmla="val 2319"/>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58368" y="1627632"/>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3"/>
          <a:stretch>
            <a:fillRect/>
          </a:stretch>
        </p:blipFill>
        <p:spPr>
          <a:xfrm>
            <a:off x="791505" y="1760769"/>
            <a:ext cx="245791" cy="245791"/>
          </a:xfrm>
          <a:prstGeom prst="rect">
            <a:avLst/>
          </a:prstGeom>
        </p:spPr>
      </p:pic>
      <p:sp>
        <p:nvSpPr>
          <p:cNvPr id="9" name="Text 5"/>
          <p:cNvSpPr/>
          <p:nvPr/>
        </p:nvSpPr>
        <p:spPr>
          <a:xfrm>
            <a:off x="1303569" y="1746504"/>
            <a:ext cx="2926080" cy="310896"/>
          </a:xfrm>
          <a:prstGeom prst="rect">
            <a:avLst/>
          </a:prstGeom>
          <a:noFill/>
          <a:ln/>
        </p:spPr>
        <p:txBody>
          <a:bodyPr wrap="square" lIns="0" tIns="0" rIns="0" bIns="0" rtlCol="0" anchor="ctr"/>
          <a:lstStyle/>
          <a:p>
            <a:pPr marL="0" indent="0">
              <a:buNone/>
            </a:pPr>
            <a:r>
              <a:rPr lang="en-US" sz="1500" b="1" dirty="0">
                <a:solidFill>
                  <a:srgbClr val="0A2E36"/>
                </a:solidFill>
                <a:latin typeface="Cambria" pitchFamily="34" charset="0"/>
                <a:ea typeface="Cambria" pitchFamily="34" charset="-122"/>
                <a:cs typeface="Cambria" pitchFamily="34" charset="-120"/>
              </a:rPr>
              <a:t>User controls</a:t>
            </a:r>
            <a:endParaRPr lang="en-US" sz="1500" dirty="0"/>
          </a:p>
        </p:txBody>
      </p:sp>
      <p:sp>
        <p:nvSpPr>
          <p:cNvPr id="10" name="Text 6"/>
          <p:cNvSpPr/>
          <p:nvPr/>
        </p:nvSpPr>
        <p:spPr>
          <a:xfrm>
            <a:off x="676656" y="2249424"/>
            <a:ext cx="3611880" cy="219456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Adjust the 6 most important features via select boxes</a:t>
            </a:r>
            <a:endParaRPr lang="en-US" sz="1200" dirty="0"/>
          </a:p>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Remaining features imputed to an “average” baseline</a:t>
            </a:r>
            <a:endParaRPr lang="en-US" sz="1200" dirty="0"/>
          </a:p>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Threshold slider sets how conservative the prediction is</a:t>
            </a:r>
            <a:endParaRPr lang="en-US" sz="1200" dirty="0"/>
          </a:p>
          <a:p>
            <a:pPr marL="342900" indent="-342900">
              <a:spcAft>
                <a:spcPts val="900"/>
              </a:spcAft>
              <a:buSzPct val="100000"/>
              <a:buChar char="•"/>
            </a:pPr>
            <a:r>
              <a:rPr lang="en-US" sz="1200" dirty="0">
                <a:solidFill>
                  <a:srgbClr val="183036"/>
                </a:solidFill>
                <a:latin typeface="Calibri" pitchFamily="34" charset="0"/>
                <a:ea typeface="Calibri" pitchFamily="34" charset="-122"/>
                <a:cs typeface="Calibri" pitchFamily="34" charset="-120"/>
              </a:rPr>
              <a:t>Outputs: Prediction breakdown, SHAP, PDP plots</a:t>
            </a:r>
            <a:endParaRPr lang="en-US" sz="1200" dirty="0"/>
          </a:p>
        </p:txBody>
      </p:sp>
      <p:sp>
        <p:nvSpPr>
          <p:cNvPr id="11" name="Text 7"/>
          <p:cNvSpPr/>
          <p:nvPr/>
        </p:nvSpPr>
        <p:spPr>
          <a:xfrm>
            <a:off x="5628640" y="1114275"/>
            <a:ext cx="3049015" cy="292608"/>
          </a:xfrm>
          <a:prstGeom prst="rect">
            <a:avLst/>
          </a:prstGeom>
          <a:noFill/>
          <a:ln/>
        </p:spPr>
        <p:txBody>
          <a:bodyPr wrap="square" lIns="0" tIns="0" rIns="0" bIns="0" rtlCol="0" anchor="ctr"/>
          <a:lstStyle/>
          <a:p>
            <a:pPr marL="0" indent="0">
              <a:buNone/>
            </a:pPr>
            <a:r>
              <a:rPr lang="en-US" sz="1300" b="1" dirty="0">
                <a:solidFill>
                  <a:srgbClr val="0E5E5C"/>
                </a:solidFill>
                <a:latin typeface="Calibri" pitchFamily="34" charset="0"/>
                <a:ea typeface="Calibri" pitchFamily="34" charset="-122"/>
                <a:cs typeface="Calibri" pitchFamily="34" charset="-120"/>
              </a:rPr>
              <a:t>Six adjustable features and threshold slider</a:t>
            </a:r>
            <a:endParaRPr lang="en-US" sz="1300" dirty="0"/>
          </a:p>
        </p:txBody>
      </p:sp>
      <p:sp>
        <p:nvSpPr>
          <p:cNvPr id="12" name="Shape 8"/>
          <p:cNvSpPr/>
          <p:nvPr/>
        </p:nvSpPr>
        <p:spPr>
          <a:xfrm>
            <a:off x="4663440" y="1441336"/>
            <a:ext cx="4023360" cy="420624"/>
          </a:xfrm>
          <a:prstGeom prst="roundRect">
            <a:avLst>
              <a:gd name="adj" fmla="val 1739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3" name="Text 9"/>
          <p:cNvSpPr/>
          <p:nvPr/>
        </p:nvSpPr>
        <p:spPr>
          <a:xfrm>
            <a:off x="4882896" y="1441336"/>
            <a:ext cx="3566160" cy="42062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Doctor recommends H1N1 vaccine</a:t>
            </a:r>
            <a:endParaRPr lang="en-US" sz="1150"/>
          </a:p>
        </p:txBody>
      </p:sp>
      <p:sp>
        <p:nvSpPr>
          <p:cNvPr id="14" name="Shape 10"/>
          <p:cNvSpPr/>
          <p:nvPr/>
        </p:nvSpPr>
        <p:spPr>
          <a:xfrm>
            <a:off x="4663440" y="1916824"/>
            <a:ext cx="4023360" cy="420624"/>
          </a:xfrm>
          <a:prstGeom prst="roundRect">
            <a:avLst>
              <a:gd name="adj" fmla="val 1739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5" name="Text 11"/>
          <p:cNvSpPr/>
          <p:nvPr/>
        </p:nvSpPr>
        <p:spPr>
          <a:xfrm>
            <a:off x="4882896" y="1916824"/>
            <a:ext cx="3566160" cy="42062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Opinion: H1N1 vaccine is effective</a:t>
            </a:r>
            <a:endParaRPr lang="en-US" sz="1150"/>
          </a:p>
        </p:txBody>
      </p:sp>
      <p:sp>
        <p:nvSpPr>
          <p:cNvPr id="16" name="Shape 12"/>
          <p:cNvSpPr/>
          <p:nvPr/>
        </p:nvSpPr>
        <p:spPr>
          <a:xfrm>
            <a:off x="4663440" y="2392312"/>
            <a:ext cx="4023360" cy="420624"/>
          </a:xfrm>
          <a:prstGeom prst="roundRect">
            <a:avLst>
              <a:gd name="adj" fmla="val 1739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7" name="Text 13"/>
          <p:cNvSpPr/>
          <p:nvPr/>
        </p:nvSpPr>
        <p:spPr>
          <a:xfrm>
            <a:off x="4882896" y="2392312"/>
            <a:ext cx="3566160" cy="420624"/>
          </a:xfrm>
          <a:prstGeom prst="rect">
            <a:avLst/>
          </a:prstGeom>
          <a:noFill/>
          <a:ln/>
        </p:spPr>
        <p:txBody>
          <a:bodyPr wrap="square" lIns="0" tIns="0" rIns="0" bIns="0" rtlCol="0" anchor="ctr"/>
          <a:lstStyle/>
          <a:p>
            <a:pPr marL="0" indent="0">
              <a:buNone/>
            </a:pPr>
            <a:r>
              <a:rPr lang="en-US" sz="1150" b="1">
                <a:solidFill>
                  <a:srgbClr val="FFFFFF"/>
                </a:solidFill>
                <a:latin typeface="Calibri" pitchFamily="34" charset="0"/>
                <a:ea typeface="Calibri" pitchFamily="34" charset="-122"/>
                <a:cs typeface="Calibri" pitchFamily="34" charset="-120"/>
              </a:rPr>
              <a:t>Opinion: H1N1 is a risk</a:t>
            </a:r>
            <a:endParaRPr lang="en-US" sz="1150"/>
          </a:p>
        </p:txBody>
      </p:sp>
      <p:sp>
        <p:nvSpPr>
          <p:cNvPr id="18" name="Shape 14"/>
          <p:cNvSpPr/>
          <p:nvPr/>
        </p:nvSpPr>
        <p:spPr>
          <a:xfrm>
            <a:off x="4663440" y="2867800"/>
            <a:ext cx="4023360" cy="420624"/>
          </a:xfrm>
          <a:prstGeom prst="roundRect">
            <a:avLst>
              <a:gd name="adj" fmla="val 17391"/>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19" name="Shape 15"/>
          <p:cNvSpPr/>
          <p:nvPr/>
        </p:nvSpPr>
        <p:spPr>
          <a:xfrm>
            <a:off x="4663440" y="2867800"/>
            <a:ext cx="4023360" cy="420624"/>
          </a:xfrm>
          <a:prstGeom prst="roundRect">
            <a:avLst>
              <a:gd name="adj" fmla="val 13043"/>
            </a:avLst>
          </a:prstGeom>
          <a:ln w="12700">
            <a:solidFill>
              <a:srgbClr val="E7F0F0"/>
            </a:solidFill>
            <a:prstDash val="solid"/>
          </a:ln>
        </p:spPr>
        <p:txBody>
          <a:bodyPr/>
          <a:lstStyle/>
          <a:p>
            <a:endParaRPr lang="en-DE"/>
          </a:p>
        </p:txBody>
      </p:sp>
      <p:sp>
        <p:nvSpPr>
          <p:cNvPr id="20" name="Text 16"/>
          <p:cNvSpPr/>
          <p:nvPr/>
        </p:nvSpPr>
        <p:spPr>
          <a:xfrm>
            <a:off x="4882896" y="2867800"/>
            <a:ext cx="3566160" cy="420624"/>
          </a:xfrm>
          <a:prstGeom prst="rect">
            <a:avLst/>
          </a:prstGeom>
          <a:noFill/>
          <a:ln/>
        </p:spPr>
        <p:txBody>
          <a:bodyPr wrap="square" lIns="0" tIns="0" rIns="0" bIns="0" rtlCol="0" anchor="ctr"/>
          <a:lstStyle/>
          <a:p>
            <a:pPr marL="0" indent="0">
              <a:buNone/>
            </a:pPr>
            <a:r>
              <a:rPr lang="en-US" sz="1150" b="1">
                <a:solidFill>
                  <a:srgbClr val="183036"/>
                </a:solidFill>
                <a:latin typeface="Calibri" pitchFamily="34" charset="0"/>
                <a:ea typeface="Calibri" pitchFamily="34" charset="-122"/>
                <a:cs typeface="Calibri" pitchFamily="34" charset="-120"/>
              </a:rPr>
              <a:t>Age group</a:t>
            </a:r>
            <a:endParaRPr lang="en-US" sz="1150"/>
          </a:p>
        </p:txBody>
      </p:sp>
      <p:sp>
        <p:nvSpPr>
          <p:cNvPr id="21" name="Shape 17"/>
          <p:cNvSpPr/>
          <p:nvPr/>
        </p:nvSpPr>
        <p:spPr>
          <a:xfrm>
            <a:off x="4663440" y="3343288"/>
            <a:ext cx="4023360" cy="420624"/>
          </a:xfrm>
          <a:prstGeom prst="roundRect">
            <a:avLst>
              <a:gd name="adj" fmla="val 17391"/>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22" name="Shape 18"/>
          <p:cNvSpPr/>
          <p:nvPr/>
        </p:nvSpPr>
        <p:spPr>
          <a:xfrm>
            <a:off x="4663440" y="3343288"/>
            <a:ext cx="4023360" cy="420624"/>
          </a:xfrm>
          <a:prstGeom prst="roundRect">
            <a:avLst>
              <a:gd name="adj" fmla="val 13043"/>
            </a:avLst>
          </a:prstGeom>
          <a:ln w="12700">
            <a:solidFill>
              <a:srgbClr val="E7F0F0"/>
            </a:solidFill>
            <a:prstDash val="solid"/>
          </a:ln>
        </p:spPr>
        <p:txBody>
          <a:bodyPr/>
          <a:lstStyle/>
          <a:p>
            <a:endParaRPr lang="en-DE"/>
          </a:p>
        </p:txBody>
      </p:sp>
      <p:sp>
        <p:nvSpPr>
          <p:cNvPr id="23" name="Text 19"/>
          <p:cNvSpPr/>
          <p:nvPr/>
        </p:nvSpPr>
        <p:spPr>
          <a:xfrm>
            <a:off x="4882896" y="3343288"/>
            <a:ext cx="3566160" cy="420624"/>
          </a:xfrm>
          <a:prstGeom prst="rect">
            <a:avLst/>
          </a:prstGeom>
          <a:noFill/>
          <a:ln/>
        </p:spPr>
        <p:txBody>
          <a:bodyPr wrap="square" lIns="0" tIns="0" rIns="0" bIns="0" rtlCol="0" anchor="ctr"/>
          <a:lstStyle/>
          <a:p>
            <a:pPr marL="0" indent="0">
              <a:buNone/>
            </a:pPr>
            <a:r>
              <a:rPr lang="en-US" sz="1150" b="1">
                <a:solidFill>
                  <a:srgbClr val="183036"/>
                </a:solidFill>
                <a:latin typeface="Calibri" pitchFamily="34" charset="0"/>
                <a:ea typeface="Calibri" pitchFamily="34" charset="-122"/>
                <a:cs typeface="Calibri" pitchFamily="34" charset="-120"/>
              </a:rPr>
              <a:t>Race</a:t>
            </a:r>
            <a:endParaRPr lang="en-US" sz="1150"/>
          </a:p>
        </p:txBody>
      </p:sp>
      <p:sp>
        <p:nvSpPr>
          <p:cNvPr id="24" name="Shape 20"/>
          <p:cNvSpPr/>
          <p:nvPr/>
        </p:nvSpPr>
        <p:spPr>
          <a:xfrm>
            <a:off x="4663440" y="3818776"/>
            <a:ext cx="4023360" cy="420624"/>
          </a:xfrm>
          <a:prstGeom prst="roundRect">
            <a:avLst>
              <a:gd name="adj" fmla="val 17391"/>
            </a:avLst>
          </a:prstGeom>
          <a:solidFill>
            <a:srgbClr val="FFFFFF"/>
          </a:solidFill>
          <a:ln/>
          <a:effectLst>
            <a:outerShdw blurRad="88900" dist="25400" dir="5400000" algn="bl" rotWithShape="0">
              <a:srgbClr val="0A2E36">
                <a:alpha val="10000"/>
              </a:srgbClr>
            </a:outerShdw>
          </a:effectLst>
        </p:spPr>
        <p:txBody>
          <a:bodyPr/>
          <a:lstStyle/>
          <a:p>
            <a:endParaRPr lang="en-DE"/>
          </a:p>
        </p:txBody>
      </p:sp>
      <p:sp>
        <p:nvSpPr>
          <p:cNvPr id="25" name="Shape 21"/>
          <p:cNvSpPr/>
          <p:nvPr/>
        </p:nvSpPr>
        <p:spPr>
          <a:xfrm>
            <a:off x="4663440" y="3818776"/>
            <a:ext cx="4023360" cy="420624"/>
          </a:xfrm>
          <a:prstGeom prst="roundRect">
            <a:avLst>
              <a:gd name="adj" fmla="val 13043"/>
            </a:avLst>
          </a:prstGeom>
          <a:ln w="12700">
            <a:solidFill>
              <a:srgbClr val="E7F0F0"/>
            </a:solidFill>
            <a:prstDash val="solid"/>
          </a:ln>
        </p:spPr>
        <p:txBody>
          <a:bodyPr/>
          <a:lstStyle/>
          <a:p>
            <a:endParaRPr lang="en-DE"/>
          </a:p>
        </p:txBody>
      </p:sp>
      <p:sp>
        <p:nvSpPr>
          <p:cNvPr id="26" name="Text 22"/>
          <p:cNvSpPr/>
          <p:nvPr/>
        </p:nvSpPr>
        <p:spPr>
          <a:xfrm>
            <a:off x="4882896" y="3818776"/>
            <a:ext cx="3566160" cy="420624"/>
          </a:xfrm>
          <a:prstGeom prst="rect">
            <a:avLst/>
          </a:prstGeom>
          <a:noFill/>
          <a:ln/>
        </p:spPr>
        <p:txBody>
          <a:bodyPr wrap="square" lIns="0" tIns="0" rIns="0" bIns="0" rtlCol="0" anchor="ctr"/>
          <a:lstStyle/>
          <a:p>
            <a:pPr marL="0" indent="0">
              <a:buNone/>
            </a:pPr>
            <a:r>
              <a:rPr lang="en-US" sz="1150" b="1">
                <a:solidFill>
                  <a:srgbClr val="183036"/>
                </a:solidFill>
                <a:latin typeface="Calibri" pitchFamily="34" charset="0"/>
                <a:ea typeface="Calibri" pitchFamily="34" charset="-122"/>
                <a:cs typeface="Calibri" pitchFamily="34" charset="-120"/>
              </a:rPr>
              <a:t>Sex</a:t>
            </a:r>
            <a:endParaRPr lang="en-US" sz="1150"/>
          </a:p>
        </p:txBody>
      </p:sp>
      <p:sp>
        <p:nvSpPr>
          <p:cNvPr id="28" name="Text 24"/>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12</a:t>
            </a:r>
            <a:endParaRPr lang="en-US" sz="900"/>
          </a:p>
        </p:txBody>
      </p:sp>
      <p:pic>
        <p:nvPicPr>
          <p:cNvPr id="30" name="Graphic 29" descr="Badge Question Mark with solid fill">
            <a:extLst>
              <a:ext uri="{FF2B5EF4-FFF2-40B4-BE49-F238E27FC236}">
                <a16:creationId xmlns:a16="http://schemas.microsoft.com/office/drawing/2014/main" id="{681AFFDF-19A6-4B60-C731-66958AD24C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8287" y="358902"/>
            <a:ext cx="470916" cy="470916"/>
          </a:xfrm>
          <a:prstGeom prst="rect">
            <a:avLst/>
          </a:prstGeom>
        </p:spPr>
      </p:pic>
      <p:grpSp>
        <p:nvGrpSpPr>
          <p:cNvPr id="44" name="Group 43">
            <a:extLst>
              <a:ext uri="{FF2B5EF4-FFF2-40B4-BE49-F238E27FC236}">
                <a16:creationId xmlns:a16="http://schemas.microsoft.com/office/drawing/2014/main" id="{0A30FAE6-E680-DA2C-5E67-F21221717F54}"/>
              </a:ext>
            </a:extLst>
          </p:cNvPr>
          <p:cNvGrpSpPr/>
          <p:nvPr/>
        </p:nvGrpSpPr>
        <p:grpSpPr>
          <a:xfrm>
            <a:off x="4601817" y="4531360"/>
            <a:ext cx="4214122" cy="263642"/>
            <a:chOff x="4572000" y="4531360"/>
            <a:chExt cx="4214122" cy="263642"/>
          </a:xfrm>
        </p:grpSpPr>
        <p:grpSp>
          <p:nvGrpSpPr>
            <p:cNvPr id="40" name="Group 39">
              <a:extLst>
                <a:ext uri="{FF2B5EF4-FFF2-40B4-BE49-F238E27FC236}">
                  <a16:creationId xmlns:a16="http://schemas.microsoft.com/office/drawing/2014/main" id="{E5E70017-7254-A07A-2619-D1C15B0DDB62}"/>
                </a:ext>
              </a:extLst>
            </p:cNvPr>
            <p:cNvGrpSpPr/>
            <p:nvPr/>
          </p:nvGrpSpPr>
          <p:grpSpPr>
            <a:xfrm>
              <a:off x="4572000" y="4531360"/>
              <a:ext cx="2174240" cy="261610"/>
              <a:chOff x="4663440" y="4531360"/>
              <a:chExt cx="2011680" cy="261610"/>
            </a:xfrm>
          </p:grpSpPr>
          <p:cxnSp>
            <p:nvCxnSpPr>
              <p:cNvPr id="27" name="Straight Arrow Connector 26">
                <a:extLst>
                  <a:ext uri="{FF2B5EF4-FFF2-40B4-BE49-F238E27FC236}">
                    <a16:creationId xmlns:a16="http://schemas.microsoft.com/office/drawing/2014/main" id="{85C40928-0ABC-43FD-CC0A-7EC970A5786E}"/>
                  </a:ext>
                </a:extLst>
              </p:cNvPr>
              <p:cNvCxnSpPr>
                <a:cxnSpLocks/>
              </p:cNvCxnSpPr>
              <p:nvPr/>
            </p:nvCxnSpPr>
            <p:spPr>
              <a:xfrm>
                <a:off x="4876800" y="4663440"/>
                <a:ext cx="1798320" cy="0"/>
              </a:xfrm>
              <a:prstGeom prst="straightConnector1">
                <a:avLst/>
              </a:prstGeom>
              <a:ln>
                <a:solidFill>
                  <a:srgbClr val="0A2D36"/>
                </a:solidFill>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6213DE26-E024-DAD0-5B7A-82C8FC1627C7}"/>
                  </a:ext>
                </a:extLst>
              </p:cNvPr>
              <p:cNvSpPr txBox="1"/>
              <p:nvPr/>
            </p:nvSpPr>
            <p:spPr>
              <a:xfrm>
                <a:off x="4663440" y="4531360"/>
                <a:ext cx="256802" cy="261610"/>
              </a:xfrm>
              <a:prstGeom prst="rect">
                <a:avLst/>
              </a:prstGeom>
              <a:noFill/>
            </p:spPr>
            <p:txBody>
              <a:bodyPr wrap="none" rtlCol="0">
                <a:spAutoFit/>
              </a:bodyPr>
              <a:lstStyle/>
              <a:p>
                <a:r>
                  <a:rPr lang="en-GB" sz="1100" dirty="0"/>
                  <a:t>0</a:t>
                </a:r>
                <a:endParaRPr lang="en-GB" dirty="0"/>
              </a:p>
            </p:txBody>
          </p:sp>
        </p:grpSp>
        <p:grpSp>
          <p:nvGrpSpPr>
            <p:cNvPr id="41" name="Group 40">
              <a:extLst>
                <a:ext uri="{FF2B5EF4-FFF2-40B4-BE49-F238E27FC236}">
                  <a16:creationId xmlns:a16="http://schemas.microsoft.com/office/drawing/2014/main" id="{6A227BEF-93B6-4231-0F4F-29FF6053F1C0}"/>
                </a:ext>
              </a:extLst>
            </p:cNvPr>
            <p:cNvGrpSpPr/>
            <p:nvPr/>
          </p:nvGrpSpPr>
          <p:grpSpPr>
            <a:xfrm>
              <a:off x="6583680" y="4533392"/>
              <a:ext cx="2202442" cy="261610"/>
              <a:chOff x="6675120" y="4533392"/>
              <a:chExt cx="2039882" cy="261610"/>
            </a:xfrm>
          </p:grpSpPr>
          <p:cxnSp>
            <p:nvCxnSpPr>
              <p:cNvPr id="31" name="Straight Arrow Connector 30">
                <a:extLst>
                  <a:ext uri="{FF2B5EF4-FFF2-40B4-BE49-F238E27FC236}">
                    <a16:creationId xmlns:a16="http://schemas.microsoft.com/office/drawing/2014/main" id="{1A22D155-2C89-6DDC-35B0-98EF7DDA0391}"/>
                  </a:ext>
                </a:extLst>
              </p:cNvPr>
              <p:cNvCxnSpPr>
                <a:cxnSpLocks/>
              </p:cNvCxnSpPr>
              <p:nvPr/>
            </p:nvCxnSpPr>
            <p:spPr>
              <a:xfrm flipH="1">
                <a:off x="6675120" y="4663440"/>
                <a:ext cx="1800860" cy="0"/>
              </a:xfrm>
              <a:prstGeom prst="straightConnector1">
                <a:avLst/>
              </a:prstGeom>
              <a:ln>
                <a:solidFill>
                  <a:srgbClr val="0A2D36"/>
                </a:solidFill>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BB29D6F1-4307-872C-02B9-023DBDC10206}"/>
                  </a:ext>
                </a:extLst>
              </p:cNvPr>
              <p:cNvSpPr txBox="1"/>
              <p:nvPr/>
            </p:nvSpPr>
            <p:spPr>
              <a:xfrm>
                <a:off x="8458200" y="4533392"/>
                <a:ext cx="256802" cy="261610"/>
              </a:xfrm>
              <a:prstGeom prst="rect">
                <a:avLst/>
              </a:prstGeom>
              <a:noFill/>
            </p:spPr>
            <p:txBody>
              <a:bodyPr wrap="none" rtlCol="0">
                <a:spAutoFit/>
              </a:bodyPr>
              <a:lstStyle/>
              <a:p>
                <a:r>
                  <a:rPr lang="en-GB" sz="1100" dirty="0"/>
                  <a:t>1</a:t>
                </a:r>
                <a:endParaRPr lang="en-GB" dirty="0"/>
              </a:p>
            </p:txBody>
          </p:sp>
        </p:grpSp>
        <p:sp>
          <p:nvSpPr>
            <p:cNvPr id="43" name="Oval 42">
              <a:extLst>
                <a:ext uri="{FF2B5EF4-FFF2-40B4-BE49-F238E27FC236}">
                  <a16:creationId xmlns:a16="http://schemas.microsoft.com/office/drawing/2014/main" id="{23FF30FE-94FC-9499-BD5B-DB1F178498A8}"/>
                </a:ext>
              </a:extLst>
            </p:cNvPr>
            <p:cNvSpPr/>
            <p:nvPr/>
          </p:nvSpPr>
          <p:spPr>
            <a:xfrm flipH="1">
              <a:off x="6583680" y="4592315"/>
              <a:ext cx="139700" cy="139700"/>
            </a:xfrm>
            <a:prstGeom prst="ellipse">
              <a:avLst/>
            </a:prstGeom>
            <a:solidFill>
              <a:srgbClr val="0A2D36"/>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The instructional template</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A JSON prompt for structured, repeatable LLM output</a:t>
            </a:r>
            <a:endParaRPr lang="en-US" sz="1250"/>
          </a:p>
        </p:txBody>
      </p:sp>
      <p:sp>
        <p:nvSpPr>
          <p:cNvPr id="6" name="Shape 3"/>
          <p:cNvSpPr/>
          <p:nvPr/>
        </p:nvSpPr>
        <p:spPr>
          <a:xfrm>
            <a:off x="45720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40080" y="1554480"/>
            <a:ext cx="512064" cy="512064"/>
          </a:xfrm>
          <a:prstGeom prst="ellipse">
            <a:avLst/>
          </a:prstGeom>
          <a:solidFill>
            <a:srgbClr val="127475"/>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773217" y="1687617"/>
            <a:ext cx="245791" cy="245791"/>
          </a:xfrm>
          <a:prstGeom prst="rect">
            <a:avLst/>
          </a:prstGeom>
        </p:spPr>
      </p:pic>
      <p:sp>
        <p:nvSpPr>
          <p:cNvPr id="9" name="Text 5"/>
          <p:cNvSpPr/>
          <p:nvPr/>
        </p:nvSpPr>
        <p:spPr>
          <a:xfrm>
            <a:off x="1243584" y="1554480"/>
            <a:ext cx="3108960" cy="512064"/>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Metadata</a:t>
            </a:r>
            <a:endParaRPr lang="en-US" sz="1450"/>
          </a:p>
        </p:txBody>
      </p:sp>
      <p:sp>
        <p:nvSpPr>
          <p:cNvPr id="10" name="Text 6"/>
          <p:cNvSpPr/>
          <p:nvPr/>
        </p:nvSpPr>
        <p:spPr>
          <a:xfrm>
            <a:off x="640080" y="2139696"/>
            <a:ext cx="3675888" cy="548640"/>
          </a:xfrm>
          <a:prstGeom prst="rect">
            <a:avLst/>
          </a:prstGeom>
          <a:noFill/>
          <a:ln/>
        </p:spPr>
        <p:txBody>
          <a:bodyPr wrap="square" lIns="0" tIns="0" rIns="0" bIns="0" rtlCol="0" anchor="ctr"/>
          <a:lstStyle/>
          <a:p>
            <a:pPr marL="0" indent="0">
              <a:buNone/>
            </a:pPr>
            <a:r>
              <a:rPr lang="en-US" sz="1130">
                <a:solidFill>
                  <a:srgbClr val="55686B"/>
                </a:solidFill>
                <a:latin typeface="Calibri" pitchFamily="34" charset="0"/>
                <a:ea typeface="Calibri" pitchFamily="34" charset="-122"/>
                <a:cs typeface="Calibri" pitchFamily="34" charset="-120"/>
              </a:rPr>
              <a:t>Title, authors, description, version control.</a:t>
            </a:r>
            <a:endParaRPr lang="en-US" sz="1130"/>
          </a:p>
        </p:txBody>
      </p:sp>
      <p:sp>
        <p:nvSpPr>
          <p:cNvPr id="11" name="Shape 7"/>
          <p:cNvSpPr/>
          <p:nvPr/>
        </p:nvSpPr>
        <p:spPr>
          <a:xfrm>
            <a:off x="466344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Shape 8"/>
          <p:cNvSpPr/>
          <p:nvPr/>
        </p:nvSpPr>
        <p:spPr>
          <a:xfrm>
            <a:off x="4846320" y="1554480"/>
            <a:ext cx="512064" cy="512064"/>
          </a:xfrm>
          <a:prstGeom prst="ellipse">
            <a:avLst/>
          </a:prstGeom>
          <a:solidFill>
            <a:srgbClr val="127475"/>
          </a:solidFill>
          <a:ln/>
        </p:spPr>
        <p:txBody>
          <a:bodyPr/>
          <a:lstStyle/>
          <a:p>
            <a:endParaRPr lang="en-DE"/>
          </a:p>
        </p:txBody>
      </p:sp>
      <p:pic>
        <p:nvPicPr>
          <p:cNvPr id="13" name="Image 2" descr="preencoded.png"/>
          <p:cNvPicPr>
            <a:picLocks noChangeAspect="1"/>
          </p:cNvPicPr>
          <p:nvPr/>
        </p:nvPicPr>
        <p:blipFill>
          <a:blip r:embed="rId5"/>
          <a:stretch>
            <a:fillRect/>
          </a:stretch>
        </p:blipFill>
        <p:spPr>
          <a:xfrm>
            <a:off x="4979457" y="1687617"/>
            <a:ext cx="245791" cy="245791"/>
          </a:xfrm>
          <a:prstGeom prst="rect">
            <a:avLst/>
          </a:prstGeom>
        </p:spPr>
      </p:pic>
      <p:sp>
        <p:nvSpPr>
          <p:cNvPr id="14" name="Text 9"/>
          <p:cNvSpPr/>
          <p:nvPr/>
        </p:nvSpPr>
        <p:spPr>
          <a:xfrm>
            <a:off x="5449824" y="1554480"/>
            <a:ext cx="3108960" cy="512064"/>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Persona</a:t>
            </a:r>
            <a:endParaRPr lang="en-US" sz="1450"/>
          </a:p>
        </p:txBody>
      </p:sp>
      <p:sp>
        <p:nvSpPr>
          <p:cNvPr id="15" name="Text 10"/>
          <p:cNvSpPr/>
          <p:nvPr/>
        </p:nvSpPr>
        <p:spPr>
          <a:xfrm>
            <a:off x="4846320" y="2139696"/>
            <a:ext cx="3675888" cy="548640"/>
          </a:xfrm>
          <a:prstGeom prst="rect">
            <a:avLst/>
          </a:prstGeom>
          <a:noFill/>
          <a:ln/>
        </p:spPr>
        <p:txBody>
          <a:bodyPr wrap="square" lIns="0" tIns="0" rIns="0" bIns="0" rtlCol="0" anchor="ctr"/>
          <a:lstStyle/>
          <a:p>
            <a:pPr marL="0" indent="0">
              <a:buNone/>
            </a:pPr>
            <a:r>
              <a:rPr lang="en-US" sz="1130">
                <a:solidFill>
                  <a:srgbClr val="55686B"/>
                </a:solidFill>
                <a:latin typeface="Calibri" pitchFamily="34" charset="0"/>
                <a:ea typeface="Calibri" pitchFamily="34" charset="-122"/>
                <a:cs typeface="Calibri" pitchFamily="34" charset="-120"/>
              </a:rPr>
              <a:t>“XAI specialist communicating with healthcare professionals.”</a:t>
            </a:r>
            <a:endParaRPr lang="en-US" sz="1130"/>
          </a:p>
        </p:txBody>
      </p:sp>
      <p:sp>
        <p:nvSpPr>
          <p:cNvPr id="16" name="Shape 11"/>
          <p:cNvSpPr/>
          <p:nvPr/>
        </p:nvSpPr>
        <p:spPr>
          <a:xfrm>
            <a:off x="45720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2"/>
          <p:cNvSpPr/>
          <p:nvPr/>
        </p:nvSpPr>
        <p:spPr>
          <a:xfrm>
            <a:off x="640080" y="3090672"/>
            <a:ext cx="512064" cy="512064"/>
          </a:xfrm>
          <a:prstGeom prst="ellipse">
            <a:avLst/>
          </a:prstGeom>
          <a:solidFill>
            <a:srgbClr val="127475"/>
          </a:solidFill>
          <a:ln/>
        </p:spPr>
        <p:txBody>
          <a:bodyPr/>
          <a:lstStyle/>
          <a:p>
            <a:endParaRPr lang="en-DE"/>
          </a:p>
        </p:txBody>
      </p:sp>
      <p:pic>
        <p:nvPicPr>
          <p:cNvPr id="18" name="Image 3" descr="preencoded.png"/>
          <p:cNvPicPr>
            <a:picLocks noChangeAspect="1"/>
          </p:cNvPicPr>
          <p:nvPr/>
        </p:nvPicPr>
        <p:blipFill>
          <a:blip r:embed="rId6"/>
          <a:stretch>
            <a:fillRect/>
          </a:stretch>
        </p:blipFill>
        <p:spPr>
          <a:xfrm>
            <a:off x="773217" y="3223809"/>
            <a:ext cx="245791" cy="245791"/>
          </a:xfrm>
          <a:prstGeom prst="rect">
            <a:avLst/>
          </a:prstGeom>
        </p:spPr>
      </p:pic>
      <p:sp>
        <p:nvSpPr>
          <p:cNvPr id="19" name="Text 13"/>
          <p:cNvSpPr/>
          <p:nvPr/>
        </p:nvSpPr>
        <p:spPr>
          <a:xfrm>
            <a:off x="1243584" y="3090672"/>
            <a:ext cx="3108960" cy="512064"/>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Instructions</a:t>
            </a:r>
            <a:endParaRPr lang="en-US" sz="1450"/>
          </a:p>
        </p:txBody>
      </p:sp>
      <p:sp>
        <p:nvSpPr>
          <p:cNvPr id="20" name="Text 14"/>
          <p:cNvSpPr/>
          <p:nvPr/>
        </p:nvSpPr>
        <p:spPr>
          <a:xfrm>
            <a:off x="640080" y="3675888"/>
            <a:ext cx="3675888" cy="548640"/>
          </a:xfrm>
          <a:prstGeom prst="rect">
            <a:avLst/>
          </a:prstGeom>
          <a:noFill/>
          <a:ln/>
        </p:spPr>
        <p:txBody>
          <a:bodyPr wrap="square" lIns="0" tIns="0" rIns="0" bIns="0" rtlCol="0" anchor="ctr"/>
          <a:lstStyle/>
          <a:p>
            <a:pPr marL="0" indent="0">
              <a:buNone/>
            </a:pPr>
            <a:r>
              <a:rPr lang="en-US" sz="1130">
                <a:solidFill>
                  <a:srgbClr val="55686B"/>
                </a:solidFill>
                <a:latin typeface="Calibri" pitchFamily="34" charset="0"/>
                <a:ea typeface="Calibri" pitchFamily="34" charset="-122"/>
                <a:cs typeface="Calibri" pitchFamily="34" charset="-120"/>
              </a:rPr>
              <a:t>Guidelines enforcing clear, and clinically relevant answers. Output and formatting rules.</a:t>
            </a:r>
            <a:endParaRPr lang="en-US" sz="1130"/>
          </a:p>
        </p:txBody>
      </p:sp>
      <p:sp>
        <p:nvSpPr>
          <p:cNvPr id="21" name="Shape 15"/>
          <p:cNvSpPr/>
          <p:nvPr/>
        </p:nvSpPr>
        <p:spPr>
          <a:xfrm>
            <a:off x="466344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2" name="Shape 16"/>
          <p:cNvSpPr/>
          <p:nvPr/>
        </p:nvSpPr>
        <p:spPr>
          <a:xfrm>
            <a:off x="4846320" y="3090672"/>
            <a:ext cx="512064" cy="512064"/>
          </a:xfrm>
          <a:prstGeom prst="ellipse">
            <a:avLst/>
          </a:prstGeom>
          <a:solidFill>
            <a:srgbClr val="127475"/>
          </a:solidFill>
          <a:ln/>
        </p:spPr>
        <p:txBody>
          <a:bodyPr/>
          <a:lstStyle/>
          <a:p>
            <a:endParaRPr lang="en-DE"/>
          </a:p>
        </p:txBody>
      </p:sp>
      <p:pic>
        <p:nvPicPr>
          <p:cNvPr id="23" name="Image 4" descr="preencoded.png"/>
          <p:cNvPicPr>
            <a:picLocks noChangeAspect="1"/>
          </p:cNvPicPr>
          <p:nvPr/>
        </p:nvPicPr>
        <p:blipFill>
          <a:blip r:embed="rId7"/>
          <a:stretch>
            <a:fillRect/>
          </a:stretch>
        </p:blipFill>
        <p:spPr>
          <a:xfrm>
            <a:off x="4979457" y="3223809"/>
            <a:ext cx="245791" cy="245791"/>
          </a:xfrm>
          <a:prstGeom prst="rect">
            <a:avLst/>
          </a:prstGeom>
        </p:spPr>
      </p:pic>
      <p:sp>
        <p:nvSpPr>
          <p:cNvPr id="24" name="Text 17"/>
          <p:cNvSpPr/>
          <p:nvPr/>
        </p:nvSpPr>
        <p:spPr>
          <a:xfrm>
            <a:off x="5449824" y="3090672"/>
            <a:ext cx="3108960" cy="512064"/>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Questions</a:t>
            </a:r>
            <a:endParaRPr lang="en-US" sz="1450"/>
          </a:p>
        </p:txBody>
      </p:sp>
      <p:sp>
        <p:nvSpPr>
          <p:cNvPr id="25" name="Text 18"/>
          <p:cNvSpPr/>
          <p:nvPr/>
        </p:nvSpPr>
        <p:spPr>
          <a:xfrm>
            <a:off x="4846320" y="3675888"/>
            <a:ext cx="3675888" cy="548640"/>
          </a:xfrm>
          <a:prstGeom prst="rect">
            <a:avLst/>
          </a:prstGeom>
          <a:noFill/>
          <a:ln/>
        </p:spPr>
        <p:txBody>
          <a:bodyPr wrap="square" lIns="0" tIns="0" rIns="0" bIns="0" rtlCol="0" anchor="ctr"/>
          <a:lstStyle/>
          <a:p>
            <a:pPr marL="0" indent="0">
              <a:buNone/>
            </a:pPr>
            <a:r>
              <a:rPr lang="en-US" sz="1130" dirty="0">
                <a:solidFill>
                  <a:srgbClr val="55686B"/>
                </a:solidFill>
                <a:latin typeface="Calibri" pitchFamily="34" charset="0"/>
                <a:ea typeface="Calibri" pitchFamily="34" charset="-122"/>
                <a:cs typeface="Calibri" pitchFamily="34" charset="-120"/>
              </a:rPr>
              <a:t>The XAI-QB questions, each with an empty string to fill.</a:t>
            </a:r>
            <a:endParaRPr lang="en-US" sz="1130" dirty="0"/>
          </a:p>
        </p:txBody>
      </p:sp>
      <p:sp>
        <p:nvSpPr>
          <p:cNvPr id="26" name="Text 19"/>
          <p:cNvSpPr/>
          <p:nvPr/>
        </p:nvSpPr>
        <p:spPr>
          <a:xfrm>
            <a:off x="457200" y="4608576"/>
            <a:ext cx="8229600" cy="310896"/>
          </a:xfrm>
          <a:prstGeom prst="rect">
            <a:avLst/>
          </a:prstGeom>
          <a:noFill/>
          <a:ln/>
        </p:spPr>
        <p:txBody>
          <a:bodyPr wrap="square" lIns="0" tIns="0" rIns="0" bIns="0" rtlCol="0" anchor="ctr"/>
          <a:lstStyle/>
          <a:p>
            <a:pPr marL="0" indent="0" algn="ctr">
              <a:buNone/>
            </a:pPr>
            <a:r>
              <a:rPr lang="en-US" sz="1200" b="1" i="1">
                <a:solidFill>
                  <a:srgbClr val="0E5E5C"/>
                </a:solidFill>
                <a:latin typeface="Calibri" pitchFamily="34" charset="0"/>
                <a:ea typeface="Calibri" pitchFamily="34" charset="-122"/>
                <a:cs typeface="Calibri" pitchFamily="34" charset="-120"/>
              </a:rPr>
              <a:t>Both reference human answers and LLM generated answers were written in the same JSON format.</a:t>
            </a:r>
            <a:endParaRPr lang="en-US" sz="1200"/>
          </a:p>
        </p:txBody>
      </p:sp>
      <p:sp>
        <p:nvSpPr>
          <p:cNvPr id="27" name="Text 2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13</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1188720" y="-1280160"/>
            <a:ext cx="3291840" cy="3291840"/>
          </a:xfrm>
          <a:prstGeom prst="ellipse">
            <a:avLst/>
          </a:prstGeom>
          <a:solidFill>
            <a:srgbClr val="127475">
              <a:alpha val="18000"/>
            </a:srgbClr>
          </a:solidFill>
          <a:ln/>
        </p:spPr>
        <p:txBody>
          <a:bodyPr/>
          <a:lstStyle/>
          <a:p>
            <a:endParaRPr lang="en-DE"/>
          </a:p>
        </p:txBody>
      </p:sp>
      <p:sp>
        <p:nvSpPr>
          <p:cNvPr id="3" name="Shape 1"/>
          <p:cNvSpPr/>
          <p:nvPr/>
        </p:nvSpPr>
        <p:spPr>
          <a:xfrm>
            <a:off x="548640" y="457200"/>
            <a:ext cx="603504" cy="603504"/>
          </a:xfrm>
          <a:prstGeom prst="ellipse">
            <a:avLst/>
          </a:prstGeom>
          <a:solidFill>
            <a:srgbClr val="E9B44C"/>
          </a:solidFill>
          <a:ln/>
        </p:spPr>
        <p:txBody>
          <a:bodyPr/>
          <a:lstStyle/>
          <a:p>
            <a:endParaRPr lang="en-DE"/>
          </a:p>
        </p:txBody>
      </p:sp>
      <p:pic>
        <p:nvPicPr>
          <p:cNvPr id="4" name="Image 0" descr="preencoded.png"/>
          <p:cNvPicPr>
            <a:picLocks noChangeAspect="1"/>
          </p:cNvPicPr>
          <p:nvPr/>
        </p:nvPicPr>
        <p:blipFill>
          <a:blip r:embed="rId3"/>
          <a:stretch>
            <a:fillRect/>
          </a:stretch>
        </p:blipFill>
        <p:spPr>
          <a:xfrm>
            <a:off x="705551" y="614111"/>
            <a:ext cx="289682" cy="289682"/>
          </a:xfrm>
          <a:prstGeom prst="rect">
            <a:avLst/>
          </a:prstGeom>
        </p:spPr>
      </p:pic>
      <p:sp>
        <p:nvSpPr>
          <p:cNvPr id="5" name="Text 2"/>
          <p:cNvSpPr/>
          <p:nvPr/>
        </p:nvSpPr>
        <p:spPr>
          <a:xfrm>
            <a:off x="1280160" y="475488"/>
            <a:ext cx="7315200" cy="54864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Experimental setup</a:t>
            </a:r>
            <a:endParaRPr lang="en-US" sz="2600"/>
          </a:p>
        </p:txBody>
      </p:sp>
      <p:sp>
        <p:nvSpPr>
          <p:cNvPr id="6" name="Text 3"/>
          <p:cNvSpPr/>
          <p:nvPr/>
        </p:nvSpPr>
        <p:spPr>
          <a:xfrm>
            <a:off x="548640" y="1170432"/>
            <a:ext cx="8046720" cy="310896"/>
          </a:xfrm>
          <a:prstGeom prst="rect">
            <a:avLst/>
          </a:prstGeom>
          <a:noFill/>
          <a:ln/>
        </p:spPr>
        <p:txBody>
          <a:bodyPr wrap="square" lIns="0" tIns="0" rIns="0" bIns="0" rtlCol="0" anchor="ctr"/>
          <a:lstStyle/>
          <a:p>
            <a:pPr marL="0" indent="0">
              <a:buNone/>
            </a:pPr>
            <a:r>
              <a:rPr lang="en-US" sz="1300" i="1">
                <a:solidFill>
                  <a:srgbClr val="9AD1D4"/>
                </a:solidFill>
                <a:latin typeface="Calibri" pitchFamily="34" charset="0"/>
                <a:ea typeface="Calibri" pitchFamily="34" charset="-122"/>
                <a:cs typeface="Calibri" pitchFamily="34" charset="-120"/>
              </a:rPr>
              <a:t>Source code and instructional template uploaded to each model’s native platform</a:t>
            </a:r>
            <a:endParaRPr lang="en-US" sz="1300"/>
          </a:p>
        </p:txBody>
      </p:sp>
      <p:grpSp>
        <p:nvGrpSpPr>
          <p:cNvPr id="32" name="Group 31">
            <a:extLst>
              <a:ext uri="{FF2B5EF4-FFF2-40B4-BE49-F238E27FC236}">
                <a16:creationId xmlns:a16="http://schemas.microsoft.com/office/drawing/2014/main" id="{992A7DFB-72B4-451C-CD9F-36EC60CFF59B}"/>
              </a:ext>
            </a:extLst>
          </p:cNvPr>
          <p:cNvGrpSpPr/>
          <p:nvPr/>
        </p:nvGrpSpPr>
        <p:grpSpPr>
          <a:xfrm>
            <a:off x="566928" y="3350329"/>
            <a:ext cx="8174736" cy="1280160"/>
            <a:chOff x="548640" y="1691640"/>
            <a:chExt cx="8174736" cy="1280160"/>
          </a:xfrm>
        </p:grpSpPr>
        <p:sp>
          <p:nvSpPr>
            <p:cNvPr id="7" name="Shape 4"/>
            <p:cNvSpPr/>
            <p:nvPr/>
          </p:nvSpPr>
          <p:spPr>
            <a:xfrm>
              <a:off x="548640"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8" name="Text 5"/>
            <p:cNvSpPr/>
            <p:nvPr/>
          </p:nvSpPr>
          <p:spPr>
            <a:xfrm>
              <a:off x="640080" y="1810512"/>
              <a:ext cx="1764792" cy="603504"/>
            </a:xfrm>
            <a:prstGeom prst="rect">
              <a:avLst/>
            </a:prstGeom>
            <a:noFill/>
            <a:ln/>
          </p:spPr>
          <p:txBody>
            <a:bodyPr wrap="square" lIns="0" tIns="0" rIns="0" bIns="0" rtlCol="0" anchor="ctr"/>
            <a:lstStyle/>
            <a:p>
              <a:pPr marL="0" indent="0" algn="ctr">
                <a:buNone/>
              </a:pPr>
              <a:r>
                <a:rPr lang="en-US" sz="4000" b="1">
                  <a:solidFill>
                    <a:srgbClr val="FFFFFF"/>
                  </a:solidFill>
                  <a:latin typeface="Cambria" pitchFamily="34" charset="0"/>
                  <a:ea typeface="Cambria" pitchFamily="34" charset="-122"/>
                  <a:cs typeface="Cambria" pitchFamily="34" charset="-120"/>
                </a:rPr>
                <a:t>3</a:t>
              </a:r>
              <a:endParaRPr lang="en-US" sz="4000"/>
            </a:p>
          </p:txBody>
        </p:sp>
        <p:sp>
          <p:nvSpPr>
            <p:cNvPr id="9" name="Text 6"/>
            <p:cNvSpPr/>
            <p:nvPr/>
          </p:nvSpPr>
          <p:spPr>
            <a:xfrm>
              <a:off x="640080" y="2487168"/>
              <a:ext cx="1764792" cy="365760"/>
            </a:xfrm>
            <a:prstGeom prst="rect">
              <a:avLst/>
            </a:prstGeom>
            <a:noFill/>
            <a:ln/>
          </p:spPr>
          <p:txBody>
            <a:bodyPr wrap="square" lIns="0" tIns="0" rIns="0" bIns="0" rtlCol="0" anchor="ctr"/>
            <a:lstStyle/>
            <a:p>
              <a:pPr marL="0" indent="0" algn="ctr">
                <a:buNone/>
              </a:pPr>
              <a:r>
                <a:rPr lang="en-US" sz="1150">
                  <a:solidFill>
                    <a:srgbClr val="9AD1D4"/>
                  </a:solidFill>
                  <a:latin typeface="Calibri" pitchFamily="34" charset="0"/>
                  <a:ea typeface="Calibri" pitchFamily="34" charset="-122"/>
                  <a:cs typeface="Calibri" pitchFamily="34" charset="-120"/>
                </a:rPr>
                <a:t>LLMs evaluated</a:t>
              </a:r>
              <a:endParaRPr lang="en-US" sz="1150"/>
            </a:p>
          </p:txBody>
        </p:sp>
        <p:sp>
          <p:nvSpPr>
            <p:cNvPr id="10" name="Shape 7"/>
            <p:cNvSpPr/>
            <p:nvPr/>
          </p:nvSpPr>
          <p:spPr>
            <a:xfrm>
              <a:off x="2624328"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1" name="Text 8"/>
            <p:cNvSpPr/>
            <p:nvPr/>
          </p:nvSpPr>
          <p:spPr>
            <a:xfrm>
              <a:off x="2715768" y="1810512"/>
              <a:ext cx="1764792" cy="603504"/>
            </a:xfrm>
            <a:prstGeom prst="rect">
              <a:avLst/>
            </a:prstGeom>
            <a:noFill/>
            <a:ln/>
          </p:spPr>
          <p:txBody>
            <a:bodyPr wrap="square" lIns="0" tIns="0" rIns="0" bIns="0" rtlCol="0" anchor="ctr"/>
            <a:lstStyle/>
            <a:p>
              <a:pPr marL="0" indent="0" algn="ctr">
                <a:buNone/>
              </a:pPr>
              <a:r>
                <a:rPr lang="en-US" sz="4000" b="1">
                  <a:solidFill>
                    <a:srgbClr val="FFFFFF"/>
                  </a:solidFill>
                  <a:latin typeface="Cambria" pitchFamily="34" charset="0"/>
                  <a:ea typeface="Cambria" pitchFamily="34" charset="-122"/>
                  <a:cs typeface="Cambria" pitchFamily="34" charset="-120"/>
                </a:rPr>
                <a:t>36</a:t>
              </a:r>
              <a:endParaRPr lang="en-US" sz="4000"/>
            </a:p>
          </p:txBody>
        </p:sp>
        <p:sp>
          <p:nvSpPr>
            <p:cNvPr id="12" name="Text 9"/>
            <p:cNvSpPr/>
            <p:nvPr/>
          </p:nvSpPr>
          <p:spPr>
            <a:xfrm>
              <a:off x="2715768" y="2487168"/>
              <a:ext cx="1764792" cy="365760"/>
            </a:xfrm>
            <a:prstGeom prst="rect">
              <a:avLst/>
            </a:prstGeom>
            <a:noFill/>
            <a:ln/>
          </p:spPr>
          <p:txBody>
            <a:bodyPr wrap="square" lIns="0" tIns="0" rIns="0" bIns="0" rtlCol="0" anchor="ctr"/>
            <a:lstStyle/>
            <a:p>
              <a:pPr marL="0" indent="0" algn="ctr">
                <a:buNone/>
              </a:pPr>
              <a:r>
                <a:rPr lang="en-US" sz="1150">
                  <a:solidFill>
                    <a:srgbClr val="9AD1D4"/>
                  </a:solidFill>
                  <a:latin typeface="Calibri" pitchFamily="34" charset="0"/>
                  <a:ea typeface="Calibri" pitchFamily="34" charset="-122"/>
                  <a:cs typeface="Calibri" pitchFamily="34" charset="-120"/>
                </a:rPr>
                <a:t>XAI-QB questions</a:t>
              </a:r>
              <a:endParaRPr lang="en-US" sz="1150"/>
            </a:p>
          </p:txBody>
        </p:sp>
        <p:sp>
          <p:nvSpPr>
            <p:cNvPr id="13" name="Shape 10"/>
            <p:cNvSpPr/>
            <p:nvPr/>
          </p:nvSpPr>
          <p:spPr>
            <a:xfrm>
              <a:off x="4700016"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4" name="Text 11"/>
            <p:cNvSpPr/>
            <p:nvPr/>
          </p:nvSpPr>
          <p:spPr>
            <a:xfrm>
              <a:off x="4791456" y="1810512"/>
              <a:ext cx="1764792" cy="603504"/>
            </a:xfrm>
            <a:prstGeom prst="rect">
              <a:avLst/>
            </a:prstGeom>
            <a:noFill/>
            <a:ln/>
          </p:spPr>
          <p:txBody>
            <a:bodyPr wrap="square" lIns="0" tIns="0" rIns="0" bIns="0" rtlCol="0" anchor="ctr"/>
            <a:lstStyle/>
            <a:p>
              <a:pPr marL="0" indent="0" algn="ctr">
                <a:buNone/>
              </a:pPr>
              <a:r>
                <a:rPr lang="en-US" sz="4000" b="1">
                  <a:solidFill>
                    <a:srgbClr val="FFFFFF"/>
                  </a:solidFill>
                  <a:latin typeface="Cambria" pitchFamily="34" charset="0"/>
                  <a:ea typeface="Cambria" pitchFamily="34" charset="-122"/>
                  <a:cs typeface="Cambria" pitchFamily="34" charset="-120"/>
                </a:rPr>
                <a:t>3</a:t>
              </a:r>
              <a:endParaRPr lang="en-US" sz="4000"/>
            </a:p>
          </p:txBody>
        </p:sp>
        <p:sp>
          <p:nvSpPr>
            <p:cNvPr id="15" name="Text 12"/>
            <p:cNvSpPr/>
            <p:nvPr/>
          </p:nvSpPr>
          <p:spPr>
            <a:xfrm>
              <a:off x="4791456" y="2487168"/>
              <a:ext cx="1764792" cy="365760"/>
            </a:xfrm>
            <a:prstGeom prst="rect">
              <a:avLst/>
            </a:prstGeom>
            <a:noFill/>
            <a:ln/>
          </p:spPr>
          <p:txBody>
            <a:bodyPr wrap="square" lIns="0" tIns="0" rIns="0" bIns="0" rtlCol="0" anchor="ctr"/>
            <a:lstStyle/>
            <a:p>
              <a:pPr marL="0" indent="0" algn="ctr">
                <a:buNone/>
              </a:pPr>
              <a:r>
                <a:rPr lang="en-US" sz="1150">
                  <a:solidFill>
                    <a:srgbClr val="9AD1D4"/>
                  </a:solidFill>
                  <a:latin typeface="Calibri" pitchFamily="34" charset="0"/>
                  <a:ea typeface="Calibri" pitchFamily="34" charset="-122"/>
                  <a:cs typeface="Calibri" pitchFamily="34" charset="-120"/>
                </a:rPr>
                <a:t>runs per model</a:t>
              </a:r>
              <a:endParaRPr lang="en-US" sz="1150"/>
            </a:p>
          </p:txBody>
        </p:sp>
        <p:sp>
          <p:nvSpPr>
            <p:cNvPr id="16" name="Shape 13"/>
            <p:cNvSpPr/>
            <p:nvPr/>
          </p:nvSpPr>
          <p:spPr>
            <a:xfrm>
              <a:off x="6775704" y="1691640"/>
              <a:ext cx="1947672" cy="1280160"/>
            </a:xfrm>
            <a:prstGeom prst="roundRect">
              <a:avLst>
                <a:gd name="adj" fmla="val 5714"/>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7" name="Text 14"/>
            <p:cNvSpPr/>
            <p:nvPr/>
          </p:nvSpPr>
          <p:spPr>
            <a:xfrm>
              <a:off x="6867144" y="1810512"/>
              <a:ext cx="1764792" cy="603504"/>
            </a:xfrm>
            <a:prstGeom prst="rect">
              <a:avLst/>
            </a:prstGeom>
            <a:noFill/>
            <a:ln/>
          </p:spPr>
          <p:txBody>
            <a:bodyPr wrap="square" lIns="0" tIns="0" rIns="0" bIns="0" rtlCol="0" anchor="ctr"/>
            <a:lstStyle/>
            <a:p>
              <a:pPr marL="0" indent="0" algn="ctr">
                <a:buNone/>
              </a:pPr>
              <a:r>
                <a:rPr lang="en-US" sz="4000" b="1">
                  <a:solidFill>
                    <a:srgbClr val="FFFFFF"/>
                  </a:solidFill>
                  <a:latin typeface="Cambria" pitchFamily="34" charset="0"/>
                  <a:ea typeface="Cambria" pitchFamily="34" charset="-122"/>
                  <a:cs typeface="Cambria" pitchFamily="34" charset="-120"/>
                </a:rPr>
                <a:t>324</a:t>
              </a:r>
              <a:endParaRPr lang="en-US" sz="4000"/>
            </a:p>
          </p:txBody>
        </p:sp>
        <p:sp>
          <p:nvSpPr>
            <p:cNvPr id="18" name="Text 15"/>
            <p:cNvSpPr/>
            <p:nvPr/>
          </p:nvSpPr>
          <p:spPr>
            <a:xfrm>
              <a:off x="6867144" y="2487168"/>
              <a:ext cx="1764792" cy="365760"/>
            </a:xfrm>
            <a:prstGeom prst="rect">
              <a:avLst/>
            </a:prstGeom>
            <a:noFill/>
            <a:ln/>
          </p:spPr>
          <p:txBody>
            <a:bodyPr wrap="square" lIns="0" tIns="0" rIns="0" bIns="0" rtlCol="0" anchor="ctr"/>
            <a:lstStyle/>
            <a:p>
              <a:pPr marL="0" indent="0" algn="ctr">
                <a:buNone/>
              </a:pPr>
              <a:r>
                <a:rPr lang="en-US" sz="1150" dirty="0">
                  <a:solidFill>
                    <a:srgbClr val="9AD1D4"/>
                  </a:solidFill>
                  <a:latin typeface="Calibri" pitchFamily="34" charset="0"/>
                  <a:ea typeface="Calibri" pitchFamily="34" charset="-122"/>
                  <a:cs typeface="Calibri" pitchFamily="34" charset="-120"/>
                </a:rPr>
                <a:t>answers generated</a:t>
              </a:r>
              <a:endParaRPr lang="en-US" sz="1150" dirty="0"/>
            </a:p>
          </p:txBody>
        </p:sp>
      </p:grpSp>
      <p:grpSp>
        <p:nvGrpSpPr>
          <p:cNvPr id="31" name="Group 30">
            <a:extLst>
              <a:ext uri="{FF2B5EF4-FFF2-40B4-BE49-F238E27FC236}">
                <a16:creationId xmlns:a16="http://schemas.microsoft.com/office/drawing/2014/main" id="{22907A65-13CF-39CA-F8AB-0268C514259B}"/>
              </a:ext>
            </a:extLst>
          </p:cNvPr>
          <p:cNvGrpSpPr/>
          <p:nvPr/>
        </p:nvGrpSpPr>
        <p:grpSpPr>
          <a:xfrm>
            <a:off x="548640" y="1663262"/>
            <a:ext cx="8211312" cy="1289304"/>
            <a:chOff x="548640" y="3200400"/>
            <a:chExt cx="8211312" cy="1289304"/>
          </a:xfrm>
        </p:grpSpPr>
        <p:sp>
          <p:nvSpPr>
            <p:cNvPr id="19" name="Text 16"/>
            <p:cNvSpPr/>
            <p:nvPr/>
          </p:nvSpPr>
          <p:spPr>
            <a:xfrm>
              <a:off x="548640" y="3200400"/>
              <a:ext cx="7315200" cy="274320"/>
            </a:xfrm>
            <a:prstGeom prst="rect">
              <a:avLst/>
            </a:prstGeom>
            <a:noFill/>
            <a:ln/>
          </p:spPr>
          <p:txBody>
            <a:bodyPr wrap="square" lIns="0" tIns="0" rIns="0" bIns="0" rtlCol="0" anchor="ctr"/>
            <a:lstStyle/>
            <a:p>
              <a:pPr marL="0" indent="0">
                <a:buNone/>
              </a:pPr>
              <a:r>
                <a:rPr lang="en-US" sz="1200" b="1" kern="0" spc="100">
                  <a:solidFill>
                    <a:srgbClr val="9AD1D4"/>
                  </a:solidFill>
                  <a:latin typeface="Calibri" pitchFamily="34" charset="0"/>
                  <a:ea typeface="Calibri" pitchFamily="34" charset="-122"/>
                  <a:cs typeface="Calibri" pitchFamily="34" charset="-120"/>
                </a:rPr>
                <a:t>The three models</a:t>
              </a:r>
              <a:endParaRPr lang="en-US" sz="1200"/>
            </a:p>
          </p:txBody>
        </p:sp>
        <p:sp>
          <p:nvSpPr>
            <p:cNvPr id="20" name="Shape 17"/>
            <p:cNvSpPr/>
            <p:nvPr/>
          </p:nvSpPr>
          <p:spPr>
            <a:xfrm>
              <a:off x="548640" y="3529584"/>
              <a:ext cx="2651760" cy="960120"/>
            </a:xfrm>
            <a:prstGeom prst="roundRect">
              <a:avLst>
                <a:gd name="adj" fmla="val 7619"/>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1" name="Shape 18"/>
            <p:cNvSpPr/>
            <p:nvPr/>
          </p:nvSpPr>
          <p:spPr>
            <a:xfrm>
              <a:off x="749808" y="3767328"/>
              <a:ext cx="457200" cy="457200"/>
            </a:xfrm>
            <a:prstGeom prst="ellipse">
              <a:avLst/>
            </a:prstGeom>
            <a:solidFill>
              <a:srgbClr val="127475"/>
            </a:solidFill>
            <a:ln/>
          </p:spPr>
          <p:txBody>
            <a:bodyPr/>
            <a:lstStyle/>
            <a:p>
              <a:endParaRPr lang="en-DE" dirty="0"/>
            </a:p>
          </p:txBody>
        </p:sp>
        <p:sp>
          <p:nvSpPr>
            <p:cNvPr id="22" name="Text 19"/>
            <p:cNvSpPr/>
            <p:nvPr/>
          </p:nvSpPr>
          <p:spPr>
            <a:xfrm>
              <a:off x="1335024" y="3529584"/>
              <a:ext cx="1783080" cy="9601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ChatGPT 5.2</a:t>
              </a:r>
              <a:endParaRPr lang="en-US" sz="1400"/>
            </a:p>
          </p:txBody>
        </p:sp>
        <p:sp>
          <p:nvSpPr>
            <p:cNvPr id="23" name="Shape 20"/>
            <p:cNvSpPr/>
            <p:nvPr/>
          </p:nvSpPr>
          <p:spPr>
            <a:xfrm>
              <a:off x="3328416" y="3529584"/>
              <a:ext cx="2651760" cy="960120"/>
            </a:xfrm>
            <a:prstGeom prst="roundRect">
              <a:avLst>
                <a:gd name="adj" fmla="val 7619"/>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4" name="Shape 21"/>
            <p:cNvSpPr/>
            <p:nvPr/>
          </p:nvSpPr>
          <p:spPr>
            <a:xfrm>
              <a:off x="3529584" y="3767328"/>
              <a:ext cx="457200" cy="457200"/>
            </a:xfrm>
            <a:prstGeom prst="ellipse">
              <a:avLst/>
            </a:prstGeom>
            <a:solidFill>
              <a:srgbClr val="E07A5F"/>
            </a:solidFill>
            <a:ln/>
          </p:spPr>
          <p:txBody>
            <a:bodyPr/>
            <a:lstStyle/>
            <a:p>
              <a:endParaRPr lang="en-DE"/>
            </a:p>
          </p:txBody>
        </p:sp>
        <p:sp>
          <p:nvSpPr>
            <p:cNvPr id="25" name="Text 22"/>
            <p:cNvSpPr/>
            <p:nvPr/>
          </p:nvSpPr>
          <p:spPr>
            <a:xfrm>
              <a:off x="4114800" y="3529584"/>
              <a:ext cx="1783080" cy="9601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Claude Opus 4.6</a:t>
              </a:r>
              <a:endParaRPr lang="en-US" sz="1400"/>
            </a:p>
          </p:txBody>
        </p:sp>
        <p:sp>
          <p:nvSpPr>
            <p:cNvPr id="26" name="Shape 23"/>
            <p:cNvSpPr/>
            <p:nvPr/>
          </p:nvSpPr>
          <p:spPr>
            <a:xfrm>
              <a:off x="6108192" y="3529584"/>
              <a:ext cx="2651760" cy="960120"/>
            </a:xfrm>
            <a:prstGeom prst="roundRect">
              <a:avLst>
                <a:gd name="adj" fmla="val 7619"/>
              </a:avLst>
            </a:prstGeom>
            <a:solidFill>
              <a:srgbClr val="103E45"/>
            </a:solidFill>
            <a:ln/>
            <a:effectLst>
              <a:outerShdw blurRad="88900" dist="25400" dir="5400000" algn="bl" rotWithShape="0">
                <a:srgbClr val="0A2E36">
                  <a:alpha val="10000"/>
                </a:srgbClr>
              </a:outerShdw>
            </a:effectLst>
          </p:spPr>
          <p:txBody>
            <a:bodyPr/>
            <a:lstStyle/>
            <a:p>
              <a:endParaRPr lang="en-DE"/>
            </a:p>
          </p:txBody>
        </p:sp>
        <p:sp>
          <p:nvSpPr>
            <p:cNvPr id="27" name="Shape 24"/>
            <p:cNvSpPr/>
            <p:nvPr/>
          </p:nvSpPr>
          <p:spPr>
            <a:xfrm>
              <a:off x="6309360" y="3767328"/>
              <a:ext cx="457200" cy="457200"/>
            </a:xfrm>
            <a:prstGeom prst="ellipse">
              <a:avLst/>
            </a:prstGeom>
            <a:solidFill>
              <a:srgbClr val="3D5A80"/>
            </a:solidFill>
            <a:ln/>
          </p:spPr>
          <p:txBody>
            <a:bodyPr/>
            <a:lstStyle/>
            <a:p>
              <a:endParaRPr lang="en-DE"/>
            </a:p>
          </p:txBody>
        </p:sp>
        <p:sp>
          <p:nvSpPr>
            <p:cNvPr id="28" name="Text 25"/>
            <p:cNvSpPr/>
            <p:nvPr/>
          </p:nvSpPr>
          <p:spPr>
            <a:xfrm>
              <a:off x="6894576" y="3529584"/>
              <a:ext cx="1783080" cy="96012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Gemini 3 Pro</a:t>
              </a:r>
              <a:endParaRPr lang="en-US" sz="1400"/>
            </a:p>
          </p:txBody>
        </p:sp>
      </p:grpSp>
      <p:sp>
        <p:nvSpPr>
          <p:cNvPr id="30"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14</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Evaluation framework</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Three quantitative components combine into one ACF score</a:t>
            </a:r>
            <a:endParaRPr lang="en-US" sz="1250"/>
          </a:p>
        </p:txBody>
      </p:sp>
      <p:sp>
        <p:nvSpPr>
          <p:cNvPr id="6" name="Shape 3"/>
          <p:cNvSpPr/>
          <p:nvPr/>
        </p:nvSpPr>
        <p:spPr>
          <a:xfrm>
            <a:off x="457200" y="1371600"/>
            <a:ext cx="2679192" cy="1783080"/>
          </a:xfrm>
          <a:prstGeom prst="roundRect">
            <a:avLst>
              <a:gd name="adj" fmla="val 41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1513332" y="1536192"/>
            <a:ext cx="566928" cy="566928"/>
          </a:xfrm>
          <a:prstGeom prst="ellipse">
            <a:avLst/>
          </a:prstGeom>
          <a:solidFill>
            <a:schemeClr val="accent6">
              <a:lumMod val="60000"/>
              <a:lumOff val="40000"/>
            </a:schemeClr>
          </a:solidFill>
          <a:ln/>
        </p:spPr>
        <p:txBody>
          <a:bodyPr/>
          <a:lstStyle/>
          <a:p>
            <a:endParaRPr lang="en-DE">
              <a:solidFill>
                <a:schemeClr val="accent6">
                  <a:lumMod val="60000"/>
                  <a:lumOff val="40000"/>
                </a:schemeClr>
              </a:solidFill>
            </a:endParaRPr>
          </a:p>
        </p:txBody>
      </p:sp>
      <p:pic>
        <p:nvPicPr>
          <p:cNvPr id="8" name="Image 1" descr="preencoded.png"/>
          <p:cNvPicPr>
            <a:picLocks noChangeAspect="1"/>
          </p:cNvPicPr>
          <p:nvPr/>
        </p:nvPicPr>
        <p:blipFill>
          <a:blip r:embed="rId4"/>
          <a:stretch>
            <a:fillRect/>
          </a:stretch>
        </p:blipFill>
        <p:spPr>
          <a:xfrm>
            <a:off x="1660733" y="1683593"/>
            <a:ext cx="272125" cy="272125"/>
          </a:xfrm>
          <a:prstGeom prst="rect">
            <a:avLst/>
          </a:prstGeom>
        </p:spPr>
      </p:pic>
      <p:sp>
        <p:nvSpPr>
          <p:cNvPr id="9" name="Text 5"/>
          <p:cNvSpPr/>
          <p:nvPr/>
        </p:nvSpPr>
        <p:spPr>
          <a:xfrm>
            <a:off x="548640" y="2157984"/>
            <a:ext cx="2496312" cy="310896"/>
          </a:xfrm>
          <a:prstGeom prst="rect">
            <a:avLst/>
          </a:prstGeom>
          <a:noFill/>
          <a:ln/>
        </p:spPr>
        <p:txBody>
          <a:bodyPr wrap="square" lIns="0" tIns="0" rIns="0" bIns="0" rtlCol="0" anchor="ctr"/>
          <a:lstStyle/>
          <a:p>
            <a:pPr marL="0" indent="0" algn="ctr">
              <a:buNone/>
            </a:pPr>
            <a:r>
              <a:rPr lang="en-US" sz="1550" b="1">
                <a:solidFill>
                  <a:srgbClr val="0A2E36"/>
                </a:solidFill>
                <a:latin typeface="Cambria" pitchFamily="34" charset="0"/>
                <a:ea typeface="Cambria" pitchFamily="34" charset="-122"/>
                <a:cs typeface="Cambria" pitchFamily="34" charset="-120"/>
              </a:rPr>
              <a:t>Accuracy</a:t>
            </a:r>
            <a:endParaRPr lang="en-US" sz="1550"/>
          </a:p>
        </p:txBody>
      </p:sp>
      <p:sp>
        <p:nvSpPr>
          <p:cNvPr id="10" name="Text 6"/>
          <p:cNvSpPr/>
          <p:nvPr/>
        </p:nvSpPr>
        <p:spPr>
          <a:xfrm>
            <a:off x="621792" y="2468880"/>
            <a:ext cx="2350008" cy="384048"/>
          </a:xfrm>
          <a:prstGeom prst="rect">
            <a:avLst/>
          </a:prstGeom>
          <a:noFill/>
          <a:ln/>
        </p:spPr>
        <p:txBody>
          <a:bodyPr wrap="square" lIns="0" tIns="0" rIns="0" bIns="0" rtlCol="0" anchor="ctr"/>
          <a:lstStyle/>
          <a:p>
            <a:pPr marL="0" indent="0" algn="ctr">
              <a:buNone/>
            </a:pPr>
            <a:r>
              <a:rPr lang="en-US" sz="1080">
                <a:solidFill>
                  <a:srgbClr val="55686B"/>
                </a:solidFill>
                <a:latin typeface="Calibri" pitchFamily="34" charset="0"/>
                <a:ea typeface="Calibri" pitchFamily="34" charset="-122"/>
                <a:cs typeface="Calibri" pitchFamily="34" charset="-120"/>
              </a:rPr>
              <a:t>Manual scoring vs. human ground-truth</a:t>
            </a:r>
            <a:endParaRPr lang="en-US" sz="1080"/>
          </a:p>
        </p:txBody>
      </p:sp>
      <p:sp>
        <p:nvSpPr>
          <p:cNvPr id="11" name="Shape 7"/>
          <p:cNvSpPr/>
          <p:nvPr/>
        </p:nvSpPr>
        <p:spPr>
          <a:xfrm>
            <a:off x="731520" y="2816352"/>
            <a:ext cx="2130552" cy="274320"/>
          </a:xfrm>
          <a:prstGeom prst="roundRect">
            <a:avLst>
              <a:gd name="adj" fmla="val 16667"/>
            </a:avLst>
          </a:prstGeom>
          <a:solidFill>
            <a:schemeClr val="accent6">
              <a:lumMod val="60000"/>
              <a:lumOff val="40000"/>
            </a:schemeClr>
          </a:solidFill>
          <a:ln/>
        </p:spPr>
        <p:txBody>
          <a:bodyPr/>
          <a:lstStyle/>
          <a:p>
            <a:endParaRPr lang="en-DE">
              <a:solidFill>
                <a:schemeClr val="accent6">
                  <a:lumMod val="60000"/>
                  <a:lumOff val="40000"/>
                </a:schemeClr>
              </a:solidFill>
            </a:endParaRPr>
          </a:p>
        </p:txBody>
      </p:sp>
      <p:sp>
        <p:nvSpPr>
          <p:cNvPr id="12" name="Text 8"/>
          <p:cNvSpPr/>
          <p:nvPr/>
        </p:nvSpPr>
        <p:spPr>
          <a:xfrm>
            <a:off x="731520" y="2816352"/>
            <a:ext cx="2130552" cy="27432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[0, 0.5, 1]</a:t>
            </a:r>
            <a:endParaRPr lang="en-US" sz="1000"/>
          </a:p>
        </p:txBody>
      </p:sp>
      <p:sp>
        <p:nvSpPr>
          <p:cNvPr id="13" name="Shape 9"/>
          <p:cNvSpPr/>
          <p:nvPr/>
        </p:nvSpPr>
        <p:spPr>
          <a:xfrm>
            <a:off x="3232404" y="1371600"/>
            <a:ext cx="2679192" cy="1783080"/>
          </a:xfrm>
          <a:prstGeom prst="roundRect">
            <a:avLst>
              <a:gd name="adj" fmla="val 41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4" name="Shape 10"/>
          <p:cNvSpPr/>
          <p:nvPr/>
        </p:nvSpPr>
        <p:spPr>
          <a:xfrm>
            <a:off x="4288536" y="1536192"/>
            <a:ext cx="566928" cy="566928"/>
          </a:xfrm>
          <a:prstGeom prst="ellipse">
            <a:avLst/>
          </a:prstGeom>
          <a:solidFill>
            <a:srgbClr val="3E9D9B"/>
          </a:solidFill>
          <a:ln/>
        </p:spPr>
        <p:txBody>
          <a:bodyPr/>
          <a:lstStyle/>
          <a:p>
            <a:endParaRPr lang="en-DE"/>
          </a:p>
        </p:txBody>
      </p:sp>
      <p:pic>
        <p:nvPicPr>
          <p:cNvPr id="15" name="Image 2" descr="preencoded.png"/>
          <p:cNvPicPr>
            <a:picLocks noChangeAspect="1"/>
          </p:cNvPicPr>
          <p:nvPr/>
        </p:nvPicPr>
        <p:blipFill>
          <a:blip r:embed="rId5"/>
          <a:stretch>
            <a:fillRect/>
          </a:stretch>
        </p:blipFill>
        <p:spPr>
          <a:xfrm>
            <a:off x="4435937" y="1683593"/>
            <a:ext cx="272125" cy="272125"/>
          </a:xfrm>
          <a:prstGeom prst="rect">
            <a:avLst/>
          </a:prstGeom>
        </p:spPr>
      </p:pic>
      <p:sp>
        <p:nvSpPr>
          <p:cNvPr id="16" name="Text 11"/>
          <p:cNvSpPr/>
          <p:nvPr/>
        </p:nvSpPr>
        <p:spPr>
          <a:xfrm>
            <a:off x="3323844" y="2157984"/>
            <a:ext cx="2496312" cy="310896"/>
          </a:xfrm>
          <a:prstGeom prst="rect">
            <a:avLst/>
          </a:prstGeom>
          <a:noFill/>
          <a:ln/>
        </p:spPr>
        <p:txBody>
          <a:bodyPr wrap="square" lIns="0" tIns="0" rIns="0" bIns="0" rtlCol="0" anchor="ctr"/>
          <a:lstStyle/>
          <a:p>
            <a:pPr marL="0" indent="0" algn="ctr">
              <a:buNone/>
            </a:pPr>
            <a:r>
              <a:rPr lang="en-US" sz="1550" b="1">
                <a:solidFill>
                  <a:srgbClr val="0A2E36"/>
                </a:solidFill>
                <a:latin typeface="Cambria" pitchFamily="34" charset="0"/>
                <a:ea typeface="Cambria" pitchFamily="34" charset="-122"/>
                <a:cs typeface="Cambria" pitchFamily="34" charset="-120"/>
              </a:rPr>
              <a:t>Completeness</a:t>
            </a:r>
            <a:endParaRPr lang="en-US" sz="1550"/>
          </a:p>
        </p:txBody>
      </p:sp>
      <p:sp>
        <p:nvSpPr>
          <p:cNvPr id="17" name="Text 12"/>
          <p:cNvSpPr/>
          <p:nvPr/>
        </p:nvSpPr>
        <p:spPr>
          <a:xfrm>
            <a:off x="3396996" y="2468880"/>
            <a:ext cx="2350008" cy="384048"/>
          </a:xfrm>
          <a:prstGeom prst="rect">
            <a:avLst/>
          </a:prstGeom>
          <a:noFill/>
          <a:ln/>
        </p:spPr>
        <p:txBody>
          <a:bodyPr wrap="square" lIns="0" tIns="0" rIns="0" bIns="0" rtlCol="0" anchor="ctr"/>
          <a:lstStyle/>
          <a:p>
            <a:pPr marL="0" indent="0" algn="ctr">
              <a:buNone/>
            </a:pPr>
            <a:r>
              <a:rPr lang="en-US" sz="1080">
                <a:solidFill>
                  <a:srgbClr val="55686B"/>
                </a:solidFill>
                <a:latin typeface="Calibri" pitchFamily="34" charset="0"/>
                <a:ea typeface="Calibri" pitchFamily="34" charset="-122"/>
                <a:cs typeface="Calibri" pitchFamily="34" charset="-120"/>
              </a:rPr>
              <a:t>Information units found in the answer</a:t>
            </a:r>
            <a:endParaRPr lang="en-US" sz="1080"/>
          </a:p>
        </p:txBody>
      </p:sp>
      <p:sp>
        <p:nvSpPr>
          <p:cNvPr id="18" name="Shape 13"/>
          <p:cNvSpPr/>
          <p:nvPr/>
        </p:nvSpPr>
        <p:spPr>
          <a:xfrm>
            <a:off x="3506724" y="2816352"/>
            <a:ext cx="2130552" cy="274320"/>
          </a:xfrm>
          <a:prstGeom prst="roundRect">
            <a:avLst>
              <a:gd name="adj" fmla="val 16667"/>
            </a:avLst>
          </a:prstGeom>
          <a:solidFill>
            <a:srgbClr val="3E9D9B"/>
          </a:solidFill>
          <a:ln/>
        </p:spPr>
        <p:txBody>
          <a:bodyPr/>
          <a:lstStyle/>
          <a:p>
            <a:endParaRPr lang="en-DE"/>
          </a:p>
        </p:txBody>
      </p:sp>
      <p:sp>
        <p:nvSpPr>
          <p:cNvPr id="19" name="Text 14"/>
          <p:cNvSpPr/>
          <p:nvPr/>
        </p:nvSpPr>
        <p:spPr>
          <a:xfrm>
            <a:off x="3506724" y="2816352"/>
            <a:ext cx="2130552" cy="27432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½(ROUGE-L + BERTScore)</a:t>
            </a:r>
            <a:endParaRPr lang="en-US" sz="1000"/>
          </a:p>
        </p:txBody>
      </p:sp>
      <p:sp>
        <p:nvSpPr>
          <p:cNvPr id="20" name="Shape 15"/>
          <p:cNvSpPr/>
          <p:nvPr/>
        </p:nvSpPr>
        <p:spPr>
          <a:xfrm>
            <a:off x="6007608" y="1371600"/>
            <a:ext cx="2679192" cy="1783080"/>
          </a:xfrm>
          <a:prstGeom prst="roundRect">
            <a:avLst>
              <a:gd name="adj" fmla="val 41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1" name="Shape 16"/>
          <p:cNvSpPr/>
          <p:nvPr/>
        </p:nvSpPr>
        <p:spPr>
          <a:xfrm>
            <a:off x="7063740" y="1536192"/>
            <a:ext cx="566928" cy="566928"/>
          </a:xfrm>
          <a:prstGeom prst="ellipse">
            <a:avLst/>
          </a:prstGeom>
          <a:solidFill>
            <a:srgbClr val="E07A5F"/>
          </a:solidFill>
          <a:ln/>
        </p:spPr>
        <p:txBody>
          <a:bodyPr/>
          <a:lstStyle/>
          <a:p>
            <a:endParaRPr lang="en-DE"/>
          </a:p>
        </p:txBody>
      </p:sp>
      <p:sp>
        <p:nvSpPr>
          <p:cNvPr id="23" name="Text 17"/>
          <p:cNvSpPr/>
          <p:nvPr/>
        </p:nvSpPr>
        <p:spPr>
          <a:xfrm>
            <a:off x="6099048" y="2157984"/>
            <a:ext cx="2496312" cy="310896"/>
          </a:xfrm>
          <a:prstGeom prst="rect">
            <a:avLst/>
          </a:prstGeom>
          <a:noFill/>
          <a:ln/>
        </p:spPr>
        <p:txBody>
          <a:bodyPr wrap="square" lIns="0" tIns="0" rIns="0" bIns="0" rtlCol="0" anchor="ctr"/>
          <a:lstStyle/>
          <a:p>
            <a:pPr marL="0" indent="0" algn="ctr">
              <a:buNone/>
            </a:pPr>
            <a:r>
              <a:rPr lang="en-US" sz="1550" b="1">
                <a:solidFill>
                  <a:srgbClr val="0A2E36"/>
                </a:solidFill>
                <a:latin typeface="Cambria" pitchFamily="34" charset="0"/>
                <a:ea typeface="Cambria" pitchFamily="34" charset="-122"/>
                <a:cs typeface="Cambria" pitchFamily="34" charset="-120"/>
              </a:rPr>
              <a:t>Faithfulness</a:t>
            </a:r>
            <a:endParaRPr lang="en-US" sz="1550"/>
          </a:p>
        </p:txBody>
      </p:sp>
      <p:sp>
        <p:nvSpPr>
          <p:cNvPr id="24" name="Text 18"/>
          <p:cNvSpPr/>
          <p:nvPr/>
        </p:nvSpPr>
        <p:spPr>
          <a:xfrm>
            <a:off x="6172200" y="2468880"/>
            <a:ext cx="2350008" cy="384048"/>
          </a:xfrm>
          <a:prstGeom prst="rect">
            <a:avLst/>
          </a:prstGeom>
          <a:noFill/>
          <a:ln/>
        </p:spPr>
        <p:txBody>
          <a:bodyPr wrap="square" lIns="0" tIns="0" rIns="0" bIns="0" rtlCol="0" anchor="ctr"/>
          <a:lstStyle/>
          <a:p>
            <a:pPr marL="0" indent="0" algn="ctr">
              <a:buNone/>
            </a:pPr>
            <a:r>
              <a:rPr lang="en-US" sz="1080">
                <a:solidFill>
                  <a:srgbClr val="55686B"/>
                </a:solidFill>
                <a:latin typeface="Calibri" pitchFamily="34" charset="0"/>
                <a:ea typeface="Calibri" pitchFamily="34" charset="-122"/>
                <a:cs typeface="Calibri" pitchFamily="34" charset="-120"/>
              </a:rPr>
              <a:t>Semantic similarity to human answer</a:t>
            </a:r>
            <a:endParaRPr lang="en-US" sz="1080"/>
          </a:p>
        </p:txBody>
      </p:sp>
      <p:sp>
        <p:nvSpPr>
          <p:cNvPr id="25" name="Shape 19"/>
          <p:cNvSpPr/>
          <p:nvPr/>
        </p:nvSpPr>
        <p:spPr>
          <a:xfrm>
            <a:off x="6281928" y="2816352"/>
            <a:ext cx="2130552" cy="274320"/>
          </a:xfrm>
          <a:prstGeom prst="roundRect">
            <a:avLst>
              <a:gd name="adj" fmla="val 16667"/>
            </a:avLst>
          </a:prstGeom>
          <a:solidFill>
            <a:srgbClr val="E07A5F"/>
          </a:solidFill>
          <a:ln/>
        </p:spPr>
        <p:txBody>
          <a:bodyPr/>
          <a:lstStyle/>
          <a:p>
            <a:endParaRPr lang="en-DE"/>
          </a:p>
        </p:txBody>
      </p:sp>
      <p:sp>
        <p:nvSpPr>
          <p:cNvPr id="26" name="Text 20"/>
          <p:cNvSpPr/>
          <p:nvPr/>
        </p:nvSpPr>
        <p:spPr>
          <a:xfrm>
            <a:off x="6281928" y="2816352"/>
            <a:ext cx="2130552" cy="27432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SBERT</a:t>
            </a:r>
            <a:endParaRPr lang="en-US" sz="1000"/>
          </a:p>
        </p:txBody>
      </p:sp>
      <p:sp>
        <p:nvSpPr>
          <p:cNvPr id="27" name="Shape 21"/>
          <p:cNvSpPr/>
          <p:nvPr/>
        </p:nvSpPr>
        <p:spPr>
          <a:xfrm>
            <a:off x="457200" y="3346704"/>
            <a:ext cx="8229600" cy="713232"/>
          </a:xfrm>
          <a:prstGeom prst="roundRect">
            <a:avLst>
              <a:gd name="adj" fmla="val 1025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28" name="Text 22"/>
          <p:cNvSpPr/>
          <p:nvPr/>
        </p:nvSpPr>
        <p:spPr>
          <a:xfrm>
            <a:off x="548640" y="3346704"/>
            <a:ext cx="8046720" cy="713232"/>
          </a:xfrm>
          <a:prstGeom prst="rect">
            <a:avLst/>
          </a:prstGeom>
          <a:noFill/>
          <a:ln/>
        </p:spPr>
        <p:txBody>
          <a:bodyPr wrap="square" lIns="0" tIns="0" rIns="0" bIns="0" rtlCol="0" anchor="ctr"/>
          <a:lstStyle/>
          <a:p>
            <a:pPr marL="0" indent="0" algn="ctr">
              <a:buNone/>
            </a:pPr>
            <a:r>
              <a:rPr lang="en-US" sz="1700" b="1">
                <a:solidFill>
                  <a:srgbClr val="FFFFFF"/>
                </a:solidFill>
                <a:latin typeface="Calibri" pitchFamily="34" charset="0"/>
                <a:ea typeface="Calibri" pitchFamily="34" charset="-122"/>
                <a:cs typeface="Calibri" pitchFamily="34" charset="-120"/>
              </a:rPr>
              <a:t>ACF  =  </a:t>
            </a:r>
            <a:r>
              <a:rPr lang="en-US" sz="1700" b="1">
                <a:solidFill>
                  <a:srgbClr val="E9B44C"/>
                </a:solidFill>
                <a:latin typeface="Calibri" pitchFamily="34" charset="0"/>
                <a:ea typeface="Calibri" pitchFamily="34" charset="-122"/>
                <a:cs typeface="Calibri" pitchFamily="34" charset="-120"/>
              </a:rPr>
              <a:t>⅓</a:t>
            </a:r>
            <a:r>
              <a:rPr lang="en-US" sz="1700">
                <a:solidFill>
                  <a:srgbClr val="FFFFFF"/>
                </a:solidFill>
                <a:latin typeface="Calibri" pitchFamily="34" charset="0"/>
                <a:ea typeface="Calibri" pitchFamily="34" charset="-122"/>
                <a:cs typeface="Calibri" pitchFamily="34" charset="-120"/>
              </a:rPr>
              <a:t> [  </a:t>
            </a:r>
            <a:r>
              <a:rPr lang="en-US" sz="1700" b="1">
                <a:solidFill>
                  <a:schemeClr val="accent6">
                    <a:lumMod val="60000"/>
                    <a:lumOff val="40000"/>
                  </a:schemeClr>
                </a:solidFill>
                <a:latin typeface="Calibri" pitchFamily="34" charset="0"/>
                <a:ea typeface="Calibri" pitchFamily="34" charset="-122"/>
                <a:cs typeface="Calibri" pitchFamily="34" charset="-120"/>
              </a:rPr>
              <a:t>Accuracy</a:t>
            </a:r>
            <a:r>
              <a:rPr lang="en-US" sz="1700">
                <a:solidFill>
                  <a:srgbClr val="FFFFFF"/>
                </a:solidFill>
                <a:latin typeface="Calibri" pitchFamily="34" charset="0"/>
                <a:ea typeface="Calibri" pitchFamily="34" charset="-122"/>
                <a:cs typeface="Calibri" pitchFamily="34" charset="-120"/>
              </a:rPr>
              <a:t>  +  ½(</a:t>
            </a:r>
            <a:r>
              <a:rPr lang="en-US" sz="1700" b="1">
                <a:solidFill>
                  <a:srgbClr val="8FD3D5"/>
                </a:solidFill>
                <a:latin typeface="Calibri" pitchFamily="34" charset="0"/>
                <a:ea typeface="Calibri" pitchFamily="34" charset="-122"/>
                <a:cs typeface="Calibri" pitchFamily="34" charset="-120"/>
              </a:rPr>
              <a:t>ROUGE-L + BERTScore</a:t>
            </a:r>
            <a:r>
              <a:rPr lang="en-US" sz="1700">
                <a:solidFill>
                  <a:srgbClr val="FFFFFF"/>
                </a:solidFill>
                <a:latin typeface="Calibri" pitchFamily="34" charset="0"/>
                <a:ea typeface="Calibri" pitchFamily="34" charset="-122"/>
                <a:cs typeface="Calibri" pitchFamily="34" charset="-120"/>
              </a:rPr>
              <a:t>)  +  </a:t>
            </a:r>
            <a:r>
              <a:rPr lang="en-US" sz="1700" b="1">
                <a:solidFill>
                  <a:srgbClr val="E07A5F"/>
                </a:solidFill>
                <a:latin typeface="Calibri" pitchFamily="34" charset="0"/>
                <a:ea typeface="Calibri" pitchFamily="34" charset="-122"/>
                <a:cs typeface="Calibri" pitchFamily="34" charset="-120"/>
              </a:rPr>
              <a:t>SBERT</a:t>
            </a:r>
            <a:r>
              <a:rPr lang="en-US" sz="1700">
                <a:solidFill>
                  <a:srgbClr val="FFFFFF"/>
                </a:solidFill>
                <a:latin typeface="Calibri" pitchFamily="34" charset="0"/>
                <a:ea typeface="Calibri" pitchFamily="34" charset="-122"/>
                <a:cs typeface="Calibri" pitchFamily="34" charset="-120"/>
              </a:rPr>
              <a:t>  ]</a:t>
            </a:r>
            <a:endParaRPr lang="en-US" sz="1700"/>
          </a:p>
        </p:txBody>
      </p:sp>
      <p:sp>
        <p:nvSpPr>
          <p:cNvPr id="29" name="Shape 23"/>
          <p:cNvSpPr/>
          <p:nvPr/>
        </p:nvSpPr>
        <p:spPr>
          <a:xfrm>
            <a:off x="457200" y="4187952"/>
            <a:ext cx="5212080" cy="566928"/>
          </a:xfrm>
          <a:prstGeom prst="roundRect">
            <a:avLst>
              <a:gd name="adj" fmla="val 1290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30" name="Text 24"/>
          <p:cNvSpPr/>
          <p:nvPr/>
        </p:nvSpPr>
        <p:spPr>
          <a:xfrm>
            <a:off x="640080" y="4187952"/>
            <a:ext cx="4846320" cy="566928"/>
          </a:xfrm>
          <a:prstGeom prst="rect">
            <a:avLst/>
          </a:prstGeom>
          <a:noFill/>
          <a:ln/>
        </p:spPr>
        <p:txBody>
          <a:bodyPr wrap="square" lIns="0" tIns="0" rIns="0" bIns="0" rtlCol="0" anchor="ctr"/>
          <a:lstStyle/>
          <a:p>
            <a:pPr marL="0" indent="0">
              <a:buNone/>
            </a:pPr>
            <a:r>
              <a:rPr lang="en-US" sz="1100" b="1" dirty="0">
                <a:solidFill>
                  <a:srgbClr val="0E5E5C"/>
                </a:solidFill>
                <a:latin typeface="Calibri" pitchFamily="34" charset="0"/>
                <a:ea typeface="Calibri" pitchFamily="34" charset="-122"/>
                <a:cs typeface="Calibri" pitchFamily="34" charset="-120"/>
              </a:rPr>
              <a:t>Information units  </a:t>
            </a:r>
            <a:r>
              <a:rPr lang="en-US" sz="1100" i="1" dirty="0">
                <a:solidFill>
                  <a:srgbClr val="55686B"/>
                </a:solidFill>
                <a:latin typeface="Calibri" pitchFamily="34" charset="0"/>
                <a:ea typeface="Calibri" pitchFamily="34" charset="-122"/>
                <a:cs typeface="Calibri" pitchFamily="34" charset="-120"/>
              </a:rPr>
              <a:t>“What is the sample size?” → </a:t>
            </a:r>
            <a:r>
              <a:rPr lang="en-US" sz="1100" b="1" dirty="0">
                <a:solidFill>
                  <a:srgbClr val="0A2E36"/>
                </a:solidFill>
                <a:latin typeface="Calibri" pitchFamily="34" charset="0"/>
                <a:ea typeface="Calibri" pitchFamily="34" charset="-122"/>
                <a:cs typeface="Calibri" pitchFamily="34" charset="-120"/>
              </a:rPr>
              <a:t>[ “21,365”, “37” ]</a:t>
            </a:r>
            <a:endParaRPr lang="en-US" sz="1100" dirty="0"/>
          </a:p>
        </p:txBody>
      </p:sp>
      <p:sp>
        <p:nvSpPr>
          <p:cNvPr id="31" name="Shape 25"/>
          <p:cNvSpPr/>
          <p:nvPr/>
        </p:nvSpPr>
        <p:spPr>
          <a:xfrm>
            <a:off x="5852160" y="4187952"/>
            <a:ext cx="2834640" cy="566928"/>
          </a:xfrm>
          <a:prstGeom prst="roundRect">
            <a:avLst>
              <a:gd name="adj" fmla="val 12903"/>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32" name="Text 26"/>
          <p:cNvSpPr/>
          <p:nvPr/>
        </p:nvSpPr>
        <p:spPr>
          <a:xfrm>
            <a:off x="5943600" y="4187952"/>
            <a:ext cx="2651760" cy="566928"/>
          </a:xfrm>
          <a:prstGeom prst="rect">
            <a:avLst/>
          </a:prstGeom>
          <a:noFill/>
          <a:ln/>
        </p:spPr>
        <p:txBody>
          <a:bodyPr wrap="square" lIns="0" tIns="0" rIns="0" bIns="0" rtlCol="0" anchor="ctr"/>
          <a:lstStyle/>
          <a:p>
            <a:pPr marL="0" indent="0" algn="ctr">
              <a:buNone/>
            </a:pPr>
            <a:r>
              <a:rPr lang="en-US" sz="1200" b="1" dirty="0">
                <a:solidFill>
                  <a:srgbClr val="0A2E36"/>
                </a:solidFill>
                <a:latin typeface="Calibri" pitchFamily="34" charset="0"/>
                <a:ea typeface="Calibri" pitchFamily="34" charset="-122"/>
                <a:cs typeface="Calibri" pitchFamily="34" charset="-120"/>
              </a:rPr>
              <a:t>+ 4th dimension:  Readability</a:t>
            </a:r>
            <a:endParaRPr lang="en-US" sz="1200" dirty="0"/>
          </a:p>
        </p:txBody>
      </p:sp>
      <p:sp>
        <p:nvSpPr>
          <p:cNvPr id="33"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15</a:t>
            </a:r>
            <a:endParaRPr lang="en-US" sz="900"/>
          </a:p>
        </p:txBody>
      </p:sp>
      <p:pic>
        <p:nvPicPr>
          <p:cNvPr id="35" name="Graphic 34" descr="Handshake with solid fill">
            <a:extLst>
              <a:ext uri="{FF2B5EF4-FFF2-40B4-BE49-F238E27FC236}">
                <a16:creationId xmlns:a16="http://schemas.microsoft.com/office/drawing/2014/main" id="{63DC9DA7-088A-F5BC-3AED-D51A09B177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63740" y="1585089"/>
            <a:ext cx="552618" cy="5526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Accuracy</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97% of answers were at least partially correct</a:t>
            </a:r>
            <a:endParaRPr lang="en-US" sz="1250"/>
          </a:p>
        </p:txBody>
      </p:sp>
      <p:graphicFrame>
        <p:nvGraphicFramePr>
          <p:cNvPr id="6" name="Chart 0"/>
          <p:cNvGraphicFramePr/>
          <p:nvPr>
            <p:extLst>
              <p:ext uri="{D42A27DB-BD31-4B8C-83A1-F6EECF244321}">
                <p14:modId xmlns:p14="http://schemas.microsoft.com/office/powerpoint/2010/main" val="4054825946"/>
              </p:ext>
            </p:extLst>
          </p:nvPr>
        </p:nvGraphicFramePr>
        <p:xfrm>
          <a:off x="365760" y="1463040"/>
          <a:ext cx="521208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806440" y="1481328"/>
            <a:ext cx="2880360" cy="274320"/>
          </a:xfrm>
          <a:prstGeom prst="rect">
            <a:avLst/>
          </a:prstGeom>
          <a:noFill/>
          <a:ln/>
        </p:spPr>
        <p:txBody>
          <a:bodyPr wrap="square" lIns="0" tIns="0" rIns="0" bIns="0" rtlCol="0" anchor="ctr"/>
          <a:lstStyle/>
          <a:p>
            <a:pPr marL="0" indent="0">
              <a:buNone/>
            </a:pPr>
            <a:r>
              <a:rPr lang="en-US" sz="1250" b="1">
                <a:solidFill>
                  <a:srgbClr val="0E5E5C"/>
                </a:solidFill>
                <a:latin typeface="Calibri" pitchFamily="34" charset="0"/>
                <a:ea typeface="Calibri" pitchFamily="34" charset="-122"/>
                <a:cs typeface="Calibri" pitchFamily="34" charset="-120"/>
              </a:rPr>
              <a:t>Overall accuracy</a:t>
            </a:r>
            <a:endParaRPr lang="en-US" sz="1250"/>
          </a:p>
        </p:txBody>
      </p:sp>
      <p:sp>
        <p:nvSpPr>
          <p:cNvPr id="8" name="Shape 4"/>
          <p:cNvSpPr/>
          <p:nvPr/>
        </p:nvSpPr>
        <p:spPr>
          <a:xfrm>
            <a:off x="5806440" y="1810512"/>
            <a:ext cx="288036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Shape 5"/>
          <p:cNvSpPr/>
          <p:nvPr/>
        </p:nvSpPr>
        <p:spPr>
          <a:xfrm>
            <a:off x="5989320" y="1993392"/>
            <a:ext cx="237744" cy="237744"/>
          </a:xfrm>
          <a:prstGeom prst="ellipse">
            <a:avLst/>
          </a:prstGeom>
          <a:solidFill>
            <a:srgbClr val="127475"/>
          </a:solidFill>
          <a:ln/>
        </p:spPr>
        <p:txBody>
          <a:bodyPr/>
          <a:lstStyle/>
          <a:p>
            <a:endParaRPr lang="en-DE"/>
          </a:p>
        </p:txBody>
      </p:sp>
      <p:sp>
        <p:nvSpPr>
          <p:cNvPr id="10" name="Text 6"/>
          <p:cNvSpPr/>
          <p:nvPr/>
        </p:nvSpPr>
        <p:spPr>
          <a:xfrm>
            <a:off x="6355080" y="1810512"/>
            <a:ext cx="1463040" cy="603504"/>
          </a:xfrm>
          <a:prstGeom prst="rect">
            <a:avLst/>
          </a:prstGeom>
          <a:noFill/>
          <a:ln/>
        </p:spPr>
        <p:txBody>
          <a:bodyPr wrap="square" lIns="0" tIns="0" rIns="0" bIns="0" rtlCol="0" anchor="ctr"/>
          <a:lstStyle/>
          <a:p>
            <a:pPr marL="0" indent="0">
              <a:buNone/>
            </a:pPr>
            <a:r>
              <a:rPr lang="en-US" sz="1150" b="1">
                <a:solidFill>
                  <a:srgbClr val="183036"/>
                </a:solidFill>
                <a:latin typeface="Calibri" pitchFamily="34" charset="0"/>
                <a:ea typeface="Calibri" pitchFamily="34" charset="-122"/>
                <a:cs typeface="Calibri" pitchFamily="34" charset="-120"/>
              </a:rPr>
              <a:t>ChatGPT 5.2</a:t>
            </a:r>
            <a:endParaRPr lang="en-US" sz="1150"/>
          </a:p>
        </p:txBody>
      </p:sp>
      <p:sp>
        <p:nvSpPr>
          <p:cNvPr id="11" name="Text 7"/>
          <p:cNvSpPr/>
          <p:nvPr/>
        </p:nvSpPr>
        <p:spPr>
          <a:xfrm>
            <a:off x="7772400" y="1810512"/>
            <a:ext cx="841248" cy="603504"/>
          </a:xfrm>
          <a:prstGeom prst="rect">
            <a:avLst/>
          </a:prstGeom>
          <a:noFill/>
          <a:ln/>
        </p:spPr>
        <p:txBody>
          <a:bodyPr wrap="square" lIns="0" tIns="0" rIns="0" bIns="0" rtlCol="0" anchor="ctr"/>
          <a:lstStyle/>
          <a:p>
            <a:pPr marL="0" indent="0" algn="r">
              <a:buNone/>
            </a:pPr>
            <a:r>
              <a:rPr lang="en-US" sz="1700" b="1">
                <a:solidFill>
                  <a:srgbClr val="127475"/>
                </a:solidFill>
                <a:latin typeface="Cambria" pitchFamily="34" charset="0"/>
                <a:ea typeface="Cambria" pitchFamily="34" charset="-122"/>
                <a:cs typeface="Cambria" pitchFamily="34" charset="-120"/>
              </a:rPr>
              <a:t>88.9%</a:t>
            </a:r>
            <a:endParaRPr lang="en-US" sz="1700"/>
          </a:p>
        </p:txBody>
      </p:sp>
      <p:sp>
        <p:nvSpPr>
          <p:cNvPr id="12" name="Shape 8"/>
          <p:cNvSpPr/>
          <p:nvPr/>
        </p:nvSpPr>
        <p:spPr>
          <a:xfrm>
            <a:off x="5806440" y="2487168"/>
            <a:ext cx="288036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Shape 9"/>
          <p:cNvSpPr/>
          <p:nvPr/>
        </p:nvSpPr>
        <p:spPr>
          <a:xfrm>
            <a:off x="5989320" y="2670048"/>
            <a:ext cx="237744" cy="237744"/>
          </a:xfrm>
          <a:prstGeom prst="ellipse">
            <a:avLst/>
          </a:prstGeom>
          <a:solidFill>
            <a:srgbClr val="E07A5F"/>
          </a:solidFill>
          <a:ln/>
        </p:spPr>
        <p:txBody>
          <a:bodyPr/>
          <a:lstStyle/>
          <a:p>
            <a:endParaRPr lang="en-DE"/>
          </a:p>
        </p:txBody>
      </p:sp>
      <p:sp>
        <p:nvSpPr>
          <p:cNvPr id="14" name="Text 10"/>
          <p:cNvSpPr/>
          <p:nvPr/>
        </p:nvSpPr>
        <p:spPr>
          <a:xfrm>
            <a:off x="6355080" y="2487168"/>
            <a:ext cx="1463040" cy="603504"/>
          </a:xfrm>
          <a:prstGeom prst="rect">
            <a:avLst/>
          </a:prstGeom>
          <a:noFill/>
          <a:ln/>
        </p:spPr>
        <p:txBody>
          <a:bodyPr wrap="square" lIns="0" tIns="0" rIns="0" bIns="0" rtlCol="0" anchor="ctr"/>
          <a:lstStyle/>
          <a:p>
            <a:pPr marL="0" indent="0">
              <a:buNone/>
            </a:pPr>
            <a:r>
              <a:rPr lang="en-US" sz="1150" b="1">
                <a:solidFill>
                  <a:srgbClr val="183036"/>
                </a:solidFill>
                <a:latin typeface="Calibri" pitchFamily="34" charset="0"/>
                <a:ea typeface="Calibri" pitchFamily="34" charset="-122"/>
                <a:cs typeface="Calibri" pitchFamily="34" charset="-120"/>
              </a:rPr>
              <a:t>Claude Opus 4.6</a:t>
            </a:r>
            <a:endParaRPr lang="en-US" sz="1150"/>
          </a:p>
        </p:txBody>
      </p:sp>
      <p:sp>
        <p:nvSpPr>
          <p:cNvPr id="15" name="Text 11"/>
          <p:cNvSpPr/>
          <p:nvPr/>
        </p:nvSpPr>
        <p:spPr>
          <a:xfrm>
            <a:off x="7772400" y="2487168"/>
            <a:ext cx="841248" cy="603504"/>
          </a:xfrm>
          <a:prstGeom prst="rect">
            <a:avLst/>
          </a:prstGeom>
          <a:noFill/>
          <a:ln/>
        </p:spPr>
        <p:txBody>
          <a:bodyPr wrap="square" lIns="0" tIns="0" rIns="0" bIns="0" rtlCol="0" anchor="ctr"/>
          <a:lstStyle/>
          <a:p>
            <a:pPr marL="0" indent="0" algn="r">
              <a:buNone/>
            </a:pPr>
            <a:r>
              <a:rPr lang="en-US" sz="1700" b="1">
                <a:solidFill>
                  <a:srgbClr val="E07A5F"/>
                </a:solidFill>
                <a:latin typeface="Cambria" pitchFamily="34" charset="0"/>
                <a:ea typeface="Cambria" pitchFamily="34" charset="-122"/>
                <a:cs typeface="Cambria" pitchFamily="34" charset="-120"/>
              </a:rPr>
              <a:t>83.3%</a:t>
            </a:r>
            <a:endParaRPr lang="en-US" sz="1700"/>
          </a:p>
        </p:txBody>
      </p:sp>
      <p:sp>
        <p:nvSpPr>
          <p:cNvPr id="16" name="Shape 12"/>
          <p:cNvSpPr/>
          <p:nvPr/>
        </p:nvSpPr>
        <p:spPr>
          <a:xfrm>
            <a:off x="5806440" y="3163824"/>
            <a:ext cx="2880360" cy="603504"/>
          </a:xfrm>
          <a:prstGeom prst="roundRect">
            <a:avLst>
              <a:gd name="adj" fmla="val 12121"/>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Shape 13"/>
          <p:cNvSpPr/>
          <p:nvPr/>
        </p:nvSpPr>
        <p:spPr>
          <a:xfrm>
            <a:off x="5989320" y="3346704"/>
            <a:ext cx="237744" cy="237744"/>
          </a:xfrm>
          <a:prstGeom prst="ellipse">
            <a:avLst/>
          </a:prstGeom>
          <a:solidFill>
            <a:srgbClr val="3D5A80"/>
          </a:solidFill>
          <a:ln/>
        </p:spPr>
        <p:txBody>
          <a:bodyPr/>
          <a:lstStyle/>
          <a:p>
            <a:endParaRPr lang="en-DE"/>
          </a:p>
        </p:txBody>
      </p:sp>
      <p:sp>
        <p:nvSpPr>
          <p:cNvPr id="18" name="Text 14"/>
          <p:cNvSpPr/>
          <p:nvPr/>
        </p:nvSpPr>
        <p:spPr>
          <a:xfrm>
            <a:off x="6355080" y="3163824"/>
            <a:ext cx="1463040" cy="603504"/>
          </a:xfrm>
          <a:prstGeom prst="rect">
            <a:avLst/>
          </a:prstGeom>
          <a:noFill/>
          <a:ln/>
        </p:spPr>
        <p:txBody>
          <a:bodyPr wrap="square" lIns="0" tIns="0" rIns="0" bIns="0" rtlCol="0" anchor="ctr"/>
          <a:lstStyle/>
          <a:p>
            <a:pPr marL="0" indent="0">
              <a:buNone/>
            </a:pPr>
            <a:r>
              <a:rPr lang="en-US" sz="1150" b="1">
                <a:solidFill>
                  <a:srgbClr val="183036"/>
                </a:solidFill>
                <a:latin typeface="Calibri" pitchFamily="34" charset="0"/>
                <a:ea typeface="Calibri" pitchFamily="34" charset="-122"/>
                <a:cs typeface="Calibri" pitchFamily="34" charset="-120"/>
              </a:rPr>
              <a:t>Gemini 3 Pro</a:t>
            </a:r>
            <a:endParaRPr lang="en-US" sz="1150"/>
          </a:p>
        </p:txBody>
      </p:sp>
      <p:sp>
        <p:nvSpPr>
          <p:cNvPr id="19" name="Text 15"/>
          <p:cNvSpPr/>
          <p:nvPr/>
        </p:nvSpPr>
        <p:spPr>
          <a:xfrm>
            <a:off x="7772400" y="3163824"/>
            <a:ext cx="841248" cy="603504"/>
          </a:xfrm>
          <a:prstGeom prst="rect">
            <a:avLst/>
          </a:prstGeom>
          <a:noFill/>
          <a:ln/>
        </p:spPr>
        <p:txBody>
          <a:bodyPr wrap="square" lIns="0" tIns="0" rIns="0" bIns="0" rtlCol="0" anchor="ctr"/>
          <a:lstStyle/>
          <a:p>
            <a:pPr marL="0" indent="0" algn="r">
              <a:buNone/>
            </a:pPr>
            <a:r>
              <a:rPr lang="en-US" sz="1700" b="1">
                <a:solidFill>
                  <a:srgbClr val="3D5A80"/>
                </a:solidFill>
                <a:latin typeface="Cambria" pitchFamily="34" charset="0"/>
                <a:ea typeface="Cambria" pitchFamily="34" charset="-122"/>
                <a:cs typeface="Cambria" pitchFamily="34" charset="-120"/>
              </a:rPr>
              <a:t>80.6%</a:t>
            </a:r>
            <a:endParaRPr lang="en-US" sz="1700"/>
          </a:p>
        </p:txBody>
      </p:sp>
      <p:sp>
        <p:nvSpPr>
          <p:cNvPr id="20" name="Shape 16"/>
          <p:cNvSpPr/>
          <p:nvPr/>
        </p:nvSpPr>
        <p:spPr>
          <a:xfrm>
            <a:off x="5806440" y="3913632"/>
            <a:ext cx="2880360" cy="658368"/>
          </a:xfrm>
          <a:prstGeom prst="roundRect">
            <a:avLst>
              <a:gd name="adj" fmla="val 11111"/>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21" name="Text 17"/>
          <p:cNvSpPr/>
          <p:nvPr/>
        </p:nvSpPr>
        <p:spPr>
          <a:xfrm>
            <a:off x="5989320" y="3913632"/>
            <a:ext cx="2560320" cy="658368"/>
          </a:xfrm>
          <a:prstGeom prst="rect">
            <a:avLst/>
          </a:prstGeom>
          <a:noFill/>
          <a:ln/>
        </p:spPr>
        <p:txBody>
          <a:bodyPr wrap="square" lIns="0" tIns="0" rIns="0" bIns="0" rtlCol="0" anchor="ctr"/>
          <a:lstStyle/>
          <a:p>
            <a:pPr marL="0" indent="0">
              <a:buNone/>
            </a:pPr>
            <a:r>
              <a:rPr lang="en-US" sz="1050" b="1">
                <a:solidFill>
                  <a:srgbClr val="FFFFFF"/>
                </a:solidFill>
                <a:latin typeface="Calibri" pitchFamily="34" charset="0"/>
                <a:ea typeface="Calibri" pitchFamily="34" charset="-122"/>
                <a:cs typeface="Calibri" pitchFamily="34" charset="-120"/>
              </a:rPr>
              <a:t>Only 3 incorrect answers</a:t>
            </a:r>
            <a:endParaRPr lang="en-US" sz="1050"/>
          </a:p>
          <a:p>
            <a:pPr marL="0" indent="0">
              <a:buNone/>
            </a:pPr>
            <a:r>
              <a:rPr lang="en-US" sz="1050" i="1">
                <a:solidFill>
                  <a:srgbClr val="9AD1D4"/>
                </a:solidFill>
                <a:latin typeface="Calibri" pitchFamily="34" charset="0"/>
                <a:ea typeface="Calibri" pitchFamily="34" charset="-122"/>
                <a:cs typeface="Calibri" pitchFamily="34" charset="-120"/>
              </a:rPr>
              <a:t>all from misreading, none from hallucination</a:t>
            </a:r>
            <a:endParaRPr lang="en-US" sz="1050"/>
          </a:p>
        </p:txBody>
      </p:sp>
      <p:sp>
        <p:nvSpPr>
          <p:cNvPr id="22" name="Text 18"/>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16</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2E80E-6607-4B72-5065-5AAC25A138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807BB3B-9A27-A076-3EB5-4881097FD11A}"/>
              </a:ext>
            </a:extLst>
          </p:cNvPr>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a:extLst>
              <a:ext uri="{FF2B5EF4-FFF2-40B4-BE49-F238E27FC236}">
                <a16:creationId xmlns:a16="http://schemas.microsoft.com/office/drawing/2014/main" id="{6E23BF34-2C6B-E1F2-6A5F-4DB395A31C0D}"/>
              </a:ext>
            </a:extLst>
          </p:cNvPr>
          <p:cNvPicPr>
            <a:picLocks noChangeAspect="1"/>
          </p:cNvPicPr>
          <p:nvPr/>
        </p:nvPicPr>
        <p:blipFill>
          <a:blip r:embed="rId3"/>
          <a:stretch>
            <a:fillRect/>
          </a:stretch>
        </p:blipFill>
        <p:spPr>
          <a:xfrm>
            <a:off x="604601" y="458297"/>
            <a:ext cx="272125" cy="272125"/>
          </a:xfrm>
          <a:prstGeom prst="rect">
            <a:avLst/>
          </a:prstGeom>
        </p:spPr>
      </p:pic>
      <p:sp>
        <p:nvSpPr>
          <p:cNvPr id="4" name="Text 1">
            <a:extLst>
              <a:ext uri="{FF2B5EF4-FFF2-40B4-BE49-F238E27FC236}">
                <a16:creationId xmlns:a16="http://schemas.microsoft.com/office/drawing/2014/main" id="{180766E7-C4C1-8D05-53A7-95913BACFC7D}"/>
              </a:ext>
            </a:extLst>
          </p:cNvPr>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Completeness and Faithfulness</a:t>
            </a:r>
            <a:endParaRPr lang="en-US" sz="2700" dirty="0"/>
          </a:p>
        </p:txBody>
      </p:sp>
      <p:sp>
        <p:nvSpPr>
          <p:cNvPr id="5" name="Text 2">
            <a:extLst>
              <a:ext uri="{FF2B5EF4-FFF2-40B4-BE49-F238E27FC236}">
                <a16:creationId xmlns:a16="http://schemas.microsoft.com/office/drawing/2014/main" id="{94AC7281-2433-48F2-F116-A116C9B464BC}"/>
              </a:ext>
            </a:extLst>
          </p:cNvPr>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Comparable performance, with each model strong on a different axis</a:t>
            </a:r>
            <a:endParaRPr lang="en-US" sz="1250"/>
          </a:p>
        </p:txBody>
      </p:sp>
      <p:sp>
        <p:nvSpPr>
          <p:cNvPr id="7" name="Text 3">
            <a:extLst>
              <a:ext uri="{FF2B5EF4-FFF2-40B4-BE49-F238E27FC236}">
                <a16:creationId xmlns:a16="http://schemas.microsoft.com/office/drawing/2014/main" id="{67D8D692-D6BE-7665-F9BD-58B2F847DAB4}"/>
              </a:ext>
            </a:extLst>
          </p:cNvPr>
          <p:cNvSpPr/>
          <p:nvPr/>
        </p:nvSpPr>
        <p:spPr>
          <a:xfrm>
            <a:off x="6172200" y="1417320"/>
            <a:ext cx="251460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Components of ACF score</a:t>
            </a:r>
            <a:endParaRPr lang="en-US" sz="1250" dirty="0"/>
          </a:p>
        </p:txBody>
      </p:sp>
      <p:sp>
        <p:nvSpPr>
          <p:cNvPr id="8" name="Shape 4">
            <a:extLst>
              <a:ext uri="{FF2B5EF4-FFF2-40B4-BE49-F238E27FC236}">
                <a16:creationId xmlns:a16="http://schemas.microsoft.com/office/drawing/2014/main" id="{9B7D7EDB-7DC3-8213-967A-68ED1726A32B}"/>
              </a:ext>
            </a:extLst>
          </p:cNvPr>
          <p:cNvSpPr/>
          <p:nvPr/>
        </p:nvSpPr>
        <p:spPr>
          <a:xfrm>
            <a:off x="6172200" y="1755648"/>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a:extLst>
              <a:ext uri="{FF2B5EF4-FFF2-40B4-BE49-F238E27FC236}">
                <a16:creationId xmlns:a16="http://schemas.microsoft.com/office/drawing/2014/main" id="{1EDDE4FC-A0A1-DEEB-FC9E-F7D53E800AD5}"/>
              </a:ext>
            </a:extLst>
          </p:cNvPr>
          <p:cNvSpPr/>
          <p:nvPr/>
        </p:nvSpPr>
        <p:spPr>
          <a:xfrm>
            <a:off x="6355080" y="1865376"/>
            <a:ext cx="2194560" cy="274320"/>
          </a:xfrm>
          <a:prstGeom prst="rect">
            <a:avLst/>
          </a:prstGeom>
          <a:noFill/>
          <a:ln/>
        </p:spPr>
        <p:txBody>
          <a:bodyPr wrap="square" lIns="0" tIns="0" rIns="0" bIns="0" rtlCol="0" anchor="ctr"/>
          <a:lstStyle/>
          <a:p>
            <a:pPr marL="0" indent="0">
              <a:buNone/>
            </a:pPr>
            <a:r>
              <a:rPr lang="en-US" sz="1250" b="1">
                <a:solidFill>
                  <a:srgbClr val="127475"/>
                </a:solidFill>
                <a:latin typeface="Cambria" pitchFamily="34" charset="0"/>
                <a:ea typeface="Cambria" pitchFamily="34" charset="-122"/>
                <a:cs typeface="Cambria" pitchFamily="34" charset="-120"/>
              </a:rPr>
              <a:t>ChatGPT 5.2</a:t>
            </a:r>
            <a:endParaRPr lang="en-US" sz="1250"/>
          </a:p>
        </p:txBody>
      </p:sp>
      <p:sp>
        <p:nvSpPr>
          <p:cNvPr id="10" name="Text 6">
            <a:extLst>
              <a:ext uri="{FF2B5EF4-FFF2-40B4-BE49-F238E27FC236}">
                <a16:creationId xmlns:a16="http://schemas.microsoft.com/office/drawing/2014/main" id="{E1DEDE5B-907C-D065-63D5-B5ED558C1919}"/>
              </a:ext>
            </a:extLst>
          </p:cNvPr>
          <p:cNvSpPr/>
          <p:nvPr/>
        </p:nvSpPr>
        <p:spPr>
          <a:xfrm>
            <a:off x="6355080" y="2139696"/>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Highest </a:t>
            </a:r>
            <a:r>
              <a:rPr lang="en-US" sz="1000" dirty="0" err="1">
                <a:solidFill>
                  <a:srgbClr val="55686B"/>
                </a:solidFill>
                <a:latin typeface="Calibri" pitchFamily="34" charset="0"/>
                <a:ea typeface="Calibri" pitchFamily="34" charset="-122"/>
                <a:cs typeface="Calibri" pitchFamily="34" charset="-120"/>
              </a:rPr>
              <a:t>SBert</a:t>
            </a:r>
            <a:r>
              <a:rPr lang="en-US" sz="1000" dirty="0">
                <a:solidFill>
                  <a:srgbClr val="55686B"/>
                </a:solidFill>
                <a:latin typeface="Calibri" pitchFamily="34" charset="0"/>
                <a:ea typeface="Calibri" pitchFamily="34" charset="-122"/>
                <a:cs typeface="Calibri" pitchFamily="34" charset="-120"/>
              </a:rPr>
              <a:t>. Most faithful answers</a:t>
            </a:r>
            <a:endParaRPr lang="en-US" sz="1000" dirty="0"/>
          </a:p>
        </p:txBody>
      </p:sp>
      <p:sp>
        <p:nvSpPr>
          <p:cNvPr id="11" name="Shape 7">
            <a:extLst>
              <a:ext uri="{FF2B5EF4-FFF2-40B4-BE49-F238E27FC236}">
                <a16:creationId xmlns:a16="http://schemas.microsoft.com/office/drawing/2014/main" id="{45101469-D1D6-5E10-23B4-16C01ACB3086}"/>
              </a:ext>
            </a:extLst>
          </p:cNvPr>
          <p:cNvSpPr/>
          <p:nvPr/>
        </p:nvSpPr>
        <p:spPr>
          <a:xfrm>
            <a:off x="6172200" y="2706624"/>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dirty="0"/>
          </a:p>
        </p:txBody>
      </p:sp>
      <p:sp>
        <p:nvSpPr>
          <p:cNvPr id="12" name="Text 8">
            <a:extLst>
              <a:ext uri="{FF2B5EF4-FFF2-40B4-BE49-F238E27FC236}">
                <a16:creationId xmlns:a16="http://schemas.microsoft.com/office/drawing/2014/main" id="{0368F65A-F9B3-2982-314D-F7AE0DE43855}"/>
              </a:ext>
            </a:extLst>
          </p:cNvPr>
          <p:cNvSpPr/>
          <p:nvPr/>
        </p:nvSpPr>
        <p:spPr>
          <a:xfrm>
            <a:off x="6355080" y="2816352"/>
            <a:ext cx="2194560" cy="274320"/>
          </a:xfrm>
          <a:prstGeom prst="rect">
            <a:avLst/>
          </a:prstGeom>
          <a:noFill/>
          <a:ln/>
        </p:spPr>
        <p:txBody>
          <a:bodyPr wrap="square" lIns="0" tIns="0" rIns="0" bIns="0" rtlCol="0" anchor="ctr"/>
          <a:lstStyle/>
          <a:p>
            <a:pPr marL="0" indent="0">
              <a:buNone/>
            </a:pPr>
            <a:r>
              <a:rPr lang="en-US" sz="1250" b="1" dirty="0">
                <a:solidFill>
                  <a:srgbClr val="E07A5F"/>
                </a:solidFill>
                <a:latin typeface="Cambria" pitchFamily="34" charset="0"/>
                <a:ea typeface="Cambria" pitchFamily="34" charset="-122"/>
                <a:cs typeface="Cambria" pitchFamily="34" charset="-120"/>
              </a:rPr>
              <a:t>Claude Opus 4.6</a:t>
            </a:r>
            <a:endParaRPr lang="en-US" sz="1250" dirty="0"/>
          </a:p>
        </p:txBody>
      </p:sp>
      <p:sp>
        <p:nvSpPr>
          <p:cNvPr id="13" name="Text 9">
            <a:extLst>
              <a:ext uri="{FF2B5EF4-FFF2-40B4-BE49-F238E27FC236}">
                <a16:creationId xmlns:a16="http://schemas.microsoft.com/office/drawing/2014/main" id="{21473474-94A5-CCA4-93EB-4D86064708AD}"/>
              </a:ext>
            </a:extLst>
          </p:cNvPr>
          <p:cNvSpPr/>
          <p:nvPr/>
        </p:nvSpPr>
        <p:spPr>
          <a:xfrm>
            <a:off x="6355080" y="3090672"/>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Highest Rouge-L. Most complete answers</a:t>
            </a:r>
            <a:endParaRPr lang="en-US" sz="1000" dirty="0"/>
          </a:p>
        </p:txBody>
      </p:sp>
      <p:sp>
        <p:nvSpPr>
          <p:cNvPr id="14" name="Shape 10">
            <a:extLst>
              <a:ext uri="{FF2B5EF4-FFF2-40B4-BE49-F238E27FC236}">
                <a16:creationId xmlns:a16="http://schemas.microsoft.com/office/drawing/2014/main" id="{2459CE5C-0AA7-D94B-3376-9486D6E08F6A}"/>
              </a:ext>
            </a:extLst>
          </p:cNvPr>
          <p:cNvSpPr/>
          <p:nvPr/>
        </p:nvSpPr>
        <p:spPr>
          <a:xfrm>
            <a:off x="6172200" y="3657600"/>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Text 11">
            <a:extLst>
              <a:ext uri="{FF2B5EF4-FFF2-40B4-BE49-F238E27FC236}">
                <a16:creationId xmlns:a16="http://schemas.microsoft.com/office/drawing/2014/main" id="{72639F85-047D-1ACB-0ACD-B60E036682E9}"/>
              </a:ext>
            </a:extLst>
          </p:cNvPr>
          <p:cNvSpPr/>
          <p:nvPr/>
        </p:nvSpPr>
        <p:spPr>
          <a:xfrm>
            <a:off x="6355080" y="3767328"/>
            <a:ext cx="2194560" cy="274320"/>
          </a:xfrm>
          <a:prstGeom prst="rect">
            <a:avLst/>
          </a:prstGeom>
          <a:noFill/>
          <a:ln/>
        </p:spPr>
        <p:txBody>
          <a:bodyPr wrap="square" lIns="0" tIns="0" rIns="0" bIns="0" rtlCol="0" anchor="ctr"/>
          <a:lstStyle/>
          <a:p>
            <a:pPr marL="0" indent="0">
              <a:buNone/>
            </a:pPr>
            <a:r>
              <a:rPr lang="en-US" sz="1250" b="1">
                <a:solidFill>
                  <a:srgbClr val="3D5A80"/>
                </a:solidFill>
                <a:latin typeface="Cambria" pitchFamily="34" charset="0"/>
                <a:ea typeface="Cambria" pitchFamily="34" charset="-122"/>
                <a:cs typeface="Cambria" pitchFamily="34" charset="-120"/>
              </a:rPr>
              <a:t>Gemini 3 Pro</a:t>
            </a:r>
            <a:endParaRPr lang="en-US" sz="1250"/>
          </a:p>
        </p:txBody>
      </p:sp>
      <p:sp>
        <p:nvSpPr>
          <p:cNvPr id="16" name="Text 12">
            <a:extLst>
              <a:ext uri="{FF2B5EF4-FFF2-40B4-BE49-F238E27FC236}">
                <a16:creationId xmlns:a16="http://schemas.microsoft.com/office/drawing/2014/main" id="{A6DD5DA0-DB88-41DA-1BA3-C81278158E95}"/>
              </a:ext>
            </a:extLst>
          </p:cNvPr>
          <p:cNvSpPr/>
          <p:nvPr/>
        </p:nvSpPr>
        <p:spPr>
          <a:xfrm>
            <a:off x="6355080" y="4041648"/>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cs typeface="Calibri" pitchFamily="34" charset="-120"/>
              </a:rPr>
              <a:t>Highest </a:t>
            </a:r>
            <a:r>
              <a:rPr lang="en-US" sz="1000" dirty="0" err="1">
                <a:solidFill>
                  <a:srgbClr val="55686B"/>
                </a:solidFill>
                <a:latin typeface="Calibri" pitchFamily="34" charset="0"/>
                <a:cs typeface="Calibri" pitchFamily="34" charset="-120"/>
              </a:rPr>
              <a:t>BertScore</a:t>
            </a:r>
            <a:r>
              <a:rPr lang="en-US" sz="1000" dirty="0">
                <a:solidFill>
                  <a:srgbClr val="55686B"/>
                </a:solidFill>
                <a:latin typeface="Calibri" pitchFamily="34" charset="0"/>
                <a:cs typeface="Calibri" pitchFamily="34" charset="-120"/>
              </a:rPr>
              <a:t>. Most concise answers</a:t>
            </a:r>
            <a:endParaRPr lang="en-US" sz="1000" dirty="0"/>
          </a:p>
        </p:txBody>
      </p:sp>
      <p:sp>
        <p:nvSpPr>
          <p:cNvPr id="17" name="Text 13">
            <a:extLst>
              <a:ext uri="{FF2B5EF4-FFF2-40B4-BE49-F238E27FC236}">
                <a16:creationId xmlns:a16="http://schemas.microsoft.com/office/drawing/2014/main" id="{EF04BC6A-6723-C8E7-58BB-34B941AE43FE}"/>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17</a:t>
            </a:r>
            <a:endParaRPr lang="en-US" sz="900"/>
          </a:p>
        </p:txBody>
      </p:sp>
      <p:pic>
        <p:nvPicPr>
          <p:cNvPr id="18" name="Picture 17">
            <a:extLst>
              <a:ext uri="{FF2B5EF4-FFF2-40B4-BE49-F238E27FC236}">
                <a16:creationId xmlns:a16="http://schemas.microsoft.com/office/drawing/2014/main" id="{AD32B870-C242-2765-DDF7-4547418E8F91}"/>
              </a:ext>
            </a:extLst>
          </p:cNvPr>
          <p:cNvPicPr>
            <a:picLocks noChangeAspect="1"/>
          </p:cNvPicPr>
          <p:nvPr/>
        </p:nvPicPr>
        <p:blipFill>
          <a:blip r:embed="rId4"/>
          <a:stretch>
            <a:fillRect/>
          </a:stretch>
        </p:blipFill>
        <p:spPr>
          <a:xfrm>
            <a:off x="33619" y="1691640"/>
            <a:ext cx="6106611" cy="2747975"/>
          </a:xfrm>
          <a:prstGeom prst="rect">
            <a:avLst/>
          </a:prstGeom>
        </p:spPr>
      </p:pic>
    </p:spTree>
    <p:extLst>
      <p:ext uri="{BB962C8B-B14F-4D97-AF65-F5344CB8AC3E}">
        <p14:creationId xmlns:p14="http://schemas.microsoft.com/office/powerpoint/2010/main" val="3892003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The ACF score</a:t>
            </a:r>
            <a:endParaRPr lang="en-US" sz="2700" dirty="0"/>
          </a:p>
        </p:txBody>
      </p:sp>
      <p:graphicFrame>
        <p:nvGraphicFramePr>
          <p:cNvPr id="6" name="Chart 0"/>
          <p:cNvGraphicFramePr/>
          <p:nvPr/>
        </p:nvGraphicFramePr>
        <p:xfrm>
          <a:off x="365760" y="1417320"/>
          <a:ext cx="56692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6172200" y="1417320"/>
            <a:ext cx="251460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ACF Score</a:t>
            </a:r>
            <a:endParaRPr lang="en-US" sz="1250" dirty="0"/>
          </a:p>
        </p:txBody>
      </p:sp>
      <p:sp>
        <p:nvSpPr>
          <p:cNvPr id="8" name="Shape 4"/>
          <p:cNvSpPr/>
          <p:nvPr/>
        </p:nvSpPr>
        <p:spPr>
          <a:xfrm>
            <a:off x="6172200" y="1755648"/>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p:cNvSpPr/>
          <p:nvPr/>
        </p:nvSpPr>
        <p:spPr>
          <a:xfrm>
            <a:off x="6355080" y="1865376"/>
            <a:ext cx="2194560" cy="274320"/>
          </a:xfrm>
          <a:prstGeom prst="rect">
            <a:avLst/>
          </a:prstGeom>
          <a:noFill/>
          <a:ln/>
        </p:spPr>
        <p:txBody>
          <a:bodyPr wrap="square" lIns="0" tIns="0" rIns="0" bIns="0" rtlCol="0" anchor="ctr"/>
          <a:lstStyle/>
          <a:p>
            <a:pPr marL="0" indent="0">
              <a:buNone/>
            </a:pPr>
            <a:r>
              <a:rPr lang="en-US" sz="1250" b="1" dirty="0">
                <a:solidFill>
                  <a:srgbClr val="127475"/>
                </a:solidFill>
                <a:latin typeface="Cambria" pitchFamily="34" charset="0"/>
                <a:ea typeface="Cambria" pitchFamily="34" charset="-122"/>
                <a:cs typeface="Cambria" pitchFamily="34" charset="-120"/>
              </a:rPr>
              <a:t>ChatGPT 5.2</a:t>
            </a:r>
            <a:endParaRPr lang="en-US" sz="1250" dirty="0"/>
          </a:p>
        </p:txBody>
      </p:sp>
      <p:sp>
        <p:nvSpPr>
          <p:cNvPr id="10" name="Text 6"/>
          <p:cNvSpPr/>
          <p:nvPr/>
        </p:nvSpPr>
        <p:spPr>
          <a:xfrm>
            <a:off x="6355080" y="2139696"/>
            <a:ext cx="2240280" cy="420624"/>
          </a:xfrm>
          <a:prstGeom prst="rect">
            <a:avLst/>
          </a:prstGeom>
          <a:noFill/>
          <a:ln/>
        </p:spPr>
        <p:txBody>
          <a:bodyPr wrap="square" lIns="0" tIns="0" rIns="0" bIns="0" rtlCol="0" anchor="ctr"/>
          <a:lstStyle/>
          <a:p>
            <a:r>
              <a:rPr lang="en-US" sz="1000" dirty="0">
                <a:solidFill>
                  <a:srgbClr val="55686B"/>
                </a:solidFill>
                <a:latin typeface="Calibri" pitchFamily="34" charset="0"/>
                <a:ea typeface="Calibri" pitchFamily="34" charset="-122"/>
                <a:cs typeface="Calibri" pitchFamily="34" charset="-120"/>
              </a:rPr>
              <a:t>Best overall, highest accuracy and faithfulness</a:t>
            </a:r>
            <a:endParaRPr lang="en-US" sz="1000" b="1" dirty="0"/>
          </a:p>
        </p:txBody>
      </p:sp>
      <p:sp>
        <p:nvSpPr>
          <p:cNvPr id="11" name="Shape 7"/>
          <p:cNvSpPr/>
          <p:nvPr/>
        </p:nvSpPr>
        <p:spPr>
          <a:xfrm>
            <a:off x="6172200" y="2706624"/>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2" name="Text 8"/>
          <p:cNvSpPr/>
          <p:nvPr/>
        </p:nvSpPr>
        <p:spPr>
          <a:xfrm>
            <a:off x="6355080" y="2816352"/>
            <a:ext cx="2194560" cy="274320"/>
          </a:xfrm>
          <a:prstGeom prst="rect">
            <a:avLst/>
          </a:prstGeom>
          <a:noFill/>
          <a:ln/>
        </p:spPr>
        <p:txBody>
          <a:bodyPr wrap="square" lIns="0" tIns="0" rIns="0" bIns="0" rtlCol="0" anchor="ctr"/>
          <a:lstStyle/>
          <a:p>
            <a:pPr marL="0" indent="0">
              <a:buNone/>
            </a:pPr>
            <a:r>
              <a:rPr lang="en-US" sz="1250" b="1">
                <a:solidFill>
                  <a:srgbClr val="E07A5F"/>
                </a:solidFill>
                <a:latin typeface="Cambria" pitchFamily="34" charset="0"/>
                <a:ea typeface="Cambria" pitchFamily="34" charset="-122"/>
                <a:cs typeface="Cambria" pitchFamily="34" charset="-120"/>
              </a:rPr>
              <a:t>Claude Opus 4.6</a:t>
            </a:r>
            <a:endParaRPr lang="en-US" sz="1250"/>
          </a:p>
        </p:txBody>
      </p:sp>
      <p:sp>
        <p:nvSpPr>
          <p:cNvPr id="13" name="Text 9"/>
          <p:cNvSpPr/>
          <p:nvPr/>
        </p:nvSpPr>
        <p:spPr>
          <a:xfrm>
            <a:off x="6355080" y="3090672"/>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Most complete answers</a:t>
            </a:r>
            <a:endParaRPr lang="en-US" sz="1000" b="1" dirty="0"/>
          </a:p>
        </p:txBody>
      </p:sp>
      <p:sp>
        <p:nvSpPr>
          <p:cNvPr id="14" name="Shape 10"/>
          <p:cNvSpPr/>
          <p:nvPr/>
        </p:nvSpPr>
        <p:spPr>
          <a:xfrm>
            <a:off x="6172200" y="3657600"/>
            <a:ext cx="2514600" cy="841248"/>
          </a:xfrm>
          <a:prstGeom prst="roundRect">
            <a:avLst>
              <a:gd name="adj" fmla="val 869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Text 11"/>
          <p:cNvSpPr/>
          <p:nvPr/>
        </p:nvSpPr>
        <p:spPr>
          <a:xfrm>
            <a:off x="6355080" y="3767328"/>
            <a:ext cx="2194560" cy="274320"/>
          </a:xfrm>
          <a:prstGeom prst="rect">
            <a:avLst/>
          </a:prstGeom>
          <a:noFill/>
          <a:ln/>
        </p:spPr>
        <p:txBody>
          <a:bodyPr wrap="square" lIns="0" tIns="0" rIns="0" bIns="0" rtlCol="0" anchor="ctr"/>
          <a:lstStyle/>
          <a:p>
            <a:pPr marL="0" indent="0">
              <a:buNone/>
            </a:pPr>
            <a:r>
              <a:rPr lang="en-US" sz="1250" b="1">
                <a:solidFill>
                  <a:srgbClr val="3D5A80"/>
                </a:solidFill>
                <a:latin typeface="Cambria" pitchFamily="34" charset="0"/>
                <a:ea typeface="Cambria" pitchFamily="34" charset="-122"/>
                <a:cs typeface="Cambria" pitchFamily="34" charset="-120"/>
              </a:rPr>
              <a:t>Gemini 3 Pro</a:t>
            </a:r>
            <a:endParaRPr lang="en-US" sz="1250"/>
          </a:p>
        </p:txBody>
      </p:sp>
      <p:sp>
        <p:nvSpPr>
          <p:cNvPr id="16" name="Text 12"/>
          <p:cNvSpPr/>
          <p:nvPr/>
        </p:nvSpPr>
        <p:spPr>
          <a:xfrm>
            <a:off x="6355080" y="4041648"/>
            <a:ext cx="2240280" cy="420624"/>
          </a:xfrm>
          <a:prstGeom prst="rect">
            <a:avLst/>
          </a:prstGeom>
          <a:noFill/>
          <a:ln/>
        </p:spPr>
        <p:txBody>
          <a:bodyPr wrap="square" lIns="0" tIns="0" rIns="0" bIns="0" rtlCol="0" anchor="ctr"/>
          <a:lstStyle/>
          <a:p>
            <a:pPr marL="0" indent="0">
              <a:buNone/>
            </a:pPr>
            <a:r>
              <a:rPr lang="en-US" sz="1000" dirty="0">
                <a:solidFill>
                  <a:srgbClr val="55686B"/>
                </a:solidFill>
                <a:latin typeface="Calibri" pitchFamily="34" charset="0"/>
                <a:ea typeface="Calibri" pitchFamily="34" charset="-122"/>
                <a:cs typeface="Calibri" pitchFamily="34" charset="-120"/>
              </a:rPr>
              <a:t>Most readable answers</a:t>
            </a:r>
            <a:endParaRPr lang="en-US" sz="1000" dirty="0"/>
          </a:p>
        </p:txBody>
      </p:sp>
      <p:sp>
        <p:nvSpPr>
          <p:cNvPr id="17" name="Text 13"/>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17</a:t>
            </a:r>
            <a:endParaRPr 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BFBD9-7E87-640C-51A2-F3DAEA8FCAE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D4F4AB-38B0-036C-8257-26399F84F812}"/>
              </a:ext>
            </a:extLst>
          </p:cNvPr>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a:extLst>
              <a:ext uri="{FF2B5EF4-FFF2-40B4-BE49-F238E27FC236}">
                <a16:creationId xmlns:a16="http://schemas.microsoft.com/office/drawing/2014/main" id="{23D6F91F-394C-A635-B1E0-1262EF1F8483}"/>
              </a:ext>
            </a:extLst>
          </p:cNvPr>
          <p:cNvPicPr>
            <a:picLocks noChangeAspect="1"/>
          </p:cNvPicPr>
          <p:nvPr/>
        </p:nvPicPr>
        <p:blipFill>
          <a:blip r:embed="rId3"/>
          <a:stretch>
            <a:fillRect/>
          </a:stretch>
        </p:blipFill>
        <p:spPr>
          <a:xfrm>
            <a:off x="604601" y="458297"/>
            <a:ext cx="272125" cy="272125"/>
          </a:xfrm>
          <a:prstGeom prst="rect">
            <a:avLst/>
          </a:prstGeom>
        </p:spPr>
      </p:pic>
      <p:sp>
        <p:nvSpPr>
          <p:cNvPr id="4" name="Text 1">
            <a:extLst>
              <a:ext uri="{FF2B5EF4-FFF2-40B4-BE49-F238E27FC236}">
                <a16:creationId xmlns:a16="http://schemas.microsoft.com/office/drawing/2014/main" id="{3C325CBC-6995-4B26-DCA7-A27A22E66077}"/>
              </a:ext>
            </a:extLst>
          </p:cNvPr>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Readability</a:t>
            </a:r>
            <a:endParaRPr lang="en-US" sz="2700" dirty="0"/>
          </a:p>
        </p:txBody>
      </p:sp>
      <p:sp>
        <p:nvSpPr>
          <p:cNvPr id="7" name="Text 3">
            <a:extLst>
              <a:ext uri="{FF2B5EF4-FFF2-40B4-BE49-F238E27FC236}">
                <a16:creationId xmlns:a16="http://schemas.microsoft.com/office/drawing/2014/main" id="{C03C2225-D0CF-295D-C8A4-66F8CC44CF0C}"/>
              </a:ext>
            </a:extLst>
          </p:cNvPr>
          <p:cNvSpPr/>
          <p:nvPr/>
        </p:nvSpPr>
        <p:spPr>
          <a:xfrm>
            <a:off x="342900" y="4373482"/>
            <a:ext cx="5760720" cy="274320"/>
          </a:xfrm>
          <a:prstGeom prst="rect">
            <a:avLst/>
          </a:prstGeom>
          <a:noFill/>
          <a:ln/>
        </p:spPr>
        <p:txBody>
          <a:bodyPr wrap="square" lIns="0" tIns="0" rIns="0" bIns="0" rtlCol="0" anchor="ctr"/>
          <a:lstStyle/>
          <a:p>
            <a:pPr marL="0" indent="0" algn="ctr">
              <a:buNone/>
            </a:pPr>
            <a:r>
              <a:rPr lang="en-US" sz="950" i="1" dirty="0">
                <a:solidFill>
                  <a:srgbClr val="8AA0A3"/>
                </a:solidFill>
                <a:latin typeface="Calibri" pitchFamily="34" charset="0"/>
                <a:ea typeface="Calibri" pitchFamily="34" charset="-122"/>
                <a:cs typeface="Calibri" pitchFamily="34" charset="-120"/>
              </a:rPr>
              <a:t>US grade level (lower = easier)</a:t>
            </a:r>
            <a:endParaRPr lang="en-US" sz="950" dirty="0"/>
          </a:p>
        </p:txBody>
      </p:sp>
      <p:grpSp>
        <p:nvGrpSpPr>
          <p:cNvPr id="27" name="Group 26">
            <a:extLst>
              <a:ext uri="{FF2B5EF4-FFF2-40B4-BE49-F238E27FC236}">
                <a16:creationId xmlns:a16="http://schemas.microsoft.com/office/drawing/2014/main" id="{81067457-E9D3-1D62-647E-56D710AF1137}"/>
              </a:ext>
            </a:extLst>
          </p:cNvPr>
          <p:cNvGrpSpPr/>
          <p:nvPr/>
        </p:nvGrpSpPr>
        <p:grpSpPr>
          <a:xfrm>
            <a:off x="6263640" y="1185081"/>
            <a:ext cx="2423160" cy="3072384"/>
            <a:chOff x="6263640" y="1481328"/>
            <a:chExt cx="2423160" cy="3072384"/>
          </a:xfrm>
        </p:grpSpPr>
        <p:sp>
          <p:nvSpPr>
            <p:cNvPr id="8" name="Shape 4">
              <a:extLst>
                <a:ext uri="{FF2B5EF4-FFF2-40B4-BE49-F238E27FC236}">
                  <a16:creationId xmlns:a16="http://schemas.microsoft.com/office/drawing/2014/main" id="{1EE42D9F-9342-B49F-8182-6094BE712B10}"/>
                </a:ext>
              </a:extLst>
            </p:cNvPr>
            <p:cNvSpPr/>
            <p:nvPr/>
          </p:nvSpPr>
          <p:spPr>
            <a:xfrm>
              <a:off x="6263640" y="1481328"/>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a:extLst>
                <a:ext uri="{FF2B5EF4-FFF2-40B4-BE49-F238E27FC236}">
                  <a16:creationId xmlns:a16="http://schemas.microsoft.com/office/drawing/2014/main" id="{8B5AEF19-A1CD-E225-397B-681E51F2EED2}"/>
                </a:ext>
              </a:extLst>
            </p:cNvPr>
            <p:cNvSpPr/>
            <p:nvPr/>
          </p:nvSpPr>
          <p:spPr>
            <a:xfrm>
              <a:off x="6419088" y="1572768"/>
              <a:ext cx="1554480" cy="274320"/>
            </a:xfrm>
            <a:prstGeom prst="rect">
              <a:avLst/>
            </a:prstGeom>
            <a:noFill/>
            <a:ln/>
          </p:spPr>
          <p:txBody>
            <a:bodyPr wrap="square" lIns="0" tIns="0" rIns="0" bIns="0" rtlCol="0" anchor="ctr"/>
            <a:lstStyle/>
            <a:p>
              <a:pPr marL="0" indent="0">
                <a:buNone/>
              </a:pPr>
              <a:r>
                <a:rPr lang="en-US" sz="1150" b="1" dirty="0">
                  <a:solidFill>
                    <a:srgbClr val="C00000"/>
                  </a:solidFill>
                  <a:latin typeface="Cambria" pitchFamily="34" charset="0"/>
                  <a:ea typeface="Cambria" pitchFamily="34" charset="-122"/>
                  <a:cs typeface="Cambria" pitchFamily="34" charset="-120"/>
                </a:rPr>
                <a:t>Human</a:t>
              </a:r>
              <a:endParaRPr lang="en-US" sz="1150" dirty="0">
                <a:solidFill>
                  <a:srgbClr val="C00000"/>
                </a:solidFill>
              </a:endParaRPr>
            </a:p>
          </p:txBody>
        </p:sp>
        <p:sp>
          <p:nvSpPr>
            <p:cNvPr id="10" name="Text 6">
              <a:extLst>
                <a:ext uri="{FF2B5EF4-FFF2-40B4-BE49-F238E27FC236}">
                  <a16:creationId xmlns:a16="http://schemas.microsoft.com/office/drawing/2014/main" id="{A04F03B0-059D-7D55-9A31-F5F1DA6347D1}"/>
                </a:ext>
              </a:extLst>
            </p:cNvPr>
            <p:cNvSpPr/>
            <p:nvPr/>
          </p:nvSpPr>
          <p:spPr>
            <a:xfrm>
              <a:off x="6419088" y="1847088"/>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Baseline</a:t>
              </a:r>
              <a:endParaRPr lang="en-US" sz="900" dirty="0"/>
            </a:p>
          </p:txBody>
        </p:sp>
        <p:sp>
          <p:nvSpPr>
            <p:cNvPr id="11" name="Text 7">
              <a:extLst>
                <a:ext uri="{FF2B5EF4-FFF2-40B4-BE49-F238E27FC236}">
                  <a16:creationId xmlns:a16="http://schemas.microsoft.com/office/drawing/2014/main" id="{F8442DB7-F413-0099-389D-D9EDDF20F8DA}"/>
                </a:ext>
              </a:extLst>
            </p:cNvPr>
            <p:cNvSpPr/>
            <p:nvPr/>
          </p:nvSpPr>
          <p:spPr>
            <a:xfrm>
              <a:off x="7818120" y="1481328"/>
              <a:ext cx="749808" cy="713232"/>
            </a:xfrm>
            <a:prstGeom prst="rect">
              <a:avLst/>
            </a:prstGeom>
            <a:noFill/>
            <a:ln/>
          </p:spPr>
          <p:txBody>
            <a:bodyPr wrap="square" lIns="0" tIns="0" rIns="0" bIns="0" rtlCol="0" anchor="ctr"/>
            <a:lstStyle/>
            <a:p>
              <a:pPr marL="0" indent="0" algn="r">
                <a:buNone/>
              </a:pPr>
              <a:r>
                <a:rPr lang="en-US" sz="1900" b="1" dirty="0">
                  <a:solidFill>
                    <a:srgbClr val="C00000"/>
                  </a:solidFill>
                  <a:latin typeface="Cambria" pitchFamily="34" charset="0"/>
                  <a:ea typeface="Cambria" pitchFamily="34" charset="-122"/>
                  <a:cs typeface="Cambria" pitchFamily="34" charset="-120"/>
                </a:rPr>
                <a:t>13.1</a:t>
              </a:r>
              <a:endParaRPr lang="en-US" sz="1900" dirty="0">
                <a:solidFill>
                  <a:srgbClr val="C00000"/>
                </a:solidFill>
              </a:endParaRPr>
            </a:p>
          </p:txBody>
        </p:sp>
        <p:sp>
          <p:nvSpPr>
            <p:cNvPr id="12" name="Shape 8">
              <a:extLst>
                <a:ext uri="{FF2B5EF4-FFF2-40B4-BE49-F238E27FC236}">
                  <a16:creationId xmlns:a16="http://schemas.microsoft.com/office/drawing/2014/main" id="{397D49CD-9E35-2E6B-73EF-894C3622D011}"/>
                </a:ext>
              </a:extLst>
            </p:cNvPr>
            <p:cNvSpPr/>
            <p:nvPr/>
          </p:nvSpPr>
          <p:spPr>
            <a:xfrm>
              <a:off x="6263640" y="2267712"/>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9">
              <a:extLst>
                <a:ext uri="{FF2B5EF4-FFF2-40B4-BE49-F238E27FC236}">
                  <a16:creationId xmlns:a16="http://schemas.microsoft.com/office/drawing/2014/main" id="{2B2B821F-740F-6296-C081-A2FBF5030AF4}"/>
                </a:ext>
              </a:extLst>
            </p:cNvPr>
            <p:cNvSpPr/>
            <p:nvPr/>
          </p:nvSpPr>
          <p:spPr>
            <a:xfrm>
              <a:off x="6419088" y="2359152"/>
              <a:ext cx="1554480" cy="274320"/>
            </a:xfrm>
            <a:prstGeom prst="rect">
              <a:avLst/>
            </a:prstGeom>
            <a:noFill/>
            <a:ln/>
          </p:spPr>
          <p:txBody>
            <a:bodyPr wrap="square" lIns="0" tIns="0" rIns="0" bIns="0" rtlCol="0" anchor="ctr"/>
            <a:lstStyle/>
            <a:p>
              <a:pPr marL="0" indent="0">
                <a:buNone/>
              </a:pPr>
              <a:r>
                <a:rPr lang="en-US" sz="1150" b="1">
                  <a:solidFill>
                    <a:srgbClr val="3D5A80"/>
                  </a:solidFill>
                  <a:latin typeface="Cambria" pitchFamily="34" charset="0"/>
                  <a:ea typeface="Cambria" pitchFamily="34" charset="-122"/>
                  <a:cs typeface="Cambria" pitchFamily="34" charset="-120"/>
                </a:rPr>
                <a:t>Gemini 3 Pro</a:t>
              </a:r>
              <a:endParaRPr lang="en-US" sz="1150"/>
            </a:p>
          </p:txBody>
        </p:sp>
        <p:sp>
          <p:nvSpPr>
            <p:cNvPr id="14" name="Text 10">
              <a:extLst>
                <a:ext uri="{FF2B5EF4-FFF2-40B4-BE49-F238E27FC236}">
                  <a16:creationId xmlns:a16="http://schemas.microsoft.com/office/drawing/2014/main" id="{69868491-EE14-4B9B-D725-9E5A03C6B2EF}"/>
                </a:ext>
              </a:extLst>
            </p:cNvPr>
            <p:cNvSpPr/>
            <p:nvPr/>
          </p:nvSpPr>
          <p:spPr>
            <a:xfrm>
              <a:off x="6419088" y="2633472"/>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Easiest to read LLM</a:t>
              </a:r>
              <a:endParaRPr lang="en-US" sz="900" dirty="0"/>
            </a:p>
          </p:txBody>
        </p:sp>
        <p:sp>
          <p:nvSpPr>
            <p:cNvPr id="15" name="Text 11">
              <a:extLst>
                <a:ext uri="{FF2B5EF4-FFF2-40B4-BE49-F238E27FC236}">
                  <a16:creationId xmlns:a16="http://schemas.microsoft.com/office/drawing/2014/main" id="{F1B5EB88-E88D-B3A8-7394-DACE2879389E}"/>
                </a:ext>
              </a:extLst>
            </p:cNvPr>
            <p:cNvSpPr/>
            <p:nvPr/>
          </p:nvSpPr>
          <p:spPr>
            <a:xfrm>
              <a:off x="7818120" y="2267712"/>
              <a:ext cx="749808" cy="713232"/>
            </a:xfrm>
            <a:prstGeom prst="rect">
              <a:avLst/>
            </a:prstGeom>
            <a:noFill/>
            <a:ln/>
          </p:spPr>
          <p:txBody>
            <a:bodyPr wrap="square" lIns="0" tIns="0" rIns="0" bIns="0" rtlCol="0" anchor="ctr"/>
            <a:lstStyle/>
            <a:p>
              <a:pPr marL="0" indent="0" algn="r">
                <a:buNone/>
              </a:pPr>
              <a:r>
                <a:rPr lang="en-US" sz="1900" b="1" dirty="0">
                  <a:solidFill>
                    <a:srgbClr val="3D5A80"/>
                  </a:solidFill>
                  <a:latin typeface="Cambria" pitchFamily="34" charset="0"/>
                  <a:ea typeface="Cambria" pitchFamily="34" charset="-122"/>
                  <a:cs typeface="Cambria" pitchFamily="34" charset="-120"/>
                </a:rPr>
                <a:t>13.8</a:t>
              </a:r>
              <a:endParaRPr lang="en-US" sz="1900" dirty="0"/>
            </a:p>
          </p:txBody>
        </p:sp>
        <p:sp>
          <p:nvSpPr>
            <p:cNvPr id="16" name="Shape 12">
              <a:extLst>
                <a:ext uri="{FF2B5EF4-FFF2-40B4-BE49-F238E27FC236}">
                  <a16:creationId xmlns:a16="http://schemas.microsoft.com/office/drawing/2014/main" id="{ADF0512F-312E-2F14-B8DB-926D6966A914}"/>
                </a:ext>
              </a:extLst>
            </p:cNvPr>
            <p:cNvSpPr/>
            <p:nvPr/>
          </p:nvSpPr>
          <p:spPr>
            <a:xfrm>
              <a:off x="6263640" y="3054096"/>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7" name="Text 13">
              <a:extLst>
                <a:ext uri="{FF2B5EF4-FFF2-40B4-BE49-F238E27FC236}">
                  <a16:creationId xmlns:a16="http://schemas.microsoft.com/office/drawing/2014/main" id="{F033F4C0-1496-60E2-1064-0DC0C0E2DB2E}"/>
                </a:ext>
              </a:extLst>
            </p:cNvPr>
            <p:cNvSpPr/>
            <p:nvPr/>
          </p:nvSpPr>
          <p:spPr>
            <a:xfrm>
              <a:off x="6419088" y="3145536"/>
              <a:ext cx="1554480" cy="274320"/>
            </a:xfrm>
            <a:prstGeom prst="rect">
              <a:avLst/>
            </a:prstGeom>
            <a:noFill/>
            <a:ln/>
          </p:spPr>
          <p:txBody>
            <a:bodyPr wrap="square" lIns="0" tIns="0" rIns="0" bIns="0" rtlCol="0" anchor="ctr"/>
            <a:lstStyle/>
            <a:p>
              <a:pPr marL="0" indent="0">
                <a:buNone/>
              </a:pPr>
              <a:r>
                <a:rPr lang="en-US" sz="1150" b="1" dirty="0">
                  <a:solidFill>
                    <a:srgbClr val="127475"/>
                  </a:solidFill>
                  <a:latin typeface="Cambria" pitchFamily="34" charset="0"/>
                  <a:ea typeface="Cambria" pitchFamily="34" charset="-122"/>
                  <a:cs typeface="Cambria" pitchFamily="34" charset="-120"/>
                </a:rPr>
                <a:t>ChatGPT 5.2</a:t>
              </a:r>
              <a:endParaRPr lang="en-US" sz="1150" dirty="0"/>
            </a:p>
          </p:txBody>
        </p:sp>
        <p:sp>
          <p:nvSpPr>
            <p:cNvPr id="18" name="Text 14">
              <a:extLst>
                <a:ext uri="{FF2B5EF4-FFF2-40B4-BE49-F238E27FC236}">
                  <a16:creationId xmlns:a16="http://schemas.microsoft.com/office/drawing/2014/main" id="{0368B66F-7F0E-9412-555A-6811DE344D6C}"/>
                </a:ext>
              </a:extLst>
            </p:cNvPr>
            <p:cNvSpPr/>
            <p:nvPr/>
          </p:nvSpPr>
          <p:spPr>
            <a:xfrm>
              <a:off x="6419088" y="3419856"/>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Most consistent</a:t>
              </a:r>
              <a:endParaRPr lang="en-US" sz="900" dirty="0"/>
            </a:p>
          </p:txBody>
        </p:sp>
        <p:sp>
          <p:nvSpPr>
            <p:cNvPr id="19" name="Text 15">
              <a:extLst>
                <a:ext uri="{FF2B5EF4-FFF2-40B4-BE49-F238E27FC236}">
                  <a16:creationId xmlns:a16="http://schemas.microsoft.com/office/drawing/2014/main" id="{34F9776E-A15D-492D-B66C-F41620A1828B}"/>
                </a:ext>
              </a:extLst>
            </p:cNvPr>
            <p:cNvSpPr/>
            <p:nvPr/>
          </p:nvSpPr>
          <p:spPr>
            <a:xfrm>
              <a:off x="7818120" y="3054096"/>
              <a:ext cx="749808" cy="713232"/>
            </a:xfrm>
            <a:prstGeom prst="rect">
              <a:avLst/>
            </a:prstGeom>
            <a:noFill/>
            <a:ln/>
          </p:spPr>
          <p:txBody>
            <a:bodyPr wrap="square" lIns="0" tIns="0" rIns="0" bIns="0" rtlCol="0" anchor="ctr"/>
            <a:lstStyle/>
            <a:p>
              <a:pPr marL="0" indent="0" algn="r">
                <a:buNone/>
              </a:pPr>
              <a:r>
                <a:rPr lang="en-US" sz="1900" b="1" dirty="0">
                  <a:solidFill>
                    <a:srgbClr val="127475"/>
                  </a:solidFill>
                  <a:latin typeface="Cambria" pitchFamily="34" charset="0"/>
                  <a:ea typeface="Cambria" pitchFamily="34" charset="-122"/>
                  <a:cs typeface="Cambria" pitchFamily="34" charset="-120"/>
                </a:rPr>
                <a:t>14.8</a:t>
              </a:r>
              <a:endParaRPr lang="en-US" sz="1900" dirty="0"/>
            </a:p>
          </p:txBody>
        </p:sp>
        <p:sp>
          <p:nvSpPr>
            <p:cNvPr id="20" name="Shape 16">
              <a:extLst>
                <a:ext uri="{FF2B5EF4-FFF2-40B4-BE49-F238E27FC236}">
                  <a16:creationId xmlns:a16="http://schemas.microsoft.com/office/drawing/2014/main" id="{A1B2666C-E045-FA41-7E10-D1C2EF25A016}"/>
                </a:ext>
              </a:extLst>
            </p:cNvPr>
            <p:cNvSpPr/>
            <p:nvPr/>
          </p:nvSpPr>
          <p:spPr>
            <a:xfrm>
              <a:off x="6263640" y="3840480"/>
              <a:ext cx="2423160" cy="713232"/>
            </a:xfrm>
            <a:prstGeom prst="roundRect">
              <a:avLst>
                <a:gd name="adj" fmla="val 10256"/>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1" name="Text 17">
              <a:extLst>
                <a:ext uri="{FF2B5EF4-FFF2-40B4-BE49-F238E27FC236}">
                  <a16:creationId xmlns:a16="http://schemas.microsoft.com/office/drawing/2014/main" id="{68A39920-3635-4BBE-C445-3D8C525240A7}"/>
                </a:ext>
              </a:extLst>
            </p:cNvPr>
            <p:cNvSpPr/>
            <p:nvPr/>
          </p:nvSpPr>
          <p:spPr>
            <a:xfrm>
              <a:off x="6419088" y="3931920"/>
              <a:ext cx="1554480" cy="274320"/>
            </a:xfrm>
            <a:prstGeom prst="rect">
              <a:avLst/>
            </a:prstGeom>
            <a:noFill/>
            <a:ln/>
          </p:spPr>
          <p:txBody>
            <a:bodyPr wrap="square" lIns="0" tIns="0" rIns="0" bIns="0" rtlCol="0" anchor="ctr"/>
            <a:lstStyle/>
            <a:p>
              <a:pPr marL="0" indent="0">
                <a:buNone/>
              </a:pPr>
              <a:r>
                <a:rPr lang="en-US" sz="1150" b="1" dirty="0">
                  <a:solidFill>
                    <a:srgbClr val="E07A5F"/>
                  </a:solidFill>
                  <a:latin typeface="Cambria" pitchFamily="34" charset="0"/>
                  <a:ea typeface="Cambria" pitchFamily="34" charset="-122"/>
                  <a:cs typeface="Cambria" pitchFamily="34" charset="-120"/>
                </a:rPr>
                <a:t>Claude Opus 4.6</a:t>
              </a:r>
              <a:endParaRPr lang="en-US" sz="1150" dirty="0"/>
            </a:p>
          </p:txBody>
        </p:sp>
        <p:sp>
          <p:nvSpPr>
            <p:cNvPr id="22" name="Text 18">
              <a:extLst>
                <a:ext uri="{FF2B5EF4-FFF2-40B4-BE49-F238E27FC236}">
                  <a16:creationId xmlns:a16="http://schemas.microsoft.com/office/drawing/2014/main" id="{73705B8B-B141-373E-C2BB-06C53DA29409}"/>
                </a:ext>
              </a:extLst>
            </p:cNvPr>
            <p:cNvSpPr/>
            <p:nvPr/>
          </p:nvSpPr>
          <p:spPr>
            <a:xfrm>
              <a:off x="6419088" y="4206240"/>
              <a:ext cx="1691640" cy="292608"/>
            </a:xfrm>
            <a:prstGeom prst="rect">
              <a:avLst/>
            </a:prstGeom>
            <a:noFill/>
            <a:ln/>
          </p:spPr>
          <p:txBody>
            <a:bodyPr wrap="square" lIns="0" tIns="0" rIns="0" bIns="0" rtlCol="0" anchor="ctr"/>
            <a:lstStyle/>
            <a:p>
              <a:pPr marL="0" indent="0">
                <a:buNone/>
              </a:pPr>
              <a:r>
                <a:rPr lang="en-US" sz="900" i="1" dirty="0">
                  <a:solidFill>
                    <a:srgbClr val="55686B"/>
                  </a:solidFill>
                  <a:latin typeface="Calibri" pitchFamily="34" charset="0"/>
                  <a:ea typeface="Calibri" pitchFamily="34" charset="-122"/>
                  <a:cs typeface="Calibri" pitchFamily="34" charset="-120"/>
                </a:rPr>
                <a:t>Hardest to read LLM</a:t>
              </a:r>
              <a:endParaRPr lang="en-US" sz="900" dirty="0"/>
            </a:p>
          </p:txBody>
        </p:sp>
        <p:sp>
          <p:nvSpPr>
            <p:cNvPr id="23" name="Text 19">
              <a:extLst>
                <a:ext uri="{FF2B5EF4-FFF2-40B4-BE49-F238E27FC236}">
                  <a16:creationId xmlns:a16="http://schemas.microsoft.com/office/drawing/2014/main" id="{6640F9BB-A8DA-C1A9-0F52-D356F6D847D9}"/>
                </a:ext>
              </a:extLst>
            </p:cNvPr>
            <p:cNvSpPr/>
            <p:nvPr/>
          </p:nvSpPr>
          <p:spPr>
            <a:xfrm>
              <a:off x="7818120" y="3840480"/>
              <a:ext cx="749808" cy="713232"/>
            </a:xfrm>
            <a:prstGeom prst="rect">
              <a:avLst/>
            </a:prstGeom>
            <a:noFill/>
            <a:ln/>
          </p:spPr>
          <p:txBody>
            <a:bodyPr wrap="square" lIns="0" tIns="0" rIns="0" bIns="0" rtlCol="0" anchor="ctr"/>
            <a:lstStyle/>
            <a:p>
              <a:pPr marL="0" indent="0" algn="r">
                <a:buNone/>
              </a:pPr>
              <a:r>
                <a:rPr lang="en-US" sz="1900" b="1" dirty="0">
                  <a:solidFill>
                    <a:srgbClr val="E07A5F"/>
                  </a:solidFill>
                  <a:latin typeface="Cambria" pitchFamily="34" charset="0"/>
                  <a:ea typeface="Cambria" pitchFamily="34" charset="-122"/>
                  <a:cs typeface="Cambria" pitchFamily="34" charset="-120"/>
                </a:rPr>
                <a:t>16.7</a:t>
              </a:r>
              <a:endParaRPr lang="en-US" sz="1900" dirty="0"/>
            </a:p>
          </p:txBody>
        </p:sp>
      </p:grpSp>
      <p:sp>
        <p:nvSpPr>
          <p:cNvPr id="24" name="Text 20">
            <a:extLst>
              <a:ext uri="{FF2B5EF4-FFF2-40B4-BE49-F238E27FC236}">
                <a16:creationId xmlns:a16="http://schemas.microsoft.com/office/drawing/2014/main" id="{83D782CC-241C-D6D6-DA25-79A0F893CD6B}"/>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18</a:t>
            </a:r>
            <a:endParaRPr lang="en-US" sz="900" dirty="0"/>
          </a:p>
        </p:txBody>
      </p:sp>
      <p:pic>
        <p:nvPicPr>
          <p:cNvPr id="26" name="Picture 25">
            <a:extLst>
              <a:ext uri="{FF2B5EF4-FFF2-40B4-BE49-F238E27FC236}">
                <a16:creationId xmlns:a16="http://schemas.microsoft.com/office/drawing/2014/main" id="{0D6423B4-F516-A2D7-9B47-C1B88469C0A3}"/>
              </a:ext>
            </a:extLst>
          </p:cNvPr>
          <p:cNvPicPr>
            <a:picLocks noChangeAspect="1"/>
          </p:cNvPicPr>
          <p:nvPr/>
        </p:nvPicPr>
        <p:blipFill>
          <a:blip r:embed="rId4"/>
          <a:stretch>
            <a:fillRect/>
          </a:stretch>
        </p:blipFill>
        <p:spPr>
          <a:xfrm>
            <a:off x="142862" y="1191079"/>
            <a:ext cx="6120778" cy="3060389"/>
          </a:xfrm>
          <a:prstGeom prst="rect">
            <a:avLst/>
          </a:prstGeom>
        </p:spPr>
      </p:pic>
    </p:spTree>
    <p:extLst>
      <p:ext uri="{BB962C8B-B14F-4D97-AF65-F5344CB8AC3E}">
        <p14:creationId xmlns:p14="http://schemas.microsoft.com/office/powerpoint/2010/main" val="3667275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Results: Readability</a:t>
            </a:r>
            <a:endParaRPr lang="en-US" sz="2700" dirty="0"/>
          </a:p>
        </p:txBody>
      </p:sp>
      <p:sp>
        <p:nvSpPr>
          <p:cNvPr id="7" name="Text 3"/>
          <p:cNvSpPr/>
          <p:nvPr/>
        </p:nvSpPr>
        <p:spPr>
          <a:xfrm>
            <a:off x="1691640" y="4553712"/>
            <a:ext cx="5760720" cy="274320"/>
          </a:xfrm>
          <a:prstGeom prst="rect">
            <a:avLst/>
          </a:prstGeom>
          <a:noFill/>
          <a:ln/>
        </p:spPr>
        <p:txBody>
          <a:bodyPr wrap="square" lIns="0" tIns="0" rIns="0" bIns="0" rtlCol="0" anchor="ctr"/>
          <a:lstStyle/>
          <a:p>
            <a:pPr marL="0" indent="0" algn="ctr">
              <a:buNone/>
            </a:pPr>
            <a:r>
              <a:rPr lang="en-US" i="1" dirty="0">
                <a:solidFill>
                  <a:srgbClr val="8AA0A3"/>
                </a:solidFill>
                <a:latin typeface="Calibri" pitchFamily="34" charset="0"/>
                <a:ea typeface="Calibri" pitchFamily="34" charset="-122"/>
                <a:cs typeface="Calibri" pitchFamily="34" charset="-120"/>
              </a:rPr>
              <a:t>Difference (</a:t>
            </a:r>
            <a:r>
              <a:rPr lang="en-US" i="1" dirty="0" err="1">
                <a:solidFill>
                  <a:srgbClr val="8AA0A3"/>
                </a:solidFill>
                <a:latin typeface="Calibri" pitchFamily="34" charset="0"/>
                <a:ea typeface="Calibri" pitchFamily="34" charset="-122"/>
                <a:cs typeface="Calibri" pitchFamily="34" charset="-120"/>
              </a:rPr>
              <a:t>Δ</a:t>
            </a:r>
            <a:r>
              <a:rPr lang="en-US" i="1" dirty="0">
                <a:solidFill>
                  <a:srgbClr val="8AA0A3"/>
                </a:solidFill>
                <a:latin typeface="Calibri" pitchFamily="34" charset="0"/>
                <a:ea typeface="Calibri" pitchFamily="34" charset="-122"/>
                <a:cs typeface="Calibri" pitchFamily="34" charset="-120"/>
              </a:rPr>
              <a:t>) = </a:t>
            </a:r>
            <a:r>
              <a:rPr lang="en-US" i="1" dirty="0" err="1">
                <a:solidFill>
                  <a:srgbClr val="8AA0A3"/>
                </a:solidFill>
                <a:latin typeface="Calibri" pitchFamily="34" charset="0"/>
                <a:ea typeface="Calibri" pitchFamily="34" charset="-122"/>
                <a:cs typeface="Calibri" pitchFamily="34" charset="-120"/>
              </a:rPr>
              <a:t>Readbility</a:t>
            </a:r>
            <a:r>
              <a:rPr lang="en-US" i="1" baseline="-25000" dirty="0" err="1">
                <a:solidFill>
                  <a:srgbClr val="8AA0A3"/>
                </a:solidFill>
                <a:latin typeface="Calibri" pitchFamily="34" charset="0"/>
                <a:ea typeface="Calibri" pitchFamily="34" charset="-122"/>
                <a:cs typeface="Calibri" pitchFamily="34" charset="-120"/>
              </a:rPr>
              <a:t>LLM</a:t>
            </a:r>
            <a:r>
              <a:rPr lang="en-US" i="1" dirty="0">
                <a:solidFill>
                  <a:srgbClr val="8AA0A3"/>
                </a:solidFill>
                <a:latin typeface="Calibri" pitchFamily="34" charset="0"/>
                <a:ea typeface="Calibri" pitchFamily="34" charset="-122"/>
                <a:cs typeface="Calibri" pitchFamily="34" charset="-120"/>
              </a:rPr>
              <a:t> - </a:t>
            </a:r>
            <a:r>
              <a:rPr lang="en-US" i="1" dirty="0" err="1">
                <a:solidFill>
                  <a:srgbClr val="8AA0A3"/>
                </a:solidFill>
                <a:latin typeface="Calibri" pitchFamily="34" charset="0"/>
                <a:ea typeface="Calibri" pitchFamily="34" charset="-122"/>
                <a:cs typeface="Calibri" pitchFamily="34" charset="-120"/>
              </a:rPr>
              <a:t>Readability</a:t>
            </a:r>
            <a:r>
              <a:rPr lang="en-US" i="1" baseline="-25000" dirty="0" err="1">
                <a:solidFill>
                  <a:srgbClr val="8AA0A3"/>
                </a:solidFill>
                <a:latin typeface="Calibri" pitchFamily="34" charset="0"/>
                <a:ea typeface="Calibri" pitchFamily="34" charset="-122"/>
                <a:cs typeface="Calibri" pitchFamily="34" charset="-120"/>
              </a:rPr>
              <a:t>Human</a:t>
            </a:r>
            <a:endParaRPr lang="en-US" baseline="-25000" dirty="0"/>
          </a:p>
        </p:txBody>
      </p:sp>
      <p:sp>
        <p:nvSpPr>
          <p:cNvPr id="24" name="Text 2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18</a:t>
            </a:r>
            <a:endParaRPr lang="en-US" sz="900"/>
          </a:p>
        </p:txBody>
      </p:sp>
      <p:pic>
        <p:nvPicPr>
          <p:cNvPr id="27" name="Picture 26">
            <a:extLst>
              <a:ext uri="{FF2B5EF4-FFF2-40B4-BE49-F238E27FC236}">
                <a16:creationId xmlns:a16="http://schemas.microsoft.com/office/drawing/2014/main" id="{02FD8BE8-1DF1-4D57-06AC-E08277401314}"/>
              </a:ext>
            </a:extLst>
          </p:cNvPr>
          <p:cNvPicPr>
            <a:picLocks noChangeAspect="1"/>
          </p:cNvPicPr>
          <p:nvPr/>
        </p:nvPicPr>
        <p:blipFill>
          <a:blip r:embed="rId4"/>
          <a:stretch>
            <a:fillRect/>
          </a:stretch>
        </p:blipFill>
        <p:spPr>
          <a:xfrm>
            <a:off x="182880" y="921508"/>
            <a:ext cx="4749124" cy="3466514"/>
          </a:xfrm>
          <a:prstGeom prst="rect">
            <a:avLst/>
          </a:prstGeom>
        </p:spPr>
      </p:pic>
      <p:pic>
        <p:nvPicPr>
          <p:cNvPr id="28" name="Picture 27">
            <a:extLst>
              <a:ext uri="{FF2B5EF4-FFF2-40B4-BE49-F238E27FC236}">
                <a16:creationId xmlns:a16="http://schemas.microsoft.com/office/drawing/2014/main" id="{1CA82E00-B40C-78FC-28AB-A49DB4ACB80E}"/>
              </a:ext>
            </a:extLst>
          </p:cNvPr>
          <p:cNvPicPr>
            <a:picLocks noChangeAspect="1"/>
          </p:cNvPicPr>
          <p:nvPr/>
        </p:nvPicPr>
        <p:blipFill>
          <a:blip r:embed="rId5"/>
          <a:stretch>
            <a:fillRect/>
          </a:stretch>
        </p:blipFill>
        <p:spPr>
          <a:xfrm>
            <a:off x="4211996" y="924472"/>
            <a:ext cx="4749124" cy="346651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a:solidFill>
                  <a:srgbClr val="0A2E36"/>
                </a:solidFill>
                <a:latin typeface="Cambria" pitchFamily="34" charset="0"/>
                <a:ea typeface="Cambria" pitchFamily="34" charset="-122"/>
                <a:cs typeface="Cambria" pitchFamily="34" charset="-120"/>
              </a:rPr>
              <a:t>What the scores reveal</a:t>
            </a:r>
            <a:endParaRPr lang="en-US" sz="270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a:solidFill>
                  <a:srgbClr val="0E5E5C"/>
                </a:solidFill>
                <a:latin typeface="Calibri" pitchFamily="34" charset="0"/>
                <a:ea typeface="Calibri" pitchFamily="34" charset="-122"/>
                <a:cs typeface="Calibri" pitchFamily="34" charset="-120"/>
              </a:rPr>
              <a:t>ACF tracks how open-ended a question is — a feedback signal</a:t>
            </a:r>
            <a:endParaRPr lang="en-US" sz="1250"/>
          </a:p>
        </p:txBody>
      </p:sp>
      <p:graphicFrame>
        <p:nvGraphicFramePr>
          <p:cNvPr id="6" name="Chart 0"/>
          <p:cNvGraphicFramePr/>
          <p:nvPr/>
        </p:nvGraphicFramePr>
        <p:xfrm>
          <a:off x="365760" y="1463040"/>
          <a:ext cx="512064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365760" y="4608576"/>
            <a:ext cx="5120640" cy="274320"/>
          </a:xfrm>
          <a:prstGeom prst="rect">
            <a:avLst/>
          </a:prstGeom>
          <a:noFill/>
          <a:ln/>
        </p:spPr>
        <p:txBody>
          <a:bodyPr wrap="square" lIns="0" tIns="0" rIns="0" bIns="0" rtlCol="0" anchor="ctr"/>
          <a:lstStyle/>
          <a:p>
            <a:pPr marL="0" indent="0" algn="ctr">
              <a:buNone/>
            </a:pPr>
            <a:r>
              <a:rPr lang="en-US" sz="950" i="1">
                <a:solidFill>
                  <a:srgbClr val="8AA0A3"/>
                </a:solidFill>
                <a:latin typeface="Calibri" pitchFamily="34" charset="0"/>
                <a:ea typeface="Calibri" pitchFamily="34" charset="-122"/>
                <a:cs typeface="Calibri" pitchFamily="34" charset="-120"/>
              </a:rPr>
              <a:t>Avg ACF score by question category</a:t>
            </a:r>
            <a:endParaRPr lang="en-US" sz="950"/>
          </a:p>
        </p:txBody>
      </p:sp>
      <p:sp>
        <p:nvSpPr>
          <p:cNvPr id="8" name="Shape 4"/>
          <p:cNvSpPr/>
          <p:nvPr/>
        </p:nvSpPr>
        <p:spPr>
          <a:xfrm>
            <a:off x="5669280" y="1463040"/>
            <a:ext cx="3017520" cy="1097280"/>
          </a:xfrm>
          <a:prstGeom prst="roundRect">
            <a:avLst>
              <a:gd name="adj" fmla="val 6667"/>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9" name="Text 5"/>
          <p:cNvSpPr/>
          <p:nvPr/>
        </p:nvSpPr>
        <p:spPr>
          <a:xfrm>
            <a:off x="5852160" y="1572768"/>
            <a:ext cx="2743200" cy="256032"/>
          </a:xfrm>
          <a:prstGeom prst="rect">
            <a:avLst/>
          </a:prstGeom>
          <a:noFill/>
          <a:ln/>
        </p:spPr>
        <p:txBody>
          <a:bodyPr wrap="square" lIns="0" tIns="0" rIns="0" bIns="0" rtlCol="0" anchor="ctr"/>
          <a:lstStyle/>
          <a:p>
            <a:pPr marL="0" indent="0">
              <a:buNone/>
            </a:pPr>
            <a:r>
              <a:rPr lang="en-US" sz="1050" b="1">
                <a:solidFill>
                  <a:srgbClr val="0E5E5C"/>
                </a:solidFill>
                <a:latin typeface="Calibri" pitchFamily="34" charset="0"/>
                <a:ea typeface="Calibri" pitchFamily="34" charset="-122"/>
                <a:cs typeface="Calibri" pitchFamily="34" charset="-120"/>
              </a:rPr>
              <a:t>Best-answered question</a:t>
            </a:r>
            <a:endParaRPr lang="en-US" sz="1050"/>
          </a:p>
        </p:txBody>
      </p:sp>
      <p:sp>
        <p:nvSpPr>
          <p:cNvPr id="10" name="Text 6"/>
          <p:cNvSpPr/>
          <p:nvPr/>
        </p:nvSpPr>
        <p:spPr>
          <a:xfrm>
            <a:off x="5852160" y="1828800"/>
            <a:ext cx="2743200" cy="457200"/>
          </a:xfrm>
          <a:prstGeom prst="rect">
            <a:avLst/>
          </a:prstGeom>
          <a:noFill/>
          <a:ln/>
        </p:spPr>
        <p:txBody>
          <a:bodyPr wrap="square" lIns="0" tIns="0" rIns="0" bIns="0" rtlCol="0" anchor="ctr"/>
          <a:lstStyle/>
          <a:p>
            <a:pPr marL="0" indent="0">
              <a:buNone/>
            </a:pPr>
            <a:r>
              <a:rPr lang="en-US" sz="1150" b="1" i="1">
                <a:solidFill>
                  <a:srgbClr val="0A2E36"/>
                </a:solidFill>
                <a:latin typeface="Calibri" pitchFamily="34" charset="0"/>
                <a:ea typeface="Calibri" pitchFamily="34" charset="-122"/>
                <a:cs typeface="Calibri" pitchFamily="34" charset="-120"/>
              </a:rPr>
              <a:t>“What is the source of the training data?”</a:t>
            </a:r>
            <a:endParaRPr lang="en-US" sz="1150"/>
          </a:p>
        </p:txBody>
      </p:sp>
      <p:sp>
        <p:nvSpPr>
          <p:cNvPr id="11" name="Text 7"/>
          <p:cNvSpPr/>
          <p:nvPr/>
        </p:nvSpPr>
        <p:spPr>
          <a:xfrm>
            <a:off x="5852160" y="2249424"/>
            <a:ext cx="2743200" cy="274320"/>
          </a:xfrm>
          <a:prstGeom prst="rect">
            <a:avLst/>
          </a:prstGeom>
          <a:noFill/>
          <a:ln/>
        </p:spPr>
        <p:txBody>
          <a:bodyPr wrap="square" lIns="0" tIns="0" rIns="0" bIns="0" rtlCol="0" anchor="ctr"/>
          <a:lstStyle/>
          <a:p>
            <a:pPr marL="0" indent="0">
              <a:buNone/>
            </a:pPr>
            <a:r>
              <a:rPr lang="en-US" sz="1300" b="1">
                <a:solidFill>
                  <a:srgbClr val="2E8B7F"/>
                </a:solidFill>
                <a:latin typeface="Cambria" pitchFamily="34" charset="0"/>
                <a:ea typeface="Cambria" pitchFamily="34" charset="-122"/>
                <a:cs typeface="Cambria" pitchFamily="34" charset="-120"/>
              </a:rPr>
              <a:t>ACF 0.909</a:t>
            </a:r>
            <a:endParaRPr lang="en-US" sz="1300"/>
          </a:p>
        </p:txBody>
      </p:sp>
      <p:sp>
        <p:nvSpPr>
          <p:cNvPr id="12" name="Shape 8"/>
          <p:cNvSpPr/>
          <p:nvPr/>
        </p:nvSpPr>
        <p:spPr>
          <a:xfrm>
            <a:off x="5669280" y="2670048"/>
            <a:ext cx="3017520" cy="1097280"/>
          </a:xfrm>
          <a:prstGeom prst="roundRect">
            <a:avLst>
              <a:gd name="adj" fmla="val 6667"/>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9"/>
          <p:cNvSpPr/>
          <p:nvPr/>
        </p:nvSpPr>
        <p:spPr>
          <a:xfrm>
            <a:off x="5852160" y="2779776"/>
            <a:ext cx="2743200" cy="256032"/>
          </a:xfrm>
          <a:prstGeom prst="rect">
            <a:avLst/>
          </a:prstGeom>
          <a:noFill/>
          <a:ln/>
        </p:spPr>
        <p:txBody>
          <a:bodyPr wrap="square" lIns="0" tIns="0" rIns="0" bIns="0" rtlCol="0" anchor="ctr"/>
          <a:lstStyle/>
          <a:p>
            <a:pPr marL="0" indent="0">
              <a:buNone/>
            </a:pPr>
            <a:r>
              <a:rPr lang="en-US" sz="1050" b="1">
                <a:solidFill>
                  <a:srgbClr val="0E5E5C"/>
                </a:solidFill>
                <a:latin typeface="Calibri" pitchFamily="34" charset="0"/>
                <a:ea typeface="Calibri" pitchFamily="34" charset="-122"/>
                <a:cs typeface="Calibri" pitchFamily="34" charset="-120"/>
              </a:rPr>
              <a:t>Worst-answered question</a:t>
            </a:r>
            <a:endParaRPr lang="en-US" sz="1050"/>
          </a:p>
        </p:txBody>
      </p:sp>
      <p:sp>
        <p:nvSpPr>
          <p:cNvPr id="14" name="Text 10"/>
          <p:cNvSpPr/>
          <p:nvPr/>
        </p:nvSpPr>
        <p:spPr>
          <a:xfrm>
            <a:off x="5852160" y="3035808"/>
            <a:ext cx="2743200" cy="457200"/>
          </a:xfrm>
          <a:prstGeom prst="rect">
            <a:avLst/>
          </a:prstGeom>
          <a:noFill/>
          <a:ln/>
        </p:spPr>
        <p:txBody>
          <a:bodyPr wrap="square" lIns="0" tIns="0" rIns="0" bIns="0" rtlCol="0" anchor="ctr"/>
          <a:lstStyle/>
          <a:p>
            <a:pPr marL="0" indent="0">
              <a:buNone/>
            </a:pPr>
            <a:r>
              <a:rPr lang="en-US" sz="1150" b="1" i="1">
                <a:solidFill>
                  <a:srgbClr val="0A2E36"/>
                </a:solidFill>
                <a:latin typeface="Calibri" pitchFamily="34" charset="0"/>
                <a:ea typeface="Calibri" pitchFamily="34" charset="-122"/>
                <a:cs typeface="Calibri" pitchFamily="34" charset="-120"/>
              </a:rPr>
              <a:t>“How does it weigh different features?”</a:t>
            </a:r>
            <a:endParaRPr lang="en-US" sz="1150"/>
          </a:p>
        </p:txBody>
      </p:sp>
      <p:sp>
        <p:nvSpPr>
          <p:cNvPr id="15" name="Text 11"/>
          <p:cNvSpPr/>
          <p:nvPr/>
        </p:nvSpPr>
        <p:spPr>
          <a:xfrm>
            <a:off x="5852160" y="3456432"/>
            <a:ext cx="2743200" cy="274320"/>
          </a:xfrm>
          <a:prstGeom prst="rect">
            <a:avLst/>
          </a:prstGeom>
          <a:noFill/>
          <a:ln/>
        </p:spPr>
        <p:txBody>
          <a:bodyPr wrap="square" lIns="0" tIns="0" rIns="0" bIns="0" rtlCol="0" anchor="ctr"/>
          <a:lstStyle/>
          <a:p>
            <a:pPr marL="0" indent="0">
              <a:buNone/>
            </a:pPr>
            <a:r>
              <a:rPr lang="en-US" sz="1300" b="1">
                <a:solidFill>
                  <a:srgbClr val="C25A4B"/>
                </a:solidFill>
                <a:latin typeface="Cambria" pitchFamily="34" charset="0"/>
                <a:ea typeface="Cambria" pitchFamily="34" charset="-122"/>
                <a:cs typeface="Cambria" pitchFamily="34" charset="-120"/>
              </a:rPr>
              <a:t>ACF 0.441</a:t>
            </a:r>
            <a:endParaRPr lang="en-US" sz="1300"/>
          </a:p>
        </p:txBody>
      </p:sp>
      <p:sp>
        <p:nvSpPr>
          <p:cNvPr id="16" name="Shape 12"/>
          <p:cNvSpPr/>
          <p:nvPr/>
        </p:nvSpPr>
        <p:spPr>
          <a:xfrm>
            <a:off x="5669280" y="3877056"/>
            <a:ext cx="3017520" cy="713232"/>
          </a:xfrm>
          <a:prstGeom prst="roundRect">
            <a:avLst>
              <a:gd name="adj" fmla="val 10256"/>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17" name="Text 13"/>
          <p:cNvSpPr/>
          <p:nvPr/>
        </p:nvSpPr>
        <p:spPr>
          <a:xfrm>
            <a:off x="5852160" y="3877056"/>
            <a:ext cx="2697480" cy="713232"/>
          </a:xfrm>
          <a:prstGeom prst="rect">
            <a:avLst/>
          </a:prstGeom>
          <a:noFill/>
          <a:ln/>
        </p:spPr>
        <p:txBody>
          <a:bodyPr wrap="square" lIns="0" tIns="0" rIns="0" bIns="0" rtlCol="0" anchor="ctr"/>
          <a:lstStyle/>
          <a:p>
            <a:pPr marL="0" indent="0">
              <a:buNone/>
            </a:pPr>
            <a:r>
              <a:rPr lang="en-US" sz="1050">
                <a:solidFill>
                  <a:srgbClr val="FFFFFF"/>
                </a:solidFill>
                <a:latin typeface="Calibri" pitchFamily="34" charset="0"/>
                <a:ea typeface="Calibri" pitchFamily="34" charset="-122"/>
                <a:cs typeface="Calibri" pitchFamily="34" charset="-120"/>
              </a:rPr>
              <a:t>Specific questions score high; </a:t>
            </a:r>
            <a:r>
              <a:rPr lang="en-US" sz="1050" b="1">
                <a:solidFill>
                  <a:srgbClr val="E9B44C"/>
                </a:solidFill>
                <a:latin typeface="Calibri" pitchFamily="34" charset="0"/>
                <a:ea typeface="Calibri" pitchFamily="34" charset="-122"/>
                <a:cs typeface="Calibri" pitchFamily="34" charset="-120"/>
              </a:rPr>
              <a:t>vague, open-ended ones score low</a:t>
            </a:r>
            <a:r>
              <a:rPr lang="en-US" sz="1050">
                <a:solidFill>
                  <a:srgbClr val="FFFFFF"/>
                </a:solidFill>
                <a:latin typeface="Calibri" pitchFamily="34" charset="0"/>
                <a:ea typeface="Calibri" pitchFamily="34" charset="-122"/>
                <a:cs typeface="Calibri" pitchFamily="34" charset="-120"/>
              </a:rPr>
              <a:t> — these need refining.</a:t>
            </a:r>
            <a:endParaRPr lang="en-US" sz="1050"/>
          </a:p>
        </p:txBody>
      </p:sp>
      <p:sp>
        <p:nvSpPr>
          <p:cNvPr id="18" name="Text 14"/>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19</a:t>
            </a:r>
            <a:endParaRPr lang="en-US" sz="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Model benchmarking</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Different strengths suggest different use-cases</a:t>
            </a:r>
            <a:endParaRPr lang="en-US" sz="1250" dirty="0"/>
          </a:p>
        </p:txBody>
      </p:sp>
      <p:sp>
        <p:nvSpPr>
          <p:cNvPr id="6" name="Shape 3"/>
          <p:cNvSpPr/>
          <p:nvPr/>
        </p:nvSpPr>
        <p:spPr>
          <a:xfrm>
            <a:off x="457200" y="1371600"/>
            <a:ext cx="2679192" cy="3200400"/>
          </a:xfrm>
          <a:prstGeom prst="roundRect">
            <a:avLst>
              <a:gd name="adj" fmla="val 273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1522476" y="1572768"/>
            <a:ext cx="548640" cy="548640"/>
          </a:xfrm>
          <a:prstGeom prst="ellipse">
            <a:avLst/>
          </a:prstGeom>
          <a:solidFill>
            <a:srgbClr val="127475"/>
          </a:solidFill>
          <a:ln/>
        </p:spPr>
        <p:txBody>
          <a:bodyPr/>
          <a:lstStyle/>
          <a:p>
            <a:endParaRPr lang="en-DE"/>
          </a:p>
        </p:txBody>
      </p:sp>
      <p:sp>
        <p:nvSpPr>
          <p:cNvPr id="8" name="Text 5"/>
          <p:cNvSpPr/>
          <p:nvPr/>
        </p:nvSpPr>
        <p:spPr>
          <a:xfrm>
            <a:off x="1522476" y="1572768"/>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1</a:t>
            </a:r>
            <a:endParaRPr lang="en-US" sz="2200"/>
          </a:p>
        </p:txBody>
      </p:sp>
      <p:sp>
        <p:nvSpPr>
          <p:cNvPr id="9" name="Text 6"/>
          <p:cNvSpPr/>
          <p:nvPr/>
        </p:nvSpPr>
        <p:spPr>
          <a:xfrm>
            <a:off x="548640" y="2212848"/>
            <a:ext cx="2496312" cy="274320"/>
          </a:xfrm>
          <a:prstGeom prst="rect">
            <a:avLst/>
          </a:prstGeom>
          <a:noFill/>
          <a:ln/>
        </p:spPr>
        <p:txBody>
          <a:bodyPr wrap="square" lIns="0" tIns="0" rIns="0" bIns="0" rtlCol="0" anchor="ctr"/>
          <a:lstStyle/>
          <a:p>
            <a:pPr marL="0" indent="0" algn="ctr">
              <a:buNone/>
            </a:pPr>
            <a:r>
              <a:rPr lang="en-US" sz="1400" b="1">
                <a:solidFill>
                  <a:srgbClr val="0A2E36"/>
                </a:solidFill>
                <a:latin typeface="Cambria" pitchFamily="34" charset="0"/>
                <a:ea typeface="Cambria" pitchFamily="34" charset="-122"/>
                <a:cs typeface="Cambria" pitchFamily="34" charset="-120"/>
              </a:rPr>
              <a:t>ChatGPT 5.2</a:t>
            </a:r>
            <a:endParaRPr lang="en-US" sz="1400"/>
          </a:p>
        </p:txBody>
      </p:sp>
      <p:sp>
        <p:nvSpPr>
          <p:cNvPr id="10" name="Text 7"/>
          <p:cNvSpPr/>
          <p:nvPr/>
        </p:nvSpPr>
        <p:spPr>
          <a:xfrm>
            <a:off x="548640" y="2487168"/>
            <a:ext cx="2496312" cy="274320"/>
          </a:xfrm>
          <a:prstGeom prst="rect">
            <a:avLst/>
          </a:prstGeom>
          <a:noFill/>
          <a:ln/>
        </p:spPr>
        <p:txBody>
          <a:bodyPr wrap="square" lIns="0" tIns="0" rIns="0" bIns="0" rtlCol="0" anchor="ctr"/>
          <a:lstStyle/>
          <a:p>
            <a:pPr marL="0" indent="0" algn="ctr">
              <a:buNone/>
            </a:pPr>
            <a:r>
              <a:rPr lang="en-US" sz="1100" i="1">
                <a:solidFill>
                  <a:srgbClr val="127475"/>
                </a:solidFill>
                <a:latin typeface="Calibri" pitchFamily="34" charset="0"/>
                <a:ea typeface="Calibri" pitchFamily="34" charset="-122"/>
                <a:cs typeface="Calibri" pitchFamily="34" charset="-120"/>
              </a:rPr>
              <a:t>“Best all-rounder”</a:t>
            </a:r>
            <a:endParaRPr lang="en-US" sz="1100"/>
          </a:p>
        </p:txBody>
      </p:sp>
      <p:sp>
        <p:nvSpPr>
          <p:cNvPr id="11" name="Text 8"/>
          <p:cNvSpPr/>
          <p:nvPr/>
        </p:nvSpPr>
        <p:spPr>
          <a:xfrm>
            <a:off x="658368" y="2852928"/>
            <a:ext cx="2313432" cy="1051560"/>
          </a:xfrm>
          <a:prstGeom prst="rect">
            <a:avLst/>
          </a:prstGeom>
          <a:noFill/>
          <a:ln/>
        </p:spPr>
        <p:txBody>
          <a:bodyPr wrap="square" lIns="0" tIns="0" rIns="0" bIns="0" rtlCol="0" anchor="ctr"/>
          <a:lstStyle/>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Highest accuracy and faithfulness</a:t>
            </a:r>
            <a:endParaRPr lang="en-US" sz="1050"/>
          </a:p>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Most consistent readability</a:t>
            </a:r>
            <a:endParaRPr lang="en-US" sz="1050"/>
          </a:p>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Best overall ACF (0.720)</a:t>
            </a:r>
            <a:endParaRPr lang="en-US" sz="1050"/>
          </a:p>
        </p:txBody>
      </p:sp>
      <p:sp>
        <p:nvSpPr>
          <p:cNvPr id="12" name="Shape 9"/>
          <p:cNvSpPr/>
          <p:nvPr/>
        </p:nvSpPr>
        <p:spPr>
          <a:xfrm>
            <a:off x="621792" y="3968496"/>
            <a:ext cx="2350008" cy="493776"/>
          </a:xfrm>
          <a:prstGeom prst="roundRect">
            <a:avLst>
              <a:gd name="adj" fmla="val 9259"/>
            </a:avLst>
          </a:prstGeom>
          <a:solidFill>
            <a:srgbClr val="127475"/>
          </a:solidFill>
          <a:ln/>
        </p:spPr>
        <p:txBody>
          <a:bodyPr/>
          <a:lstStyle/>
          <a:p>
            <a:endParaRPr lang="en-DE"/>
          </a:p>
        </p:txBody>
      </p:sp>
      <p:sp>
        <p:nvSpPr>
          <p:cNvPr id="13" name="Text 10"/>
          <p:cNvSpPr/>
          <p:nvPr/>
        </p:nvSpPr>
        <p:spPr>
          <a:xfrm>
            <a:off x="694944" y="3968496"/>
            <a:ext cx="2203704" cy="493776"/>
          </a:xfrm>
          <a:prstGeom prst="rect">
            <a:avLst/>
          </a:prstGeom>
          <a:noFill/>
          <a:ln/>
        </p:spPr>
        <p:txBody>
          <a:bodyPr wrap="square" lIns="0" tIns="0" rIns="0" bIns="0" rtlCol="0" anchor="ctr"/>
          <a:lstStyle/>
          <a:p>
            <a:pPr marL="0" indent="0" algn="ctr">
              <a:buNone/>
            </a:pPr>
            <a:r>
              <a:rPr lang="en-US" sz="980" b="1">
                <a:solidFill>
                  <a:srgbClr val="FFFFFF"/>
                </a:solidFill>
                <a:latin typeface="Calibri" pitchFamily="34" charset="0"/>
                <a:ea typeface="Calibri" pitchFamily="34" charset="-122"/>
                <a:cs typeface="Calibri" pitchFamily="34" charset="-120"/>
              </a:rPr>
              <a:t>High-stakes domains where balance matters</a:t>
            </a:r>
            <a:endParaRPr lang="en-US" sz="980"/>
          </a:p>
        </p:txBody>
      </p:sp>
      <p:sp>
        <p:nvSpPr>
          <p:cNvPr id="14" name="Shape 11"/>
          <p:cNvSpPr/>
          <p:nvPr/>
        </p:nvSpPr>
        <p:spPr>
          <a:xfrm>
            <a:off x="3232404" y="1371600"/>
            <a:ext cx="2679192" cy="3200400"/>
          </a:xfrm>
          <a:prstGeom prst="roundRect">
            <a:avLst>
              <a:gd name="adj" fmla="val 273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5" name="Shape 12"/>
          <p:cNvSpPr/>
          <p:nvPr/>
        </p:nvSpPr>
        <p:spPr>
          <a:xfrm>
            <a:off x="4297680" y="1572768"/>
            <a:ext cx="548640" cy="548640"/>
          </a:xfrm>
          <a:prstGeom prst="ellipse">
            <a:avLst/>
          </a:prstGeom>
          <a:solidFill>
            <a:srgbClr val="E07A5F"/>
          </a:solidFill>
          <a:ln/>
        </p:spPr>
        <p:txBody>
          <a:bodyPr/>
          <a:lstStyle/>
          <a:p>
            <a:endParaRPr lang="en-DE"/>
          </a:p>
        </p:txBody>
      </p:sp>
      <p:sp>
        <p:nvSpPr>
          <p:cNvPr id="16" name="Text 13"/>
          <p:cNvSpPr/>
          <p:nvPr/>
        </p:nvSpPr>
        <p:spPr>
          <a:xfrm>
            <a:off x="4297680" y="1572768"/>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2</a:t>
            </a:r>
            <a:endParaRPr lang="en-US" sz="2200"/>
          </a:p>
        </p:txBody>
      </p:sp>
      <p:sp>
        <p:nvSpPr>
          <p:cNvPr id="17" name="Text 14"/>
          <p:cNvSpPr/>
          <p:nvPr/>
        </p:nvSpPr>
        <p:spPr>
          <a:xfrm>
            <a:off x="3323844" y="2212848"/>
            <a:ext cx="2496312" cy="274320"/>
          </a:xfrm>
          <a:prstGeom prst="rect">
            <a:avLst/>
          </a:prstGeom>
          <a:noFill/>
          <a:ln/>
        </p:spPr>
        <p:txBody>
          <a:bodyPr wrap="square" lIns="0" tIns="0" rIns="0" bIns="0" rtlCol="0" anchor="ctr"/>
          <a:lstStyle/>
          <a:p>
            <a:pPr marL="0" indent="0" algn="ctr">
              <a:buNone/>
            </a:pPr>
            <a:r>
              <a:rPr lang="en-US" sz="1400" b="1">
                <a:solidFill>
                  <a:srgbClr val="0A2E36"/>
                </a:solidFill>
                <a:latin typeface="Cambria" pitchFamily="34" charset="0"/>
                <a:ea typeface="Cambria" pitchFamily="34" charset="-122"/>
                <a:cs typeface="Cambria" pitchFamily="34" charset="-120"/>
              </a:rPr>
              <a:t>Claude Opus 4.6</a:t>
            </a:r>
            <a:endParaRPr lang="en-US" sz="1400"/>
          </a:p>
        </p:txBody>
      </p:sp>
      <p:sp>
        <p:nvSpPr>
          <p:cNvPr id="18" name="Text 15"/>
          <p:cNvSpPr/>
          <p:nvPr/>
        </p:nvSpPr>
        <p:spPr>
          <a:xfrm>
            <a:off x="3323844" y="2487168"/>
            <a:ext cx="2496312" cy="274320"/>
          </a:xfrm>
          <a:prstGeom prst="rect">
            <a:avLst/>
          </a:prstGeom>
          <a:noFill/>
          <a:ln/>
        </p:spPr>
        <p:txBody>
          <a:bodyPr wrap="square" lIns="0" tIns="0" rIns="0" bIns="0" rtlCol="0" anchor="ctr"/>
          <a:lstStyle/>
          <a:p>
            <a:pPr marL="0" indent="0" algn="ctr">
              <a:buNone/>
            </a:pPr>
            <a:r>
              <a:rPr lang="en-US" sz="1100" i="1">
                <a:solidFill>
                  <a:srgbClr val="E07A5F"/>
                </a:solidFill>
                <a:latin typeface="Calibri" pitchFamily="34" charset="0"/>
                <a:ea typeface="Calibri" pitchFamily="34" charset="-122"/>
                <a:cs typeface="Calibri" pitchFamily="34" charset="-120"/>
              </a:rPr>
              <a:t>“The specialist”</a:t>
            </a:r>
            <a:endParaRPr lang="en-US" sz="1100"/>
          </a:p>
        </p:txBody>
      </p:sp>
      <p:sp>
        <p:nvSpPr>
          <p:cNvPr id="19" name="Text 16"/>
          <p:cNvSpPr/>
          <p:nvPr/>
        </p:nvSpPr>
        <p:spPr>
          <a:xfrm>
            <a:off x="3433572" y="2852928"/>
            <a:ext cx="2313432" cy="1051560"/>
          </a:xfrm>
          <a:prstGeom prst="rect">
            <a:avLst/>
          </a:prstGeom>
          <a:noFill/>
          <a:ln/>
        </p:spPr>
        <p:txBody>
          <a:bodyPr wrap="square" lIns="0" tIns="0" rIns="0" bIns="0" rtlCol="0" anchor="ctr"/>
          <a:lstStyle/>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Most complete answers</a:t>
            </a:r>
            <a:endParaRPr lang="en-US" sz="1050"/>
          </a:p>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In-depth, analytical, technical</a:t>
            </a:r>
            <a:endParaRPr lang="en-US" sz="1050"/>
          </a:p>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Most verbose and hardest to read</a:t>
            </a:r>
            <a:endParaRPr lang="en-US" sz="1050"/>
          </a:p>
        </p:txBody>
      </p:sp>
      <p:sp>
        <p:nvSpPr>
          <p:cNvPr id="20" name="Shape 17"/>
          <p:cNvSpPr/>
          <p:nvPr/>
        </p:nvSpPr>
        <p:spPr>
          <a:xfrm>
            <a:off x="3396996" y="3968496"/>
            <a:ext cx="2350008" cy="493776"/>
          </a:xfrm>
          <a:prstGeom prst="roundRect">
            <a:avLst>
              <a:gd name="adj" fmla="val 9259"/>
            </a:avLst>
          </a:prstGeom>
          <a:solidFill>
            <a:srgbClr val="E07A5F"/>
          </a:solidFill>
          <a:ln/>
        </p:spPr>
        <p:txBody>
          <a:bodyPr/>
          <a:lstStyle/>
          <a:p>
            <a:endParaRPr lang="en-DE"/>
          </a:p>
        </p:txBody>
      </p:sp>
      <p:sp>
        <p:nvSpPr>
          <p:cNvPr id="21" name="Text 18"/>
          <p:cNvSpPr/>
          <p:nvPr/>
        </p:nvSpPr>
        <p:spPr>
          <a:xfrm>
            <a:off x="3470148" y="3968496"/>
            <a:ext cx="2203704" cy="493776"/>
          </a:xfrm>
          <a:prstGeom prst="rect">
            <a:avLst/>
          </a:prstGeom>
          <a:noFill/>
          <a:ln/>
        </p:spPr>
        <p:txBody>
          <a:bodyPr wrap="square" lIns="0" tIns="0" rIns="0" bIns="0" rtlCol="0" anchor="ctr"/>
          <a:lstStyle/>
          <a:p>
            <a:pPr marL="0" indent="0" algn="ctr">
              <a:buNone/>
            </a:pPr>
            <a:r>
              <a:rPr lang="en-US" sz="980" b="1">
                <a:solidFill>
                  <a:srgbClr val="FFFFFF"/>
                </a:solidFill>
                <a:latin typeface="Calibri" pitchFamily="34" charset="0"/>
                <a:ea typeface="Calibri" pitchFamily="34" charset="-122"/>
                <a:cs typeface="Calibri" pitchFamily="34" charset="-120"/>
              </a:rPr>
              <a:t>Technical audiences who want depth</a:t>
            </a:r>
            <a:endParaRPr lang="en-US" sz="980"/>
          </a:p>
        </p:txBody>
      </p:sp>
      <p:sp>
        <p:nvSpPr>
          <p:cNvPr id="22" name="Shape 19"/>
          <p:cNvSpPr/>
          <p:nvPr/>
        </p:nvSpPr>
        <p:spPr>
          <a:xfrm>
            <a:off x="6007608" y="1371600"/>
            <a:ext cx="2679192" cy="3200400"/>
          </a:xfrm>
          <a:prstGeom prst="roundRect">
            <a:avLst>
              <a:gd name="adj" fmla="val 273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23" name="Shape 20"/>
          <p:cNvSpPr/>
          <p:nvPr/>
        </p:nvSpPr>
        <p:spPr>
          <a:xfrm>
            <a:off x="7072884" y="1572768"/>
            <a:ext cx="548640" cy="548640"/>
          </a:xfrm>
          <a:prstGeom prst="ellipse">
            <a:avLst/>
          </a:prstGeom>
          <a:solidFill>
            <a:srgbClr val="3D5A80"/>
          </a:solidFill>
          <a:ln/>
        </p:spPr>
        <p:txBody>
          <a:bodyPr/>
          <a:lstStyle/>
          <a:p>
            <a:endParaRPr lang="en-DE"/>
          </a:p>
        </p:txBody>
      </p:sp>
      <p:sp>
        <p:nvSpPr>
          <p:cNvPr id="24" name="Text 21"/>
          <p:cNvSpPr/>
          <p:nvPr/>
        </p:nvSpPr>
        <p:spPr>
          <a:xfrm>
            <a:off x="7072884" y="1572768"/>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3</a:t>
            </a:r>
            <a:endParaRPr lang="en-US" sz="2200"/>
          </a:p>
        </p:txBody>
      </p:sp>
      <p:sp>
        <p:nvSpPr>
          <p:cNvPr id="25" name="Text 22"/>
          <p:cNvSpPr/>
          <p:nvPr/>
        </p:nvSpPr>
        <p:spPr>
          <a:xfrm>
            <a:off x="6099048" y="2212848"/>
            <a:ext cx="2496312" cy="274320"/>
          </a:xfrm>
          <a:prstGeom prst="rect">
            <a:avLst/>
          </a:prstGeom>
          <a:noFill/>
          <a:ln/>
        </p:spPr>
        <p:txBody>
          <a:bodyPr wrap="square" lIns="0" tIns="0" rIns="0" bIns="0" rtlCol="0" anchor="ctr"/>
          <a:lstStyle/>
          <a:p>
            <a:pPr marL="0" indent="0" algn="ctr">
              <a:buNone/>
            </a:pPr>
            <a:r>
              <a:rPr lang="en-US" sz="1400" b="1">
                <a:solidFill>
                  <a:srgbClr val="0A2E36"/>
                </a:solidFill>
                <a:latin typeface="Cambria" pitchFamily="34" charset="0"/>
                <a:ea typeface="Cambria" pitchFamily="34" charset="-122"/>
                <a:cs typeface="Cambria" pitchFamily="34" charset="-120"/>
              </a:rPr>
              <a:t>Gemini 3 Pro</a:t>
            </a:r>
            <a:endParaRPr lang="en-US" sz="1400"/>
          </a:p>
        </p:txBody>
      </p:sp>
      <p:sp>
        <p:nvSpPr>
          <p:cNvPr id="26" name="Text 23"/>
          <p:cNvSpPr/>
          <p:nvPr/>
        </p:nvSpPr>
        <p:spPr>
          <a:xfrm>
            <a:off x="6099048" y="2487168"/>
            <a:ext cx="2496312" cy="274320"/>
          </a:xfrm>
          <a:prstGeom prst="rect">
            <a:avLst/>
          </a:prstGeom>
          <a:noFill/>
          <a:ln/>
        </p:spPr>
        <p:txBody>
          <a:bodyPr wrap="square" lIns="0" tIns="0" rIns="0" bIns="0" rtlCol="0" anchor="ctr"/>
          <a:lstStyle/>
          <a:p>
            <a:pPr marL="0" indent="0" algn="ctr">
              <a:buNone/>
            </a:pPr>
            <a:r>
              <a:rPr lang="en-US" sz="1100" i="1" dirty="0">
                <a:solidFill>
                  <a:srgbClr val="3D5A80"/>
                </a:solidFill>
                <a:latin typeface="Calibri" pitchFamily="34" charset="0"/>
                <a:ea typeface="Calibri" pitchFamily="34" charset="-122"/>
                <a:cs typeface="Calibri" pitchFamily="34" charset="-120"/>
              </a:rPr>
              <a:t>“The communicator”</a:t>
            </a:r>
            <a:endParaRPr lang="en-US" sz="1100" dirty="0"/>
          </a:p>
        </p:txBody>
      </p:sp>
      <p:sp>
        <p:nvSpPr>
          <p:cNvPr id="27" name="Text 24"/>
          <p:cNvSpPr/>
          <p:nvPr/>
        </p:nvSpPr>
        <p:spPr>
          <a:xfrm>
            <a:off x="6208776" y="2852928"/>
            <a:ext cx="2313432" cy="1051560"/>
          </a:xfrm>
          <a:prstGeom prst="rect">
            <a:avLst/>
          </a:prstGeom>
          <a:noFill/>
          <a:ln/>
        </p:spPr>
        <p:txBody>
          <a:bodyPr wrap="square" lIns="0" tIns="0" rIns="0" bIns="0" rtlCol="0" anchor="ctr"/>
          <a:lstStyle/>
          <a:p>
            <a:pPr marL="152400" indent="-152400">
              <a:spcAft>
                <a:spcPts val="500"/>
              </a:spcAft>
              <a:buSzPct val="100000"/>
              <a:buFontTx/>
              <a:buChar char="•"/>
            </a:pPr>
            <a:r>
              <a:rPr lang="en-US" sz="1050">
                <a:solidFill>
                  <a:srgbClr val="183036"/>
                </a:solidFill>
                <a:latin typeface="Calibri" pitchFamily="34" charset="0"/>
                <a:ea typeface="Calibri" pitchFamily="34" charset="-122"/>
                <a:cs typeface="Calibri" pitchFamily="34" charset="-120"/>
              </a:rPr>
              <a:t>Most concise and easiest to read</a:t>
            </a:r>
            <a:endParaRPr lang="en-US" sz="1050"/>
          </a:p>
          <a:p>
            <a:pPr marL="152400" indent="-152400">
              <a:spcAft>
                <a:spcPts val="500"/>
              </a:spcAft>
              <a:buSzPct val="100000"/>
              <a:buChar char="•"/>
            </a:pPr>
            <a:r>
              <a:rPr lang="en-US" sz="1050">
                <a:solidFill>
                  <a:srgbClr val="183036"/>
                </a:solidFill>
                <a:latin typeface="Calibri" pitchFamily="34" charset="0"/>
                <a:ea typeface="Calibri" pitchFamily="34" charset="-122"/>
                <a:cs typeface="Calibri" pitchFamily="34" charset="-120"/>
              </a:rPr>
              <a:t>Trade-off with lowest accuracy</a:t>
            </a:r>
            <a:endParaRPr lang="en-US" sz="1050"/>
          </a:p>
        </p:txBody>
      </p:sp>
      <p:sp>
        <p:nvSpPr>
          <p:cNvPr id="28" name="Shape 25"/>
          <p:cNvSpPr/>
          <p:nvPr/>
        </p:nvSpPr>
        <p:spPr>
          <a:xfrm>
            <a:off x="6172200" y="3968496"/>
            <a:ext cx="2350008" cy="493776"/>
          </a:xfrm>
          <a:prstGeom prst="roundRect">
            <a:avLst>
              <a:gd name="adj" fmla="val 9259"/>
            </a:avLst>
          </a:prstGeom>
          <a:solidFill>
            <a:srgbClr val="3D5A80"/>
          </a:solidFill>
          <a:ln/>
        </p:spPr>
        <p:txBody>
          <a:bodyPr/>
          <a:lstStyle/>
          <a:p>
            <a:endParaRPr lang="en-DE"/>
          </a:p>
        </p:txBody>
      </p:sp>
      <p:sp>
        <p:nvSpPr>
          <p:cNvPr id="29" name="Text 26"/>
          <p:cNvSpPr/>
          <p:nvPr/>
        </p:nvSpPr>
        <p:spPr>
          <a:xfrm>
            <a:off x="6245352" y="3968496"/>
            <a:ext cx="2203704" cy="493776"/>
          </a:xfrm>
          <a:prstGeom prst="rect">
            <a:avLst/>
          </a:prstGeom>
          <a:noFill/>
          <a:ln/>
        </p:spPr>
        <p:txBody>
          <a:bodyPr wrap="square" lIns="0" tIns="0" rIns="0" bIns="0" rtlCol="0" anchor="ctr"/>
          <a:lstStyle/>
          <a:p>
            <a:pPr marL="0" indent="0" algn="ctr">
              <a:buNone/>
            </a:pPr>
            <a:r>
              <a:rPr lang="en-US" sz="980" b="1" dirty="0">
                <a:solidFill>
                  <a:srgbClr val="FFFFFF"/>
                </a:solidFill>
                <a:latin typeface="Calibri" pitchFamily="34" charset="0"/>
                <a:ea typeface="Calibri" pitchFamily="34" charset="-122"/>
                <a:cs typeface="Calibri" pitchFamily="34" charset="-120"/>
              </a:rPr>
              <a:t>Quick synopses and summaries</a:t>
            </a:r>
            <a:endParaRPr lang="en-US" sz="980" dirty="0"/>
          </a:p>
        </p:txBody>
      </p:sp>
      <p:sp>
        <p:nvSpPr>
          <p:cNvPr id="30" name="Text 2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20</a:t>
            </a:r>
            <a:endParaRPr 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r>
              <a:rPr lang="en-US" sz="2700" b="1" dirty="0">
                <a:solidFill>
                  <a:srgbClr val="0A2E36"/>
                </a:solidFill>
                <a:latin typeface="Cambria" pitchFamily="34" charset="0"/>
                <a:ea typeface="Cambria" pitchFamily="34" charset="-122"/>
                <a:cs typeface="Cambria" pitchFamily="34" charset="-120"/>
              </a:rPr>
              <a:t>Limitations</a:t>
            </a:r>
            <a:r>
              <a:rPr lang="en-US" sz="2700" dirty="0"/>
              <a:t> </a:t>
            </a:r>
            <a:r>
              <a:rPr lang="en-US" sz="2700" b="1" dirty="0">
                <a:solidFill>
                  <a:srgbClr val="0A2E36"/>
                </a:solidFill>
                <a:latin typeface="Cambria" pitchFamily="34" charset="0"/>
                <a:ea typeface="Cambria" pitchFamily="34" charset="-122"/>
                <a:cs typeface="Cambria" pitchFamily="34" charset="-120"/>
              </a:rPr>
              <a:t>and future work</a:t>
            </a:r>
            <a:endParaRPr lang="en-US" sz="2700" dirty="0"/>
          </a:p>
        </p:txBody>
      </p:sp>
      <p:sp>
        <p:nvSpPr>
          <p:cNvPr id="6" name="Shape 3"/>
          <p:cNvSpPr/>
          <p:nvPr/>
        </p:nvSpPr>
        <p:spPr>
          <a:xfrm>
            <a:off x="457200" y="1417320"/>
            <a:ext cx="8229600" cy="960120"/>
          </a:xfrm>
          <a:prstGeom prst="roundRect">
            <a:avLst>
              <a:gd name="adj" fmla="val 7619"/>
            </a:avLst>
          </a:prstGeom>
          <a:solidFill>
            <a:srgbClr val="0A2E36"/>
          </a:solidFill>
          <a:ln/>
          <a:effectLst>
            <a:outerShdw blurRad="88900" dist="25400" dir="5400000" algn="bl" rotWithShape="0">
              <a:srgbClr val="0A2E36">
                <a:alpha val="10000"/>
              </a:srgbClr>
            </a:outerShdw>
          </a:effectLst>
        </p:spPr>
        <p:txBody>
          <a:bodyPr/>
          <a:lstStyle/>
          <a:p>
            <a:endParaRPr lang="en-DE"/>
          </a:p>
        </p:txBody>
      </p:sp>
      <p:sp>
        <p:nvSpPr>
          <p:cNvPr id="7" name="Shape 4"/>
          <p:cNvSpPr/>
          <p:nvPr/>
        </p:nvSpPr>
        <p:spPr>
          <a:xfrm>
            <a:off x="676656" y="1627632"/>
            <a:ext cx="548640" cy="548640"/>
          </a:xfrm>
          <a:prstGeom prst="ellipse">
            <a:avLst/>
          </a:prstGeom>
          <a:solidFill>
            <a:srgbClr val="E9B44C"/>
          </a:solidFill>
          <a:ln/>
        </p:spPr>
        <p:txBody>
          <a:bodyPr/>
          <a:lstStyle/>
          <a:p>
            <a:endParaRPr lang="en-DE"/>
          </a:p>
        </p:txBody>
      </p:sp>
      <p:pic>
        <p:nvPicPr>
          <p:cNvPr id="8" name="Image 1" descr="preencoded.png"/>
          <p:cNvPicPr>
            <a:picLocks noChangeAspect="1"/>
          </p:cNvPicPr>
          <p:nvPr/>
        </p:nvPicPr>
        <p:blipFill>
          <a:blip r:embed="rId4"/>
          <a:stretch>
            <a:fillRect/>
          </a:stretch>
        </p:blipFill>
        <p:spPr>
          <a:xfrm>
            <a:off x="819302" y="1770278"/>
            <a:ext cx="263347" cy="263347"/>
          </a:xfrm>
          <a:prstGeom prst="rect">
            <a:avLst/>
          </a:prstGeom>
        </p:spPr>
      </p:pic>
      <p:sp>
        <p:nvSpPr>
          <p:cNvPr id="9" name="Text 5"/>
          <p:cNvSpPr/>
          <p:nvPr/>
        </p:nvSpPr>
        <p:spPr>
          <a:xfrm>
            <a:off x="1463040" y="1517904"/>
            <a:ext cx="7086600" cy="777240"/>
          </a:xfrm>
          <a:prstGeom prst="rect">
            <a:avLst/>
          </a:prstGeom>
          <a:noFill/>
          <a:ln/>
        </p:spPr>
        <p:txBody>
          <a:bodyPr wrap="square" lIns="0" tIns="0" rIns="0" bIns="0" rtlCol="0" anchor="ctr"/>
          <a:lstStyle/>
          <a:p>
            <a:pPr marL="0" indent="0">
              <a:buNone/>
            </a:pPr>
            <a:r>
              <a:rPr lang="en-US" sz="1250" b="1">
                <a:solidFill>
                  <a:srgbClr val="E9B44C"/>
                </a:solidFill>
                <a:latin typeface="Calibri" pitchFamily="34" charset="0"/>
                <a:ea typeface="Calibri" pitchFamily="34" charset="-122"/>
                <a:cs typeface="Calibri" pitchFamily="34" charset="-120"/>
              </a:rPr>
              <a:t>The fluency trap.  </a:t>
            </a:r>
            <a:r>
              <a:rPr lang="en-US" sz="1250">
                <a:solidFill>
                  <a:srgbClr val="F1F7F7"/>
                </a:solidFill>
                <a:latin typeface="Calibri" pitchFamily="34" charset="0"/>
                <a:ea typeface="Calibri" pitchFamily="34" charset="-122"/>
                <a:cs typeface="Calibri" pitchFamily="34" charset="-120"/>
              </a:rPr>
              <a:t>A readable but inaccurate answer can feel plausible. This is dangerous when clinicians lack the technical knowledge to verify it. ACF must be paired with readability, plus human-in-the-loop checks.</a:t>
            </a:r>
            <a:endParaRPr lang="en-US" sz="1250"/>
          </a:p>
        </p:txBody>
      </p:sp>
      <p:sp>
        <p:nvSpPr>
          <p:cNvPr id="10" name="Text 6"/>
          <p:cNvSpPr/>
          <p:nvPr/>
        </p:nvSpPr>
        <p:spPr>
          <a:xfrm>
            <a:off x="457200" y="2542032"/>
            <a:ext cx="4023360" cy="274320"/>
          </a:xfrm>
          <a:prstGeom prst="rect">
            <a:avLst/>
          </a:prstGeom>
          <a:noFill/>
          <a:ln/>
        </p:spPr>
        <p:txBody>
          <a:bodyPr wrap="square" lIns="0" tIns="0" rIns="0" bIns="0" rtlCol="0" anchor="ctr"/>
          <a:lstStyle/>
          <a:p>
            <a:pPr marL="0" indent="0">
              <a:buNone/>
            </a:pPr>
            <a:r>
              <a:rPr lang="en-US" sz="1300" b="1">
                <a:solidFill>
                  <a:srgbClr val="0E5E5C"/>
                </a:solidFill>
                <a:latin typeface="Calibri" pitchFamily="34" charset="0"/>
                <a:ea typeface="Calibri" pitchFamily="34" charset="-122"/>
                <a:cs typeface="Calibri" pitchFamily="34" charset="-120"/>
              </a:rPr>
              <a:t>Limitations</a:t>
            </a:r>
            <a:endParaRPr lang="en-US" sz="1300"/>
          </a:p>
        </p:txBody>
      </p:sp>
      <p:sp>
        <p:nvSpPr>
          <p:cNvPr id="11" name="Text 7"/>
          <p:cNvSpPr/>
          <p:nvPr/>
        </p:nvSpPr>
        <p:spPr>
          <a:xfrm>
            <a:off x="566928" y="2871216"/>
            <a:ext cx="4069080" cy="1737360"/>
          </a:xfrm>
          <a:prstGeom prst="rect">
            <a:avLst/>
          </a:prstGeom>
          <a:noFill/>
          <a:ln/>
        </p:spPr>
        <p:txBody>
          <a:bodyPr wrap="square" lIns="0" tIns="0" rIns="0" bIns="0" rtlCol="0" anchor="ctr"/>
          <a:lstStyle/>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Single domain, one AI system, one dataset</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One set of (subjective) reference human answers</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Only global questions </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Restricted API access. Reproducibility is empirical</a:t>
            </a:r>
            <a:endParaRPr lang="en-US" sz="1150" dirty="0"/>
          </a:p>
        </p:txBody>
      </p:sp>
      <p:sp>
        <p:nvSpPr>
          <p:cNvPr id="12" name="Text 8"/>
          <p:cNvSpPr/>
          <p:nvPr/>
        </p:nvSpPr>
        <p:spPr>
          <a:xfrm>
            <a:off x="4800600" y="2542032"/>
            <a:ext cx="3886200" cy="274320"/>
          </a:xfrm>
          <a:prstGeom prst="rect">
            <a:avLst/>
          </a:prstGeom>
          <a:noFill/>
          <a:ln/>
        </p:spPr>
        <p:txBody>
          <a:bodyPr wrap="square" lIns="0" tIns="0" rIns="0" bIns="0" rtlCol="0" anchor="ctr"/>
          <a:lstStyle/>
          <a:p>
            <a:pPr marL="0" indent="0">
              <a:buNone/>
            </a:pPr>
            <a:r>
              <a:rPr lang="en-US" sz="1300" b="1">
                <a:solidFill>
                  <a:srgbClr val="0E5E5C"/>
                </a:solidFill>
                <a:latin typeface="Calibri" pitchFamily="34" charset="0"/>
                <a:ea typeface="Calibri" pitchFamily="34" charset="-122"/>
                <a:cs typeface="Calibri" pitchFamily="34" charset="-120"/>
              </a:rPr>
              <a:t>Future work</a:t>
            </a:r>
            <a:endParaRPr lang="en-US" sz="1300"/>
          </a:p>
        </p:txBody>
      </p:sp>
      <p:sp>
        <p:nvSpPr>
          <p:cNvPr id="13" name="Text 9"/>
          <p:cNvSpPr/>
          <p:nvPr/>
        </p:nvSpPr>
        <p:spPr>
          <a:xfrm>
            <a:off x="4910328" y="2871216"/>
            <a:ext cx="3794760" cy="1737360"/>
          </a:xfrm>
          <a:prstGeom prst="rect">
            <a:avLst/>
          </a:prstGeom>
          <a:noFill/>
          <a:ln/>
        </p:spPr>
        <p:txBody>
          <a:bodyPr wrap="square" lIns="0" tIns="0" rIns="0" bIns="0" rtlCol="0" anchor="ctr"/>
          <a:lstStyle/>
          <a:p>
            <a:pPr marL="152400" indent="-152400">
              <a:spcAft>
                <a:spcPts val="600"/>
              </a:spcAft>
              <a:buSzPct val="100000"/>
              <a:buFontTx/>
              <a:buChar char="•"/>
            </a:pPr>
            <a:r>
              <a:rPr lang="en-US" sz="1150" dirty="0">
                <a:solidFill>
                  <a:srgbClr val="183036"/>
                </a:solidFill>
                <a:latin typeface="Calibri" pitchFamily="34" charset="0"/>
                <a:ea typeface="Calibri" pitchFamily="34" charset="-122"/>
                <a:cs typeface="Calibri" pitchFamily="34" charset="-120"/>
              </a:rPr>
              <a:t>Multiple reference answers; more domains and datasets</a:t>
            </a:r>
          </a:p>
          <a:p>
            <a:pPr marL="152400" indent="-152400">
              <a:spcAft>
                <a:spcPts val="600"/>
              </a:spcAft>
              <a:buSzPct val="100000"/>
              <a:buChar char="•"/>
            </a:pPr>
            <a:r>
              <a:rPr lang="en-US" sz="1150" dirty="0" err="1">
                <a:solidFill>
                  <a:srgbClr val="183036"/>
                </a:solidFill>
                <a:latin typeface="Calibri" pitchFamily="34" charset="0"/>
                <a:ea typeface="Calibri" pitchFamily="34" charset="-122"/>
                <a:cs typeface="Calibri" pitchFamily="34" charset="-120"/>
              </a:rPr>
              <a:t>Penalise</a:t>
            </a:r>
            <a:r>
              <a:rPr lang="en-US" sz="1150" dirty="0">
                <a:solidFill>
                  <a:srgbClr val="183036"/>
                </a:solidFill>
                <a:latin typeface="Calibri" pitchFamily="34" charset="0"/>
                <a:ea typeface="Calibri" pitchFamily="34" charset="-122"/>
                <a:cs typeface="Calibri" pitchFamily="34" charset="-120"/>
              </a:rPr>
              <a:t> verbose answers in the ACF score</a:t>
            </a:r>
            <a:endParaRPr lang="en-US" sz="1150" dirty="0"/>
          </a:p>
          <a:p>
            <a:pPr marL="152400" indent="-152400">
              <a:spcAft>
                <a:spcPts val="600"/>
              </a:spcAft>
              <a:buSzPct val="100000"/>
              <a:buFontTx/>
              <a:buChar char="•"/>
            </a:pPr>
            <a:r>
              <a:rPr lang="en-US" sz="1150" dirty="0">
                <a:solidFill>
                  <a:srgbClr val="183036"/>
                </a:solidFill>
                <a:latin typeface="Calibri" pitchFamily="34" charset="0"/>
                <a:ea typeface="Calibri" pitchFamily="34" charset="-122"/>
                <a:cs typeface="Calibri" pitchFamily="34" charset="-120"/>
              </a:rPr>
              <a:t>Local and fairness excluded</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User studies with clinicians (trust, satisfaction)</a:t>
            </a:r>
            <a:endParaRPr lang="en-US" sz="1150" dirty="0"/>
          </a:p>
          <a:p>
            <a:pPr marL="152400" indent="-152400">
              <a:spcAft>
                <a:spcPts val="600"/>
              </a:spcAft>
              <a:buSzPct val="100000"/>
              <a:buChar char="•"/>
            </a:pPr>
            <a:r>
              <a:rPr lang="en-US" sz="1150" dirty="0">
                <a:solidFill>
                  <a:srgbClr val="183036"/>
                </a:solidFill>
                <a:latin typeface="Calibri" pitchFamily="34" charset="0"/>
                <a:ea typeface="Calibri" pitchFamily="34" charset="-122"/>
                <a:cs typeface="Calibri" pitchFamily="34" charset="-120"/>
              </a:rPr>
              <a:t>LLM-as-a-judge to expedite accuracy evaluation</a:t>
            </a:r>
            <a:endParaRPr lang="en-US" sz="1150" dirty="0"/>
          </a:p>
        </p:txBody>
      </p:sp>
      <p:sp>
        <p:nvSpPr>
          <p:cNvPr id="14" name="Text 10"/>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21</a:t>
            </a:r>
            <a:endParaRPr lang="en-US" sz="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7223760" y="2926080"/>
            <a:ext cx="3291840" cy="3291840"/>
          </a:xfrm>
          <a:prstGeom prst="ellipse">
            <a:avLst/>
          </a:prstGeom>
          <a:solidFill>
            <a:srgbClr val="127475">
              <a:alpha val="20000"/>
            </a:srgbClr>
          </a:solidFill>
          <a:ln/>
        </p:spPr>
        <p:txBody>
          <a:bodyPr/>
          <a:lstStyle/>
          <a:p>
            <a:endParaRPr lang="en-DE"/>
          </a:p>
        </p:txBody>
      </p:sp>
      <p:sp>
        <p:nvSpPr>
          <p:cNvPr id="3" name="Shape 1"/>
          <p:cNvSpPr/>
          <p:nvPr/>
        </p:nvSpPr>
        <p:spPr>
          <a:xfrm>
            <a:off x="548640" y="457200"/>
            <a:ext cx="603504" cy="603504"/>
          </a:xfrm>
          <a:prstGeom prst="ellipse">
            <a:avLst/>
          </a:prstGeom>
          <a:solidFill>
            <a:srgbClr val="E9B44C"/>
          </a:solidFill>
          <a:ln/>
        </p:spPr>
        <p:txBody>
          <a:bodyPr/>
          <a:lstStyle/>
          <a:p>
            <a:endParaRPr lang="en-DE"/>
          </a:p>
        </p:txBody>
      </p:sp>
      <p:pic>
        <p:nvPicPr>
          <p:cNvPr id="4" name="Image 0" descr="preencoded.png"/>
          <p:cNvPicPr>
            <a:picLocks noChangeAspect="1"/>
          </p:cNvPicPr>
          <p:nvPr/>
        </p:nvPicPr>
        <p:blipFill>
          <a:blip r:embed="rId3"/>
          <a:stretch>
            <a:fillRect/>
          </a:stretch>
        </p:blipFill>
        <p:spPr>
          <a:xfrm>
            <a:off x="705551" y="614111"/>
            <a:ext cx="289682" cy="289682"/>
          </a:xfrm>
          <a:prstGeom prst="rect">
            <a:avLst/>
          </a:prstGeom>
        </p:spPr>
      </p:pic>
      <p:sp>
        <p:nvSpPr>
          <p:cNvPr id="5" name="Text 2"/>
          <p:cNvSpPr/>
          <p:nvPr/>
        </p:nvSpPr>
        <p:spPr>
          <a:xfrm>
            <a:off x="1280160" y="475488"/>
            <a:ext cx="7315200" cy="54864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Conclusion</a:t>
            </a:r>
            <a:endParaRPr lang="en-US" sz="2600"/>
          </a:p>
        </p:txBody>
      </p:sp>
      <p:sp>
        <p:nvSpPr>
          <p:cNvPr id="6" name="Text 3"/>
          <p:cNvSpPr/>
          <p:nvPr/>
        </p:nvSpPr>
        <p:spPr>
          <a:xfrm>
            <a:off x="548640" y="1188720"/>
            <a:ext cx="8046720" cy="548640"/>
          </a:xfrm>
          <a:prstGeom prst="rect">
            <a:avLst/>
          </a:prstGeom>
          <a:noFill/>
          <a:ln/>
        </p:spPr>
        <p:txBody>
          <a:bodyPr wrap="square" lIns="0" tIns="0" rIns="0" bIns="0" rtlCol="0" anchor="ctr"/>
          <a:lstStyle/>
          <a:p>
            <a:pPr marL="0" indent="0">
              <a:buNone/>
            </a:pPr>
            <a:r>
              <a:rPr lang="en-US" sz="1500" b="1" i="1">
                <a:solidFill>
                  <a:srgbClr val="9AD1D4"/>
                </a:solidFill>
                <a:latin typeface="Calibri" pitchFamily="34" charset="0"/>
                <a:ea typeface="Calibri" pitchFamily="34" charset="-122"/>
                <a:cs typeface="Calibri" pitchFamily="34" charset="-120"/>
              </a:rPr>
              <a:t>LLMs can serve as conversational explanatory agents — and the ACF framework makes their explanations measurable.</a:t>
            </a:r>
            <a:endParaRPr lang="en-US" sz="1500"/>
          </a:p>
        </p:txBody>
      </p:sp>
      <p:sp>
        <p:nvSpPr>
          <p:cNvPr id="7" name="Shape 4"/>
          <p:cNvSpPr/>
          <p:nvPr/>
        </p:nvSpPr>
        <p:spPr>
          <a:xfrm>
            <a:off x="548640" y="1874520"/>
            <a:ext cx="1947672" cy="1051560"/>
          </a:xfrm>
          <a:prstGeom prst="roundRect">
            <a:avLst>
              <a:gd name="adj" fmla="val 695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8" name="Text 5"/>
          <p:cNvSpPr/>
          <p:nvPr/>
        </p:nvSpPr>
        <p:spPr>
          <a:xfrm>
            <a:off x="640080" y="1993392"/>
            <a:ext cx="1764792" cy="502920"/>
          </a:xfrm>
          <a:prstGeom prst="rect">
            <a:avLst/>
          </a:prstGeom>
          <a:noFill/>
          <a:ln/>
        </p:spPr>
        <p:txBody>
          <a:bodyPr wrap="square" lIns="0" tIns="0" rIns="0" bIns="0" rtlCol="0" anchor="ctr"/>
          <a:lstStyle/>
          <a:p>
            <a:pPr marL="0" indent="0" algn="ctr">
              <a:buNone/>
            </a:pPr>
            <a:r>
              <a:rPr lang="en-US" sz="3000" b="1">
                <a:solidFill>
                  <a:srgbClr val="FFFFFF"/>
                </a:solidFill>
                <a:latin typeface="Cambria" pitchFamily="34" charset="0"/>
                <a:ea typeface="Cambria" pitchFamily="34" charset="-122"/>
                <a:cs typeface="Cambria" pitchFamily="34" charset="-120"/>
              </a:rPr>
              <a:t>0.843</a:t>
            </a:r>
            <a:endParaRPr lang="en-US" sz="3000"/>
          </a:p>
        </p:txBody>
      </p:sp>
      <p:sp>
        <p:nvSpPr>
          <p:cNvPr id="9" name="Text 6"/>
          <p:cNvSpPr/>
          <p:nvPr/>
        </p:nvSpPr>
        <p:spPr>
          <a:xfrm>
            <a:off x="640080" y="2523744"/>
            <a:ext cx="1764792" cy="292608"/>
          </a:xfrm>
          <a:prstGeom prst="rect">
            <a:avLst/>
          </a:prstGeom>
          <a:noFill/>
          <a:ln/>
        </p:spPr>
        <p:txBody>
          <a:bodyPr wrap="square" lIns="0" tIns="0" rIns="0" bIns="0" rtlCol="0" anchor="ctr"/>
          <a:lstStyle/>
          <a:p>
            <a:pPr marL="0" indent="0" algn="ctr">
              <a:buNone/>
            </a:pPr>
            <a:r>
              <a:rPr lang="en-US" sz="1100">
                <a:solidFill>
                  <a:srgbClr val="9AD1D4"/>
                </a:solidFill>
                <a:latin typeface="Calibri" pitchFamily="34" charset="0"/>
                <a:ea typeface="Calibri" pitchFamily="34" charset="-122"/>
                <a:cs typeface="Calibri" pitchFamily="34" charset="-120"/>
              </a:rPr>
              <a:t>Accuracy</a:t>
            </a:r>
            <a:endParaRPr lang="en-US" sz="1100"/>
          </a:p>
        </p:txBody>
      </p:sp>
      <p:sp>
        <p:nvSpPr>
          <p:cNvPr id="10" name="Shape 7"/>
          <p:cNvSpPr/>
          <p:nvPr/>
        </p:nvSpPr>
        <p:spPr>
          <a:xfrm>
            <a:off x="2624328" y="1874520"/>
            <a:ext cx="1947672" cy="1051560"/>
          </a:xfrm>
          <a:prstGeom prst="roundRect">
            <a:avLst>
              <a:gd name="adj" fmla="val 695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1" name="Text 8"/>
          <p:cNvSpPr/>
          <p:nvPr/>
        </p:nvSpPr>
        <p:spPr>
          <a:xfrm>
            <a:off x="2715768" y="1993392"/>
            <a:ext cx="1764792" cy="502920"/>
          </a:xfrm>
          <a:prstGeom prst="rect">
            <a:avLst/>
          </a:prstGeom>
          <a:noFill/>
          <a:ln/>
        </p:spPr>
        <p:txBody>
          <a:bodyPr wrap="square" lIns="0" tIns="0" rIns="0" bIns="0" rtlCol="0" anchor="ctr"/>
          <a:lstStyle/>
          <a:p>
            <a:pPr marL="0" indent="0" algn="ctr">
              <a:buNone/>
            </a:pPr>
            <a:r>
              <a:rPr lang="en-US" sz="3000" b="1">
                <a:solidFill>
                  <a:srgbClr val="FFFFFF"/>
                </a:solidFill>
                <a:latin typeface="Cambria" pitchFamily="34" charset="0"/>
                <a:ea typeface="Cambria" pitchFamily="34" charset="-122"/>
                <a:cs typeface="Cambria" pitchFamily="34" charset="-120"/>
              </a:rPr>
              <a:t>0.663</a:t>
            </a:r>
            <a:endParaRPr lang="en-US" sz="3000"/>
          </a:p>
        </p:txBody>
      </p:sp>
      <p:sp>
        <p:nvSpPr>
          <p:cNvPr id="12" name="Text 9"/>
          <p:cNvSpPr/>
          <p:nvPr/>
        </p:nvSpPr>
        <p:spPr>
          <a:xfrm>
            <a:off x="2715768" y="2523744"/>
            <a:ext cx="1764792" cy="292608"/>
          </a:xfrm>
          <a:prstGeom prst="rect">
            <a:avLst/>
          </a:prstGeom>
          <a:noFill/>
          <a:ln/>
        </p:spPr>
        <p:txBody>
          <a:bodyPr wrap="square" lIns="0" tIns="0" rIns="0" bIns="0" rtlCol="0" anchor="ctr"/>
          <a:lstStyle/>
          <a:p>
            <a:pPr marL="0" indent="0" algn="ctr">
              <a:buNone/>
            </a:pPr>
            <a:r>
              <a:rPr lang="en-US" sz="1100">
                <a:solidFill>
                  <a:srgbClr val="9AD1D4"/>
                </a:solidFill>
                <a:latin typeface="Calibri" pitchFamily="34" charset="0"/>
                <a:ea typeface="Calibri" pitchFamily="34" charset="-122"/>
                <a:cs typeface="Calibri" pitchFamily="34" charset="-120"/>
              </a:rPr>
              <a:t>Completeness</a:t>
            </a:r>
            <a:endParaRPr lang="en-US" sz="1100"/>
          </a:p>
        </p:txBody>
      </p:sp>
      <p:sp>
        <p:nvSpPr>
          <p:cNvPr id="13" name="Shape 10"/>
          <p:cNvSpPr/>
          <p:nvPr/>
        </p:nvSpPr>
        <p:spPr>
          <a:xfrm>
            <a:off x="4700016" y="1874520"/>
            <a:ext cx="1947672" cy="1051560"/>
          </a:xfrm>
          <a:prstGeom prst="roundRect">
            <a:avLst>
              <a:gd name="adj" fmla="val 6957"/>
            </a:avLst>
          </a:prstGeom>
          <a:solidFill>
            <a:srgbClr val="127475"/>
          </a:solidFill>
          <a:ln/>
          <a:effectLst>
            <a:outerShdw blurRad="88900" dist="25400" dir="5400000" algn="bl" rotWithShape="0">
              <a:srgbClr val="0A2E36">
                <a:alpha val="10000"/>
              </a:srgbClr>
            </a:outerShdw>
          </a:effectLst>
        </p:spPr>
        <p:txBody>
          <a:bodyPr/>
          <a:lstStyle/>
          <a:p>
            <a:endParaRPr lang="en-DE"/>
          </a:p>
        </p:txBody>
      </p:sp>
      <p:sp>
        <p:nvSpPr>
          <p:cNvPr id="14" name="Text 11"/>
          <p:cNvSpPr/>
          <p:nvPr/>
        </p:nvSpPr>
        <p:spPr>
          <a:xfrm>
            <a:off x="4791456" y="1993392"/>
            <a:ext cx="1764792" cy="502920"/>
          </a:xfrm>
          <a:prstGeom prst="rect">
            <a:avLst/>
          </a:prstGeom>
          <a:noFill/>
          <a:ln/>
        </p:spPr>
        <p:txBody>
          <a:bodyPr wrap="square" lIns="0" tIns="0" rIns="0" bIns="0" rtlCol="0" anchor="ctr"/>
          <a:lstStyle/>
          <a:p>
            <a:pPr marL="0" indent="0" algn="ctr">
              <a:buNone/>
            </a:pPr>
            <a:r>
              <a:rPr lang="en-US" sz="3000" b="1">
                <a:solidFill>
                  <a:srgbClr val="FFFFFF"/>
                </a:solidFill>
                <a:latin typeface="Cambria" pitchFamily="34" charset="0"/>
                <a:ea typeface="Cambria" pitchFamily="34" charset="-122"/>
                <a:cs typeface="Cambria" pitchFamily="34" charset="-120"/>
              </a:rPr>
              <a:t>0.596</a:t>
            </a:r>
            <a:endParaRPr lang="en-US" sz="3000"/>
          </a:p>
        </p:txBody>
      </p:sp>
      <p:sp>
        <p:nvSpPr>
          <p:cNvPr id="15" name="Text 12"/>
          <p:cNvSpPr/>
          <p:nvPr/>
        </p:nvSpPr>
        <p:spPr>
          <a:xfrm>
            <a:off x="4791456" y="2523744"/>
            <a:ext cx="1764792" cy="292608"/>
          </a:xfrm>
          <a:prstGeom prst="rect">
            <a:avLst/>
          </a:prstGeom>
          <a:noFill/>
          <a:ln/>
        </p:spPr>
        <p:txBody>
          <a:bodyPr wrap="square" lIns="0" tIns="0" rIns="0" bIns="0" rtlCol="0" anchor="ctr"/>
          <a:lstStyle/>
          <a:p>
            <a:pPr marL="0" indent="0" algn="ctr">
              <a:buNone/>
            </a:pPr>
            <a:r>
              <a:rPr lang="en-US" sz="1100">
                <a:solidFill>
                  <a:srgbClr val="9AD1D4"/>
                </a:solidFill>
                <a:latin typeface="Calibri" pitchFamily="34" charset="0"/>
                <a:ea typeface="Calibri" pitchFamily="34" charset="-122"/>
                <a:cs typeface="Calibri" pitchFamily="34" charset="-120"/>
              </a:rPr>
              <a:t>Faithfulness</a:t>
            </a:r>
            <a:endParaRPr lang="en-US" sz="1100"/>
          </a:p>
        </p:txBody>
      </p:sp>
      <p:sp>
        <p:nvSpPr>
          <p:cNvPr id="16" name="Shape 13"/>
          <p:cNvSpPr/>
          <p:nvPr/>
        </p:nvSpPr>
        <p:spPr>
          <a:xfrm>
            <a:off x="6775704" y="1874520"/>
            <a:ext cx="1947672" cy="1051560"/>
          </a:xfrm>
          <a:prstGeom prst="roundRect">
            <a:avLst>
              <a:gd name="adj" fmla="val 6957"/>
            </a:avLst>
          </a:prstGeom>
          <a:solidFill>
            <a:srgbClr val="E9B44C"/>
          </a:solidFill>
          <a:ln/>
          <a:effectLst>
            <a:outerShdw blurRad="88900" dist="25400" dir="5400000" algn="bl" rotWithShape="0">
              <a:srgbClr val="0A2E36">
                <a:alpha val="10000"/>
              </a:srgbClr>
            </a:outerShdw>
          </a:effectLst>
        </p:spPr>
        <p:txBody>
          <a:bodyPr/>
          <a:lstStyle/>
          <a:p>
            <a:endParaRPr lang="en-DE"/>
          </a:p>
        </p:txBody>
      </p:sp>
      <p:sp>
        <p:nvSpPr>
          <p:cNvPr id="17" name="Text 14"/>
          <p:cNvSpPr/>
          <p:nvPr/>
        </p:nvSpPr>
        <p:spPr>
          <a:xfrm>
            <a:off x="6867144" y="1993392"/>
            <a:ext cx="1764792" cy="502920"/>
          </a:xfrm>
          <a:prstGeom prst="rect">
            <a:avLst/>
          </a:prstGeom>
          <a:noFill/>
          <a:ln/>
        </p:spPr>
        <p:txBody>
          <a:bodyPr wrap="square" lIns="0" tIns="0" rIns="0" bIns="0" rtlCol="0" anchor="ctr"/>
          <a:lstStyle/>
          <a:p>
            <a:pPr marL="0" indent="0" algn="ctr">
              <a:buNone/>
            </a:pPr>
            <a:r>
              <a:rPr lang="en-US" sz="3000" b="1">
                <a:solidFill>
                  <a:srgbClr val="0A2E36"/>
                </a:solidFill>
                <a:latin typeface="Cambria" pitchFamily="34" charset="0"/>
                <a:ea typeface="Cambria" pitchFamily="34" charset="-122"/>
                <a:cs typeface="Cambria" pitchFamily="34" charset="-120"/>
              </a:rPr>
              <a:t>0.700</a:t>
            </a:r>
            <a:endParaRPr lang="en-US" sz="3000"/>
          </a:p>
        </p:txBody>
      </p:sp>
      <p:sp>
        <p:nvSpPr>
          <p:cNvPr id="18" name="Text 15"/>
          <p:cNvSpPr/>
          <p:nvPr/>
        </p:nvSpPr>
        <p:spPr>
          <a:xfrm>
            <a:off x="6867144" y="2523744"/>
            <a:ext cx="1764792" cy="292608"/>
          </a:xfrm>
          <a:prstGeom prst="rect">
            <a:avLst/>
          </a:prstGeom>
          <a:noFill/>
          <a:ln/>
        </p:spPr>
        <p:txBody>
          <a:bodyPr wrap="square" lIns="0" tIns="0" rIns="0" bIns="0" rtlCol="0" anchor="ctr"/>
          <a:lstStyle/>
          <a:p>
            <a:pPr marL="0" indent="0" algn="ctr">
              <a:buNone/>
            </a:pPr>
            <a:r>
              <a:rPr lang="en-US" sz="1100" b="1">
                <a:solidFill>
                  <a:srgbClr val="0A2E36"/>
                </a:solidFill>
                <a:latin typeface="Calibri" pitchFamily="34" charset="0"/>
                <a:ea typeface="Calibri" pitchFamily="34" charset="-122"/>
                <a:cs typeface="Calibri" pitchFamily="34" charset="-120"/>
              </a:rPr>
              <a:t>Overall ACF</a:t>
            </a:r>
            <a:endParaRPr lang="en-US" sz="1100"/>
          </a:p>
        </p:txBody>
      </p:sp>
      <p:sp>
        <p:nvSpPr>
          <p:cNvPr id="19" name="Text 16"/>
          <p:cNvSpPr/>
          <p:nvPr/>
        </p:nvSpPr>
        <p:spPr>
          <a:xfrm>
            <a:off x="548640" y="3154680"/>
            <a:ext cx="8046720" cy="1417320"/>
          </a:xfrm>
          <a:prstGeom prst="rect">
            <a:avLst/>
          </a:prstGeom>
          <a:noFill/>
          <a:ln/>
        </p:spPr>
        <p:txBody>
          <a:bodyPr wrap="square" lIns="0" tIns="0" rIns="0" bIns="0" rtlCol="0" anchor="ctr"/>
          <a:lstStyle/>
          <a:p>
            <a:pPr marL="0" indent="0">
              <a:lnSpc>
                <a:spcPct val="100000"/>
              </a:lnSpc>
              <a:spcAft>
                <a:spcPts val="800"/>
              </a:spcAft>
              <a:buNone/>
            </a:pPr>
            <a:r>
              <a:rPr lang="en-US" sz="1250" b="1">
                <a:solidFill>
                  <a:srgbClr val="E9B44C"/>
                </a:solidFill>
                <a:latin typeface="Calibri" pitchFamily="34" charset="0"/>
                <a:ea typeface="Calibri" pitchFamily="34" charset="-122"/>
                <a:cs typeface="Calibri" pitchFamily="34" charset="-120"/>
              </a:rPr>
              <a:t>✓  </a:t>
            </a:r>
            <a:r>
              <a:rPr lang="en-US" sz="1250">
                <a:solidFill>
                  <a:srgbClr val="F1F7F7"/>
                </a:solidFill>
                <a:latin typeface="Calibri" pitchFamily="34" charset="0"/>
                <a:ea typeface="Calibri" pitchFamily="34" charset="-122"/>
                <a:cs typeface="Calibri" pitchFamily="34" charset="-120"/>
              </a:rPr>
              <a:t>Strong performance despite subjective ground-truth and open-ended, technical questions.</a:t>
            </a:r>
            <a:endParaRPr lang="en-US" sz="1250"/>
          </a:p>
          <a:p>
            <a:pPr marL="0" indent="0">
              <a:lnSpc>
                <a:spcPct val="100000"/>
              </a:lnSpc>
              <a:spcAft>
                <a:spcPts val="800"/>
              </a:spcAft>
              <a:buNone/>
            </a:pPr>
            <a:r>
              <a:rPr lang="en-US" sz="1250" b="1">
                <a:solidFill>
                  <a:srgbClr val="E9B44C"/>
                </a:solidFill>
                <a:latin typeface="Calibri" pitchFamily="34" charset="0"/>
                <a:ea typeface="Calibri" pitchFamily="34" charset="-122"/>
                <a:cs typeface="Calibri" pitchFamily="34" charset="-120"/>
              </a:rPr>
              <a:t>✓  </a:t>
            </a:r>
            <a:r>
              <a:rPr lang="en-US" sz="1250">
                <a:solidFill>
                  <a:srgbClr val="F1F7F7"/>
                </a:solidFill>
                <a:latin typeface="Calibri" pitchFamily="34" charset="0"/>
                <a:ea typeface="Calibri" pitchFamily="34" charset="-122"/>
                <a:cs typeface="Calibri" pitchFamily="34" charset="-120"/>
              </a:rPr>
              <a:t>Distinct model strengths. Suggesting matching the model to the audience and their use-case.</a:t>
            </a:r>
            <a:endParaRPr lang="en-US" sz="1250"/>
          </a:p>
          <a:p>
            <a:pPr marL="0" indent="0">
              <a:lnSpc>
                <a:spcPct val="100000"/>
              </a:lnSpc>
              <a:spcAft>
                <a:spcPts val="800"/>
              </a:spcAft>
              <a:buNone/>
            </a:pPr>
            <a:r>
              <a:rPr lang="en-US" sz="1250" b="1">
                <a:solidFill>
                  <a:srgbClr val="E9B44C"/>
                </a:solidFill>
                <a:latin typeface="Calibri" pitchFamily="34" charset="0"/>
                <a:ea typeface="Calibri" pitchFamily="34" charset="-122"/>
                <a:cs typeface="Calibri" pitchFamily="34" charset="-120"/>
              </a:rPr>
              <a:t>✓  </a:t>
            </a:r>
            <a:r>
              <a:rPr lang="en-US" sz="1250">
                <a:solidFill>
                  <a:srgbClr val="F1F7F7"/>
                </a:solidFill>
                <a:latin typeface="Calibri" pitchFamily="34" charset="0"/>
                <a:ea typeface="Calibri" pitchFamily="34" charset="-122"/>
                <a:cs typeface="Calibri" pitchFamily="34" charset="-120"/>
              </a:rPr>
              <a:t>ACF also flags vague XAI-QB questions and incoherent AI-system design.</a:t>
            </a:r>
            <a:endParaRPr lang="en-US" sz="1250"/>
          </a:p>
        </p:txBody>
      </p:sp>
      <p:sp>
        <p:nvSpPr>
          <p:cNvPr id="20" name="Text 17"/>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22</a:t>
            </a:r>
            <a:endParaRPr lang="en-US" sz="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0A2E36"/>
        </a:solidFill>
        <a:effectLst/>
      </p:bgPr>
    </p:bg>
    <p:spTree>
      <p:nvGrpSpPr>
        <p:cNvPr id="1" name=""/>
        <p:cNvGrpSpPr/>
        <p:nvPr/>
      </p:nvGrpSpPr>
      <p:grpSpPr>
        <a:xfrm>
          <a:off x="0" y="0"/>
          <a:ext cx="0" cy="0"/>
          <a:chOff x="0" y="0"/>
          <a:chExt cx="0" cy="0"/>
        </a:xfrm>
      </p:grpSpPr>
      <p:sp>
        <p:nvSpPr>
          <p:cNvPr id="2" name="Shape 0"/>
          <p:cNvSpPr/>
          <p:nvPr/>
        </p:nvSpPr>
        <p:spPr>
          <a:xfrm>
            <a:off x="6949440" y="-1554480"/>
            <a:ext cx="4023360" cy="4023360"/>
          </a:xfrm>
          <a:prstGeom prst="ellipse">
            <a:avLst/>
          </a:prstGeom>
          <a:solidFill>
            <a:srgbClr val="127475">
              <a:alpha val="22000"/>
            </a:srgbClr>
          </a:solidFill>
          <a:ln/>
        </p:spPr>
        <p:txBody>
          <a:bodyPr/>
          <a:lstStyle/>
          <a:p>
            <a:endParaRPr lang="en-DE"/>
          </a:p>
        </p:txBody>
      </p:sp>
      <p:sp>
        <p:nvSpPr>
          <p:cNvPr id="3" name="Shape 1"/>
          <p:cNvSpPr/>
          <p:nvPr/>
        </p:nvSpPr>
        <p:spPr>
          <a:xfrm>
            <a:off x="-1280160" y="3291840"/>
            <a:ext cx="3291840" cy="3291840"/>
          </a:xfrm>
          <a:prstGeom prst="ellipse">
            <a:avLst/>
          </a:prstGeom>
          <a:solidFill>
            <a:srgbClr val="3E9D9B">
              <a:alpha val="18000"/>
            </a:srgbClr>
          </a:solidFill>
          <a:ln/>
        </p:spPr>
        <p:txBody>
          <a:bodyPr/>
          <a:lstStyle/>
          <a:p>
            <a:endParaRPr lang="en-DE"/>
          </a:p>
        </p:txBody>
      </p:sp>
      <p:sp>
        <p:nvSpPr>
          <p:cNvPr id="4" name="Shape 2"/>
          <p:cNvSpPr/>
          <p:nvPr/>
        </p:nvSpPr>
        <p:spPr>
          <a:xfrm>
            <a:off x="3968496" y="1097280"/>
            <a:ext cx="1188720" cy="1188720"/>
          </a:xfrm>
          <a:prstGeom prst="ellipse">
            <a:avLst/>
          </a:prstGeom>
          <a:solidFill>
            <a:srgbClr val="127475"/>
          </a:solidFill>
          <a:ln/>
        </p:spPr>
        <p:txBody>
          <a:bodyPr/>
          <a:lstStyle/>
          <a:p>
            <a:endParaRPr lang="en-DE"/>
          </a:p>
        </p:txBody>
      </p:sp>
      <p:pic>
        <p:nvPicPr>
          <p:cNvPr id="5" name="Image 0" descr="preencoded.png"/>
          <p:cNvPicPr>
            <a:picLocks noChangeAspect="1"/>
          </p:cNvPicPr>
          <p:nvPr/>
        </p:nvPicPr>
        <p:blipFill>
          <a:blip r:embed="rId3"/>
          <a:stretch>
            <a:fillRect/>
          </a:stretch>
        </p:blipFill>
        <p:spPr>
          <a:xfrm>
            <a:off x="4277563" y="1406347"/>
            <a:ext cx="570586" cy="570586"/>
          </a:xfrm>
          <a:prstGeom prst="rect">
            <a:avLst/>
          </a:prstGeom>
        </p:spPr>
      </p:pic>
      <p:sp>
        <p:nvSpPr>
          <p:cNvPr id="6" name="Text 3"/>
          <p:cNvSpPr/>
          <p:nvPr/>
        </p:nvSpPr>
        <p:spPr>
          <a:xfrm>
            <a:off x="914400" y="2468880"/>
            <a:ext cx="7315200" cy="731520"/>
          </a:xfrm>
          <a:prstGeom prst="rect">
            <a:avLst/>
          </a:prstGeom>
          <a:noFill/>
          <a:ln/>
        </p:spPr>
        <p:txBody>
          <a:bodyPr wrap="square" lIns="0" tIns="0" rIns="0" bIns="0" rtlCol="0" anchor="ctr"/>
          <a:lstStyle/>
          <a:p>
            <a:pPr marL="0" indent="0" algn="ctr">
              <a:buNone/>
            </a:pPr>
            <a:r>
              <a:rPr lang="en-US" sz="4400" b="1">
                <a:solidFill>
                  <a:srgbClr val="FFFFFF"/>
                </a:solidFill>
                <a:latin typeface="Cambria" pitchFamily="34" charset="0"/>
                <a:ea typeface="Cambria" pitchFamily="34" charset="-122"/>
                <a:cs typeface="Cambria" pitchFamily="34" charset="-120"/>
              </a:rPr>
              <a:t>Thank you</a:t>
            </a:r>
            <a:endParaRPr lang="en-US" sz="4400"/>
          </a:p>
        </p:txBody>
      </p:sp>
      <p:sp>
        <p:nvSpPr>
          <p:cNvPr id="7" name="Text 4"/>
          <p:cNvSpPr/>
          <p:nvPr/>
        </p:nvSpPr>
        <p:spPr>
          <a:xfrm>
            <a:off x="914400" y="3246120"/>
            <a:ext cx="7315200" cy="365760"/>
          </a:xfrm>
          <a:prstGeom prst="rect">
            <a:avLst/>
          </a:prstGeom>
          <a:noFill/>
          <a:ln/>
        </p:spPr>
        <p:txBody>
          <a:bodyPr wrap="square" lIns="0" tIns="0" rIns="0" bIns="0" rtlCol="0" anchor="ctr"/>
          <a:lstStyle/>
          <a:p>
            <a:pPr marL="0" indent="0" algn="ctr">
              <a:buNone/>
            </a:pPr>
            <a:r>
              <a:rPr lang="en-US" sz="1700" i="1">
                <a:solidFill>
                  <a:srgbClr val="9AD1D4"/>
                </a:solidFill>
                <a:latin typeface="Calibri" pitchFamily="34" charset="0"/>
                <a:ea typeface="Calibri" pitchFamily="34" charset="-122"/>
                <a:cs typeface="Calibri" pitchFamily="34" charset="-120"/>
              </a:rPr>
              <a:t>Questions &amp; Discussion</a:t>
            </a:r>
            <a:endParaRPr lang="en-US" sz="1700"/>
          </a:p>
        </p:txBody>
      </p:sp>
      <p:sp>
        <p:nvSpPr>
          <p:cNvPr id="8" name="Text 5"/>
          <p:cNvSpPr/>
          <p:nvPr/>
        </p:nvSpPr>
        <p:spPr>
          <a:xfrm>
            <a:off x="914400" y="3886200"/>
            <a:ext cx="7315200" cy="310896"/>
          </a:xfrm>
          <a:prstGeom prst="rect">
            <a:avLst/>
          </a:prstGeom>
          <a:noFill/>
          <a:ln/>
        </p:spPr>
        <p:txBody>
          <a:bodyPr wrap="square" lIns="0" tIns="0" rIns="0" bIns="0" rtlCol="0" anchor="ctr"/>
          <a:lstStyle/>
          <a:p>
            <a:pPr marL="0" indent="0" algn="ctr">
              <a:buNone/>
            </a:pPr>
            <a:r>
              <a:rPr lang="en-US" sz="1250" b="1">
                <a:solidFill>
                  <a:srgbClr val="E9B44C"/>
                </a:solidFill>
                <a:latin typeface="Calibri" pitchFamily="34" charset="0"/>
                <a:ea typeface="Calibri" pitchFamily="34" charset="-122"/>
                <a:cs typeface="Calibri" pitchFamily="34" charset="-120"/>
              </a:rPr>
              <a:t>Henry El-Jawhari</a:t>
            </a:r>
            <a:endParaRPr lang="en-US" sz="1250"/>
          </a:p>
        </p:txBody>
      </p:sp>
      <p:sp>
        <p:nvSpPr>
          <p:cNvPr id="9" name="Text 6"/>
          <p:cNvSpPr/>
          <p:nvPr/>
        </p:nvSpPr>
        <p:spPr>
          <a:xfrm>
            <a:off x="914400" y="4206240"/>
            <a:ext cx="7315200" cy="274320"/>
          </a:xfrm>
          <a:prstGeom prst="rect">
            <a:avLst/>
          </a:prstGeom>
          <a:noFill/>
          <a:ln/>
        </p:spPr>
        <p:txBody>
          <a:bodyPr wrap="square" lIns="0" tIns="0" rIns="0" bIns="0" rtlCol="0" anchor="ctr"/>
          <a:lstStyle/>
          <a:p>
            <a:pPr marL="0" indent="0" algn="ctr">
              <a:buNone/>
            </a:pPr>
            <a:r>
              <a:rPr lang="en-US" sz="1100">
                <a:solidFill>
                  <a:srgbClr val="8AA0A3"/>
                </a:solidFill>
                <a:latin typeface="Calibri" pitchFamily="34" charset="0"/>
                <a:ea typeface="Calibri" pitchFamily="34" charset="-122"/>
                <a:cs typeface="Calibri" pitchFamily="34" charset="-120"/>
              </a:rPr>
              <a:t>Freie Universität Berlin  ·  ZKI-PH, Robert Koch Institute</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Full results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Component metrics and verbosity across the three models</a:t>
            </a:r>
            <a:endParaRPr lang="en-US" sz="1250" dirty="0"/>
          </a:p>
        </p:txBody>
      </p:sp>
      <p:sp>
        <p:nvSpPr>
          <p:cNvPr id="6" name="Text 3"/>
          <p:cNvSpPr/>
          <p:nvPr/>
        </p:nvSpPr>
        <p:spPr>
          <a:xfrm>
            <a:off x="457200" y="1325880"/>
            <a:ext cx="8229600" cy="274320"/>
          </a:xfrm>
          <a:prstGeom prst="rect">
            <a:avLst/>
          </a:prstGeom>
          <a:noFill/>
          <a:ln/>
        </p:spPr>
        <p:txBody>
          <a:bodyPr wrap="square" lIns="0" tIns="0" rIns="0" bIns="0" rtlCol="0" anchor="ctr"/>
          <a:lstStyle/>
          <a:p>
            <a:pPr marL="0" indent="0">
              <a:buNone/>
            </a:pPr>
            <a:r>
              <a:rPr lang="en-US" sz="1200" b="1">
                <a:solidFill>
                  <a:srgbClr val="0E5E5C"/>
                </a:solidFill>
                <a:latin typeface="Calibri" pitchFamily="34" charset="0"/>
                <a:ea typeface="Calibri" pitchFamily="34" charset="-122"/>
                <a:cs typeface="Calibri" pitchFamily="34" charset="-120"/>
              </a:rPr>
              <a:t>ACF components (selected run per model)</a:t>
            </a:r>
            <a:endParaRPr lang="en-US" sz="1200"/>
          </a:p>
        </p:txBody>
      </p:sp>
      <p:graphicFrame>
        <p:nvGraphicFramePr>
          <p:cNvPr id="25" name="Table 0"/>
          <p:cNvGraphicFramePr>
            <a:graphicFrameLocks noGrp="1"/>
          </p:cNvGraphicFramePr>
          <p:nvPr>
            <p:extLst>
              <p:ext uri="{D42A27DB-BD31-4B8C-83A1-F6EECF244321}">
                <p14:modId xmlns:p14="http://schemas.microsoft.com/office/powerpoint/2010/main" val="1779241211"/>
              </p:ext>
            </p:extLst>
          </p:nvPr>
        </p:nvGraphicFramePr>
        <p:xfrm>
          <a:off x="457200" y="1645920"/>
          <a:ext cx="8229600" cy="1536192"/>
        </p:xfrm>
        <a:graphic>
          <a:graphicData uri="http://schemas.openxmlformats.org/drawingml/2006/table">
            <a:tbl>
              <a:tblPr/>
              <a:tblGrid>
                <a:gridCol w="2011680">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243584">
                  <a:extLst>
                    <a:ext uri="{9D8B030D-6E8A-4147-A177-3AD203B41FA5}">
                      <a16:colId xmlns:a16="http://schemas.microsoft.com/office/drawing/2014/main" val="20003"/>
                    </a:ext>
                  </a:extLst>
                </a:gridCol>
                <a:gridCol w="1243584">
                  <a:extLst>
                    <a:ext uri="{9D8B030D-6E8A-4147-A177-3AD203B41FA5}">
                      <a16:colId xmlns:a16="http://schemas.microsoft.com/office/drawing/2014/main" val="20004"/>
                    </a:ext>
                  </a:extLst>
                </a:gridCol>
                <a:gridCol w="1243584">
                  <a:extLst>
                    <a:ext uri="{9D8B030D-6E8A-4147-A177-3AD203B41FA5}">
                      <a16:colId xmlns:a16="http://schemas.microsoft.com/office/drawing/2014/main" val="20005"/>
                    </a:ext>
                  </a:extLst>
                </a:gridCol>
              </a:tblGrid>
              <a:tr h="384048">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Model</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Accuracy</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ROUGE-L</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BERTScore</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SBERT</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ACF</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extLst>
                  <a:ext uri="{0D108BD9-81ED-4DB2-BD59-A6C34878D82A}">
                    <a16:rowId xmlns:a16="http://schemas.microsoft.com/office/drawing/2014/main" val="10000"/>
                  </a:ext>
                </a:extLst>
              </a:tr>
              <a:tr h="384048">
                <a:tc>
                  <a:txBody>
                    <a:bodyPr/>
                    <a:lstStyle/>
                    <a:p>
                      <a:pPr marL="0" indent="0">
                        <a:buNone/>
                      </a:pPr>
                      <a:r>
                        <a:rPr lang="en-US" sz="1200" b="1">
                          <a:solidFill>
                            <a:srgbClr val="127475"/>
                          </a:solidFill>
                          <a:latin typeface="Calibri" pitchFamily="34" charset="0"/>
                          <a:ea typeface="Calibri" pitchFamily="34" charset="-122"/>
                          <a:cs typeface="Calibri" pitchFamily="34" charset="-120"/>
                        </a:rPr>
                        <a:t>ChatGPT 5.2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0.889</a:t>
                      </a:r>
                      <a:endParaRPr lang="en-US" sz="1200" b="1">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0.458</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0.862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0.611</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0.720</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1"/>
                  </a:ext>
                </a:extLst>
              </a:tr>
              <a:tr h="384048">
                <a:tc>
                  <a:txBody>
                    <a:bodyPr/>
                    <a:lstStyle/>
                    <a:p>
                      <a:pPr marL="0" indent="0">
                        <a:buNone/>
                      </a:pPr>
                      <a:r>
                        <a:rPr lang="en-US" sz="1200" b="1">
                          <a:solidFill>
                            <a:srgbClr val="E07A5F"/>
                          </a:solidFill>
                          <a:latin typeface="Calibri" pitchFamily="34" charset="0"/>
                          <a:ea typeface="Calibri" pitchFamily="34" charset="-122"/>
                          <a:cs typeface="Calibri" pitchFamily="34" charset="-120"/>
                        </a:rPr>
                        <a:t>Claude Opus 4.6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0.833</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0.530</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0.857</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0.593</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0.706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2"/>
                  </a:ext>
                </a:extLst>
              </a:tr>
              <a:tr h="384048">
                <a:tc>
                  <a:txBody>
                    <a:bodyPr/>
                    <a:lstStyle/>
                    <a:p>
                      <a:pPr marL="0" indent="0">
                        <a:buNone/>
                      </a:pPr>
                      <a:r>
                        <a:rPr lang="en-US" sz="1200" b="1">
                          <a:solidFill>
                            <a:srgbClr val="3D5A80"/>
                          </a:solidFill>
                          <a:latin typeface="Calibri" pitchFamily="34" charset="0"/>
                          <a:ea typeface="Calibri" pitchFamily="34" charset="-122"/>
                          <a:cs typeface="Calibri" pitchFamily="34" charset="-120"/>
                        </a:rPr>
                        <a:t>Gemini 3 Pro</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0.806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0.407</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0.868</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0.586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0.676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3"/>
                  </a:ext>
                </a:extLst>
              </a:tr>
            </a:tbl>
          </a:graphicData>
        </a:graphic>
      </p:graphicFrame>
      <p:sp>
        <p:nvSpPr>
          <p:cNvPr id="8" name="Text 4"/>
          <p:cNvSpPr/>
          <p:nvPr/>
        </p:nvSpPr>
        <p:spPr>
          <a:xfrm>
            <a:off x="457200" y="3246120"/>
            <a:ext cx="8229600" cy="274320"/>
          </a:xfrm>
          <a:prstGeom prst="rect">
            <a:avLst/>
          </a:prstGeom>
          <a:noFill/>
          <a:ln/>
        </p:spPr>
        <p:txBody>
          <a:bodyPr wrap="square" lIns="0" tIns="0" rIns="0" bIns="0" rtlCol="0" anchor="ctr"/>
          <a:lstStyle/>
          <a:p>
            <a:pPr marL="0" indent="0">
              <a:buNone/>
            </a:pPr>
            <a:r>
              <a:rPr lang="en-US" sz="1200" b="1">
                <a:solidFill>
                  <a:srgbClr val="0E5E5C"/>
                </a:solidFill>
                <a:latin typeface="Calibri" pitchFamily="34" charset="0"/>
                <a:ea typeface="Calibri" pitchFamily="34" charset="-122"/>
                <a:cs typeface="Calibri" pitchFamily="34" charset="-120"/>
              </a:rPr>
              <a:t>Verbosity (average per answer)</a:t>
            </a:r>
            <a:endParaRPr lang="en-US" sz="120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57200" y="3566160"/>
          <a:ext cx="8229600" cy="1389888"/>
        </p:xfrm>
        <a:graphic>
          <a:graphicData uri="http://schemas.openxmlformats.org/drawingml/2006/table">
            <a:tbl>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47472">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Metric</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ChatGPT 5.2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Claude Opus 4.6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Gemini 3 Pro</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Human</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0A2E36"/>
                    </a:solidFill>
                  </a:tcPr>
                </a:tc>
                <a:extLst>
                  <a:ext uri="{0D108BD9-81ED-4DB2-BD59-A6C34878D82A}">
                    <a16:rowId xmlns:a16="http://schemas.microsoft.com/office/drawing/2014/main" val="10000"/>
                  </a:ext>
                </a:extLst>
              </a:tr>
              <a:tr h="347472">
                <a:tc>
                  <a:txBody>
                    <a:bodyPr/>
                    <a:lstStyle/>
                    <a:p>
                      <a:pPr marL="0" indent="0">
                        <a:buNone/>
                      </a:pPr>
                      <a:r>
                        <a:rPr lang="en-US" sz="1200" b="1">
                          <a:solidFill>
                            <a:srgbClr val="183036"/>
                          </a:solidFill>
                          <a:latin typeface="Calibri" pitchFamily="34" charset="0"/>
                          <a:ea typeface="Calibri" pitchFamily="34" charset="-122"/>
                          <a:cs typeface="Calibri" pitchFamily="34" charset="-120"/>
                        </a:rPr>
                        <a:t>Word count</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63.7</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91.2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37.2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60.8</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1"/>
                  </a:ext>
                </a:extLst>
              </a:tr>
              <a:tr h="347472">
                <a:tc>
                  <a:txBody>
                    <a:bodyPr/>
                    <a:lstStyle/>
                    <a:p>
                      <a:pPr marL="0" indent="0">
                        <a:buNone/>
                      </a:pPr>
                      <a:r>
                        <a:rPr lang="en-US" sz="1200" b="1">
                          <a:solidFill>
                            <a:srgbClr val="183036"/>
                          </a:solidFill>
                          <a:latin typeface="Calibri" pitchFamily="34" charset="0"/>
                          <a:ea typeface="Calibri" pitchFamily="34" charset="-122"/>
                          <a:cs typeface="Calibri" pitchFamily="34" charset="-120"/>
                        </a:rPr>
                        <a:t>Words / sentence</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22.0</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29.3</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19.6</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21.4</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2"/>
                  </a:ext>
                </a:extLst>
              </a:tr>
              <a:tr h="347472">
                <a:tc>
                  <a:txBody>
                    <a:bodyPr/>
                    <a:lstStyle/>
                    <a:p>
                      <a:pPr marL="0" indent="0">
                        <a:buNone/>
                      </a:pPr>
                      <a:r>
                        <a:rPr lang="en-US" sz="1200" b="1">
                          <a:solidFill>
                            <a:srgbClr val="183036"/>
                          </a:solidFill>
                          <a:latin typeface="Calibri" pitchFamily="34" charset="0"/>
                          <a:ea typeface="Calibri" pitchFamily="34" charset="-122"/>
                          <a:cs typeface="Calibri" pitchFamily="34" charset="-120"/>
                        </a:rPr>
                        <a:t>Difficult words</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15.0</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b="1">
                          <a:solidFill>
                            <a:srgbClr val="183036"/>
                          </a:solidFill>
                          <a:latin typeface="Calibri" pitchFamily="34" charset="0"/>
                          <a:ea typeface="Calibri" pitchFamily="34" charset="-122"/>
                          <a:cs typeface="Calibri" pitchFamily="34" charset="-120"/>
                        </a:rPr>
                        <a:t>24.4</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7.2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tc>
                  <a:txBody>
                    <a:bodyPr/>
                    <a:lstStyle/>
                    <a:p>
                      <a:pPr marL="0" indent="0" algn="ctr">
                        <a:buNone/>
                      </a:pPr>
                      <a:r>
                        <a:rPr lang="en-US" sz="1200">
                          <a:solidFill>
                            <a:srgbClr val="183036"/>
                          </a:solidFill>
                          <a:latin typeface="Calibri" pitchFamily="34" charset="0"/>
                          <a:ea typeface="Calibri" pitchFamily="34" charset="-122"/>
                          <a:cs typeface="Calibri" pitchFamily="34" charset="-120"/>
                        </a:rPr>
                        <a:t>13.2</a:t>
                      </a:r>
                      <a:endParaRPr lang="en-US" sz="1200">
                        <a:latin typeface="Calibri" charset="0"/>
                        <a:ea typeface="Calibri" charset="0"/>
                        <a:cs typeface="Calibri" charset="0"/>
                      </a:endParaRPr>
                    </a:p>
                  </a:txBody>
                  <a:tcPr anchor="ctr">
                    <a:lnL w="12700" cap="flat" cmpd="sng" algn="ctr">
                      <a:solidFill>
                        <a:srgbClr val="DDE8E8"/>
                      </a:solidFill>
                      <a:prstDash val="solid"/>
                      <a:round/>
                      <a:headEnd type="none" w="med" len="med"/>
                      <a:tailEnd type="none" w="med" len="med"/>
                    </a:lnL>
                    <a:lnR w="12700" cap="flat" cmpd="sng" algn="ctr">
                      <a:solidFill>
                        <a:srgbClr val="DDE8E8"/>
                      </a:solidFill>
                      <a:prstDash val="solid"/>
                      <a:round/>
                      <a:headEnd type="none" w="med" len="med"/>
                      <a:tailEnd type="none" w="med" len="med"/>
                    </a:lnR>
                    <a:lnT w="12700" cap="flat" cmpd="sng" algn="ctr">
                      <a:solidFill>
                        <a:srgbClr val="DDE8E8"/>
                      </a:solidFill>
                      <a:prstDash val="solid"/>
                      <a:round/>
                      <a:headEnd type="none" w="med" len="med"/>
                      <a:tailEnd type="none" w="med" len="med"/>
                    </a:lnT>
                    <a:lnB w="12700" cap="flat" cmpd="sng" algn="ctr">
                      <a:solidFill>
                        <a:srgbClr val="DDE8E8"/>
                      </a:solidFill>
                      <a:prstDash val="solid"/>
                      <a:round/>
                      <a:headEnd type="none" w="med" len="med"/>
                      <a:tailEnd type="none" w="med" len="med"/>
                    </a:lnB>
                    <a:solidFill>
                      <a:srgbClr val="F7FBFB"/>
                    </a:solidFill>
                  </a:tcPr>
                </a:tc>
                <a:extLst>
                  <a:ext uri="{0D108BD9-81ED-4DB2-BD59-A6C34878D82A}">
                    <a16:rowId xmlns:a16="http://schemas.microsoft.com/office/drawing/2014/main" val="10003"/>
                  </a:ext>
                </a:extLst>
              </a:tr>
            </a:tbl>
          </a:graphicData>
        </a:graphic>
      </p:graphicFrame>
      <p:sp>
        <p:nvSpPr>
          <p:cNvPr id="10" name="Text 5"/>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24</a:t>
            </a:r>
            <a:endParaRPr lang="en-US" sz="9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87266-80F2-8B05-EB96-D372283A0E9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0D7DDC-3BE8-28C8-4133-B7BF34444645}"/>
              </a:ext>
            </a:extLst>
          </p:cNvPr>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a:extLst>
              <a:ext uri="{FF2B5EF4-FFF2-40B4-BE49-F238E27FC236}">
                <a16:creationId xmlns:a16="http://schemas.microsoft.com/office/drawing/2014/main" id="{0AA39EE1-4DD8-19A4-1445-7C653C16BE30}"/>
              </a:ext>
            </a:extLst>
          </p:cNvPr>
          <p:cNvPicPr>
            <a:picLocks noChangeAspect="1"/>
          </p:cNvPicPr>
          <p:nvPr/>
        </p:nvPicPr>
        <p:blipFill>
          <a:blip r:embed="rId3"/>
          <a:stretch>
            <a:fillRect/>
          </a:stretch>
        </p:blipFill>
        <p:spPr>
          <a:xfrm>
            <a:off x="604601" y="458297"/>
            <a:ext cx="272125" cy="272125"/>
          </a:xfrm>
          <a:prstGeom prst="rect">
            <a:avLst/>
          </a:prstGeom>
        </p:spPr>
      </p:pic>
      <p:sp>
        <p:nvSpPr>
          <p:cNvPr id="4" name="Text 1">
            <a:extLst>
              <a:ext uri="{FF2B5EF4-FFF2-40B4-BE49-F238E27FC236}">
                <a16:creationId xmlns:a16="http://schemas.microsoft.com/office/drawing/2014/main" id="{0F6C7CC6-9EC7-A083-2326-88B8534F44E5}"/>
              </a:ext>
            </a:extLst>
          </p:cNvPr>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ACF by Category</a:t>
            </a:r>
          </a:p>
        </p:txBody>
      </p:sp>
      <p:sp>
        <p:nvSpPr>
          <p:cNvPr id="10" name="Text 5">
            <a:extLst>
              <a:ext uri="{FF2B5EF4-FFF2-40B4-BE49-F238E27FC236}">
                <a16:creationId xmlns:a16="http://schemas.microsoft.com/office/drawing/2014/main" id="{3D7AB25C-8C6E-2432-E91F-75145BD73B3A}"/>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24</a:t>
            </a:r>
            <a:endParaRPr lang="en-US" sz="900"/>
          </a:p>
        </p:txBody>
      </p:sp>
      <p:pic>
        <p:nvPicPr>
          <p:cNvPr id="7" name="Picture 6">
            <a:extLst>
              <a:ext uri="{FF2B5EF4-FFF2-40B4-BE49-F238E27FC236}">
                <a16:creationId xmlns:a16="http://schemas.microsoft.com/office/drawing/2014/main" id="{A5AF89DE-0FBD-21C8-13D8-86F6546B2B49}"/>
              </a:ext>
            </a:extLst>
          </p:cNvPr>
          <p:cNvPicPr>
            <a:picLocks noChangeAspect="1"/>
          </p:cNvPicPr>
          <p:nvPr/>
        </p:nvPicPr>
        <p:blipFill>
          <a:blip r:embed="rId4"/>
          <a:stretch>
            <a:fillRect/>
          </a:stretch>
        </p:blipFill>
        <p:spPr>
          <a:xfrm>
            <a:off x="182879" y="986572"/>
            <a:ext cx="7078315" cy="2362613"/>
          </a:xfrm>
          <a:prstGeom prst="rect">
            <a:avLst/>
          </a:prstGeom>
        </p:spPr>
      </p:pic>
      <p:pic>
        <p:nvPicPr>
          <p:cNvPr id="9" name="Picture 8">
            <a:extLst>
              <a:ext uri="{FF2B5EF4-FFF2-40B4-BE49-F238E27FC236}">
                <a16:creationId xmlns:a16="http://schemas.microsoft.com/office/drawing/2014/main" id="{49DCD307-E6D6-6910-FA48-675AE8686166}"/>
              </a:ext>
            </a:extLst>
          </p:cNvPr>
          <p:cNvPicPr>
            <a:picLocks noChangeAspect="1"/>
          </p:cNvPicPr>
          <p:nvPr/>
        </p:nvPicPr>
        <p:blipFill>
          <a:blip r:embed="rId5"/>
          <a:stretch>
            <a:fillRect/>
          </a:stretch>
        </p:blipFill>
        <p:spPr>
          <a:xfrm>
            <a:off x="182879" y="3271461"/>
            <a:ext cx="6220210" cy="1785171"/>
          </a:xfrm>
          <a:prstGeom prst="rect">
            <a:avLst/>
          </a:prstGeom>
        </p:spPr>
      </p:pic>
    </p:spTree>
    <p:extLst>
      <p:ext uri="{BB962C8B-B14F-4D97-AF65-F5344CB8AC3E}">
        <p14:creationId xmlns:p14="http://schemas.microsoft.com/office/powerpoint/2010/main" val="3389054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566928" cy="566928"/>
          </a:xfrm>
          <a:prstGeom prst="ellipse">
            <a:avLst/>
          </a:prstGeom>
          <a:solidFill>
            <a:srgbClr val="127475"/>
          </a:solidFill>
          <a:ln/>
        </p:spPr>
        <p:txBody>
          <a:bodyPr/>
          <a:lstStyle/>
          <a:p>
            <a:endParaRPr lang="en-DE"/>
          </a:p>
        </p:txBody>
      </p:sp>
      <p:pic>
        <p:nvPicPr>
          <p:cNvPr id="3" name="Image 0" descr="preencoded.png"/>
          <p:cNvPicPr>
            <a:picLocks noChangeAspect="1"/>
          </p:cNvPicPr>
          <p:nvPr/>
        </p:nvPicPr>
        <p:blipFill>
          <a:blip r:embed="rId3"/>
          <a:stretch>
            <a:fillRect/>
          </a:stretch>
        </p:blipFill>
        <p:spPr>
          <a:xfrm>
            <a:off x="604601" y="458297"/>
            <a:ext cx="272125" cy="272125"/>
          </a:xfrm>
          <a:prstGeom prst="rect">
            <a:avLst/>
          </a:prstGeom>
        </p:spPr>
      </p:pic>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Readability metrics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ea typeface="Calibri" pitchFamily="34" charset="-122"/>
                <a:cs typeface="Calibri" pitchFamily="34" charset="-120"/>
              </a:rPr>
              <a:t>Four grade-level formulas, structural and lexical complexity</a:t>
            </a:r>
            <a:endParaRPr lang="en-US" sz="1250" dirty="0"/>
          </a:p>
        </p:txBody>
      </p:sp>
      <p:sp>
        <p:nvSpPr>
          <p:cNvPr id="6" name="Shape 3"/>
          <p:cNvSpPr/>
          <p:nvPr/>
        </p:nvSpPr>
        <p:spPr>
          <a:xfrm>
            <a:off x="45720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7" name="Text 4"/>
          <p:cNvSpPr/>
          <p:nvPr/>
        </p:nvSpPr>
        <p:spPr>
          <a:xfrm>
            <a:off x="676656" y="1572768"/>
            <a:ext cx="3584448" cy="365760"/>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Flesch–Kincaid Grade</a:t>
            </a:r>
            <a:endParaRPr lang="en-US" sz="1450"/>
          </a:p>
        </p:txBody>
      </p:sp>
      <p:sp>
        <p:nvSpPr>
          <p:cNvPr id="8" name="Text 5"/>
          <p:cNvSpPr/>
          <p:nvPr/>
        </p:nvSpPr>
        <p:spPr>
          <a:xfrm>
            <a:off x="676656" y="2011680"/>
            <a:ext cx="3584448" cy="548640"/>
          </a:xfrm>
          <a:prstGeom prst="rect">
            <a:avLst/>
          </a:prstGeom>
          <a:noFill/>
          <a:ln/>
        </p:spPr>
        <p:txBody>
          <a:bodyPr wrap="square" lIns="0" tIns="0" rIns="0" bIns="0" rtlCol="0" anchor="ctr"/>
          <a:lstStyle/>
          <a:p>
            <a:pPr marL="0" indent="0">
              <a:buNone/>
            </a:pPr>
            <a:r>
              <a:rPr lang="en-US" sz="1150">
                <a:solidFill>
                  <a:srgbClr val="55686B"/>
                </a:solidFill>
                <a:latin typeface="Calibri" pitchFamily="34" charset="0"/>
                <a:ea typeface="Calibri" pitchFamily="34" charset="-122"/>
                <a:cs typeface="Calibri" pitchFamily="34" charset="-120"/>
              </a:rPr>
              <a:t>Weights sentence length and syllables per word.</a:t>
            </a:r>
            <a:endParaRPr lang="en-US" sz="1150"/>
          </a:p>
        </p:txBody>
      </p:sp>
      <p:sp>
        <p:nvSpPr>
          <p:cNvPr id="9" name="Shape 6"/>
          <p:cNvSpPr/>
          <p:nvPr/>
        </p:nvSpPr>
        <p:spPr>
          <a:xfrm>
            <a:off x="4663440" y="1371600"/>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0" name="Text 7"/>
          <p:cNvSpPr/>
          <p:nvPr/>
        </p:nvSpPr>
        <p:spPr>
          <a:xfrm>
            <a:off x="4882896" y="1572768"/>
            <a:ext cx="3584448" cy="365760"/>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SMOG Index</a:t>
            </a:r>
            <a:endParaRPr lang="en-US" sz="1450"/>
          </a:p>
        </p:txBody>
      </p:sp>
      <p:sp>
        <p:nvSpPr>
          <p:cNvPr id="11" name="Text 8"/>
          <p:cNvSpPr/>
          <p:nvPr/>
        </p:nvSpPr>
        <p:spPr>
          <a:xfrm>
            <a:off x="4882896" y="2011680"/>
            <a:ext cx="3584448" cy="548640"/>
          </a:xfrm>
          <a:prstGeom prst="rect">
            <a:avLst/>
          </a:prstGeom>
          <a:noFill/>
          <a:ln/>
        </p:spPr>
        <p:txBody>
          <a:bodyPr wrap="square" lIns="0" tIns="0" rIns="0" bIns="0" rtlCol="0" anchor="ctr"/>
          <a:lstStyle/>
          <a:p>
            <a:pPr marL="0" indent="0">
              <a:buNone/>
            </a:pPr>
            <a:r>
              <a:rPr lang="en-US" sz="1150">
                <a:solidFill>
                  <a:srgbClr val="55686B"/>
                </a:solidFill>
                <a:latin typeface="Calibri" pitchFamily="34" charset="0"/>
                <a:ea typeface="Calibri" pitchFamily="34" charset="-122"/>
                <a:cs typeface="Calibri" pitchFamily="34" charset="-120"/>
              </a:rPr>
              <a:t>Based on polysyllabic words; common for health literacy.</a:t>
            </a:r>
            <a:endParaRPr lang="en-US" sz="1150"/>
          </a:p>
        </p:txBody>
      </p:sp>
      <p:sp>
        <p:nvSpPr>
          <p:cNvPr id="12" name="Shape 9"/>
          <p:cNvSpPr/>
          <p:nvPr/>
        </p:nvSpPr>
        <p:spPr>
          <a:xfrm>
            <a:off x="45720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3" name="Text 10"/>
          <p:cNvSpPr/>
          <p:nvPr/>
        </p:nvSpPr>
        <p:spPr>
          <a:xfrm>
            <a:off x="676656" y="3108960"/>
            <a:ext cx="3584448" cy="365760"/>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Coleman–Liau Index</a:t>
            </a:r>
            <a:endParaRPr lang="en-US" sz="1450"/>
          </a:p>
        </p:txBody>
      </p:sp>
      <p:sp>
        <p:nvSpPr>
          <p:cNvPr id="14" name="Text 11"/>
          <p:cNvSpPr/>
          <p:nvPr/>
        </p:nvSpPr>
        <p:spPr>
          <a:xfrm>
            <a:off x="676656" y="3547872"/>
            <a:ext cx="3584448" cy="548640"/>
          </a:xfrm>
          <a:prstGeom prst="rect">
            <a:avLst/>
          </a:prstGeom>
          <a:noFill/>
          <a:ln/>
        </p:spPr>
        <p:txBody>
          <a:bodyPr wrap="square" lIns="0" tIns="0" rIns="0" bIns="0" rtlCol="0" anchor="ctr"/>
          <a:lstStyle/>
          <a:p>
            <a:pPr marL="0" indent="0">
              <a:buNone/>
            </a:pPr>
            <a:r>
              <a:rPr lang="en-US" sz="1150">
                <a:solidFill>
                  <a:srgbClr val="55686B"/>
                </a:solidFill>
                <a:latin typeface="Calibri" pitchFamily="34" charset="0"/>
                <a:ea typeface="Calibri" pitchFamily="34" charset="-122"/>
                <a:cs typeface="Calibri" pitchFamily="34" charset="-120"/>
              </a:rPr>
              <a:t>Uses characters, not syllables. Easy to compute.</a:t>
            </a:r>
            <a:endParaRPr lang="en-US" sz="1150"/>
          </a:p>
        </p:txBody>
      </p:sp>
      <p:sp>
        <p:nvSpPr>
          <p:cNvPr id="15" name="Shape 12"/>
          <p:cNvSpPr/>
          <p:nvPr/>
        </p:nvSpPr>
        <p:spPr>
          <a:xfrm>
            <a:off x="4663440" y="2907792"/>
            <a:ext cx="4023360" cy="1371600"/>
          </a:xfrm>
          <a:prstGeom prst="roundRect">
            <a:avLst>
              <a:gd name="adj" fmla="val 5333"/>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16" name="Text 13"/>
          <p:cNvSpPr/>
          <p:nvPr/>
        </p:nvSpPr>
        <p:spPr>
          <a:xfrm>
            <a:off x="4882896" y="3108960"/>
            <a:ext cx="3584448" cy="365760"/>
          </a:xfrm>
          <a:prstGeom prst="rect">
            <a:avLst/>
          </a:prstGeom>
          <a:noFill/>
          <a:ln/>
        </p:spPr>
        <p:txBody>
          <a:bodyPr wrap="square" lIns="0" tIns="0" rIns="0" bIns="0" rtlCol="0" anchor="ctr"/>
          <a:lstStyle/>
          <a:p>
            <a:pPr marL="0" indent="0">
              <a:buNone/>
            </a:pPr>
            <a:r>
              <a:rPr lang="en-US" sz="1450" b="1">
                <a:solidFill>
                  <a:srgbClr val="0A2E36"/>
                </a:solidFill>
                <a:latin typeface="Cambria" pitchFamily="34" charset="0"/>
                <a:ea typeface="Cambria" pitchFamily="34" charset="-122"/>
                <a:cs typeface="Cambria" pitchFamily="34" charset="-120"/>
              </a:rPr>
              <a:t>Dale–Chall Score</a:t>
            </a:r>
            <a:endParaRPr lang="en-US" sz="1450"/>
          </a:p>
        </p:txBody>
      </p:sp>
      <p:sp>
        <p:nvSpPr>
          <p:cNvPr id="17" name="Text 14"/>
          <p:cNvSpPr/>
          <p:nvPr/>
        </p:nvSpPr>
        <p:spPr>
          <a:xfrm>
            <a:off x="4882896" y="3547872"/>
            <a:ext cx="3584448" cy="548640"/>
          </a:xfrm>
          <a:prstGeom prst="rect">
            <a:avLst/>
          </a:prstGeom>
          <a:noFill/>
          <a:ln/>
        </p:spPr>
        <p:txBody>
          <a:bodyPr wrap="square" lIns="0" tIns="0" rIns="0" bIns="0" rtlCol="0" anchor="ctr"/>
          <a:lstStyle/>
          <a:p>
            <a:pPr marL="0" indent="0">
              <a:buNone/>
            </a:pPr>
            <a:r>
              <a:rPr lang="en-US" sz="1150">
                <a:solidFill>
                  <a:srgbClr val="55686B"/>
                </a:solidFill>
                <a:latin typeface="Calibri" pitchFamily="34" charset="0"/>
                <a:ea typeface="Calibri" pitchFamily="34" charset="-122"/>
                <a:cs typeface="Calibri" pitchFamily="34" charset="-120"/>
              </a:rPr>
              <a:t>Penalises words outside a list of 3,000 familiar words.</a:t>
            </a:r>
            <a:endParaRPr lang="en-US" sz="1150"/>
          </a:p>
        </p:txBody>
      </p:sp>
      <p:sp>
        <p:nvSpPr>
          <p:cNvPr id="18" name="Text 15"/>
          <p:cNvSpPr/>
          <p:nvPr/>
        </p:nvSpPr>
        <p:spPr>
          <a:xfrm>
            <a:off x="457200" y="4590288"/>
            <a:ext cx="8229600" cy="292608"/>
          </a:xfrm>
          <a:prstGeom prst="rect">
            <a:avLst/>
          </a:prstGeom>
          <a:noFill/>
          <a:ln/>
        </p:spPr>
        <p:txBody>
          <a:bodyPr wrap="square" lIns="0" tIns="0" rIns="0" bIns="0" rtlCol="0" anchor="ctr"/>
          <a:lstStyle/>
          <a:p>
            <a:pPr marL="0" indent="0" algn="ctr">
              <a:buNone/>
            </a:pPr>
            <a:r>
              <a:rPr lang="en-US" sz="1200" b="1" i="1">
                <a:solidFill>
                  <a:srgbClr val="0E5E5C"/>
                </a:solidFill>
                <a:latin typeface="Calibri" pitchFamily="34" charset="0"/>
                <a:ea typeface="Calibri" pitchFamily="34" charset="-122"/>
                <a:cs typeface="Calibri" pitchFamily="34" charset="-120"/>
              </a:rPr>
              <a:t>All map to a US grade level, easily compared to the education level of the target audience.</a:t>
            </a:r>
            <a:endParaRPr lang="en-US" sz="1200"/>
          </a:p>
        </p:txBody>
      </p:sp>
      <p:sp>
        <p:nvSpPr>
          <p:cNvPr id="19" name="Text 16"/>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25</a:t>
            </a:r>
            <a:endParaRPr lang="en-US" sz="9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FF124-75F2-1D0D-99FF-CD4A512A797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6D285B-D1A2-0C3E-DB25-622F46ACD3C4}"/>
              </a:ext>
            </a:extLst>
          </p:cNvPr>
          <p:cNvSpPr/>
          <p:nvPr/>
        </p:nvSpPr>
        <p:spPr>
          <a:xfrm>
            <a:off x="457200" y="300957"/>
            <a:ext cx="566928" cy="566928"/>
          </a:xfrm>
          <a:prstGeom prst="ellipse">
            <a:avLst/>
          </a:prstGeom>
          <a:solidFill>
            <a:srgbClr val="127475"/>
          </a:solidFill>
          <a:ln/>
        </p:spPr>
        <p:txBody>
          <a:bodyPr/>
          <a:lstStyle/>
          <a:p>
            <a:endParaRPr lang="en-DE"/>
          </a:p>
        </p:txBody>
      </p:sp>
      <p:sp>
        <p:nvSpPr>
          <p:cNvPr id="4" name="Text 1">
            <a:extLst>
              <a:ext uri="{FF2B5EF4-FFF2-40B4-BE49-F238E27FC236}">
                <a16:creationId xmlns:a16="http://schemas.microsoft.com/office/drawing/2014/main" id="{232AA331-EE77-D391-407A-1526D3927FE1}"/>
              </a:ext>
            </a:extLst>
          </p:cNvPr>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Instructional Template</a:t>
            </a:r>
            <a:endParaRPr lang="en-US" sz="2700" dirty="0"/>
          </a:p>
        </p:txBody>
      </p:sp>
      <p:sp>
        <p:nvSpPr>
          <p:cNvPr id="15" name="Text 12">
            <a:extLst>
              <a:ext uri="{FF2B5EF4-FFF2-40B4-BE49-F238E27FC236}">
                <a16:creationId xmlns:a16="http://schemas.microsoft.com/office/drawing/2014/main" id="{5F518B9F-863C-1013-EFE4-F08AA9EDFE7C}"/>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26</a:t>
            </a:r>
            <a:endParaRPr lang="en-US" sz="900"/>
          </a:p>
        </p:txBody>
      </p:sp>
      <p:pic>
        <p:nvPicPr>
          <p:cNvPr id="3" name="Picture 2">
            <a:extLst>
              <a:ext uri="{FF2B5EF4-FFF2-40B4-BE49-F238E27FC236}">
                <a16:creationId xmlns:a16="http://schemas.microsoft.com/office/drawing/2014/main" id="{3CC2F384-7DD7-5D29-1F84-E108197EE417}"/>
              </a:ext>
            </a:extLst>
          </p:cNvPr>
          <p:cNvPicPr>
            <a:picLocks noChangeAspect="1"/>
          </p:cNvPicPr>
          <p:nvPr/>
        </p:nvPicPr>
        <p:blipFill>
          <a:blip r:embed="rId3"/>
          <a:stretch>
            <a:fillRect/>
          </a:stretch>
        </p:blipFill>
        <p:spPr>
          <a:xfrm>
            <a:off x="182880" y="1107761"/>
            <a:ext cx="4881680" cy="3598759"/>
          </a:xfrm>
          <a:prstGeom prst="rect">
            <a:avLst/>
          </a:prstGeom>
          <a:ln>
            <a:solidFill>
              <a:schemeClr val="accent1">
                <a:shade val="15000"/>
              </a:schemeClr>
            </a:solidFill>
          </a:ln>
        </p:spPr>
      </p:pic>
      <p:pic>
        <p:nvPicPr>
          <p:cNvPr id="5" name="Picture 4">
            <a:extLst>
              <a:ext uri="{FF2B5EF4-FFF2-40B4-BE49-F238E27FC236}">
                <a16:creationId xmlns:a16="http://schemas.microsoft.com/office/drawing/2014/main" id="{E6A19131-BB43-5372-249C-A75964AC39EA}"/>
              </a:ext>
            </a:extLst>
          </p:cNvPr>
          <p:cNvPicPr>
            <a:picLocks noChangeAspect="1"/>
          </p:cNvPicPr>
          <p:nvPr/>
        </p:nvPicPr>
        <p:blipFill>
          <a:blip r:embed="rId4"/>
          <a:stretch>
            <a:fillRect/>
          </a:stretch>
        </p:blipFill>
        <p:spPr>
          <a:xfrm>
            <a:off x="4079440" y="2996591"/>
            <a:ext cx="4881680" cy="1528241"/>
          </a:xfrm>
          <a:prstGeom prst="rect">
            <a:avLst/>
          </a:prstGeom>
          <a:ln>
            <a:solidFill>
              <a:schemeClr val="accent1">
                <a:shade val="15000"/>
              </a:schemeClr>
            </a:solidFill>
          </a:ln>
        </p:spPr>
      </p:pic>
      <p:pic>
        <p:nvPicPr>
          <p:cNvPr id="7" name="Graphic 6" descr="List with solid fill">
            <a:extLst>
              <a:ext uri="{FF2B5EF4-FFF2-40B4-BE49-F238E27FC236}">
                <a16:creationId xmlns:a16="http://schemas.microsoft.com/office/drawing/2014/main" id="{655E9634-E824-A9C4-3774-DE5EBBA763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1942" y="366627"/>
            <a:ext cx="417444" cy="417444"/>
          </a:xfrm>
          <a:prstGeom prst="rect">
            <a:avLst/>
          </a:prstGeom>
        </p:spPr>
      </p:pic>
    </p:spTree>
    <p:extLst>
      <p:ext uri="{BB962C8B-B14F-4D97-AF65-F5344CB8AC3E}">
        <p14:creationId xmlns:p14="http://schemas.microsoft.com/office/powerpoint/2010/main" val="397148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AB857D-98A3-F733-BC32-988B18B09B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1D126F-E210-0521-CAFA-48CA84883F5D}"/>
              </a:ext>
            </a:extLst>
          </p:cNvPr>
          <p:cNvSpPr/>
          <p:nvPr/>
        </p:nvSpPr>
        <p:spPr>
          <a:xfrm>
            <a:off x="457200" y="310896"/>
            <a:ext cx="566928" cy="566928"/>
          </a:xfrm>
          <a:prstGeom prst="ellipse">
            <a:avLst/>
          </a:prstGeom>
          <a:solidFill>
            <a:srgbClr val="127475"/>
          </a:solidFill>
          <a:ln/>
        </p:spPr>
        <p:txBody>
          <a:bodyPr/>
          <a:lstStyle/>
          <a:p>
            <a:endParaRPr lang="en-DE"/>
          </a:p>
        </p:txBody>
      </p:sp>
      <p:sp>
        <p:nvSpPr>
          <p:cNvPr id="4" name="Text 1">
            <a:extLst>
              <a:ext uri="{FF2B5EF4-FFF2-40B4-BE49-F238E27FC236}">
                <a16:creationId xmlns:a16="http://schemas.microsoft.com/office/drawing/2014/main" id="{3A244DF9-DB72-04AB-CA9A-B54C0D32F227}"/>
              </a:ext>
            </a:extLst>
          </p:cNvPr>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Information Units</a:t>
            </a:r>
            <a:endParaRPr lang="en-US" sz="2700" dirty="0"/>
          </a:p>
        </p:txBody>
      </p:sp>
      <p:sp>
        <p:nvSpPr>
          <p:cNvPr id="15" name="Text 12">
            <a:extLst>
              <a:ext uri="{FF2B5EF4-FFF2-40B4-BE49-F238E27FC236}">
                <a16:creationId xmlns:a16="http://schemas.microsoft.com/office/drawing/2014/main" id="{A8158342-2A04-0790-E625-5A83A9B43072}"/>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26</a:t>
            </a:r>
            <a:endParaRPr lang="en-US" sz="900"/>
          </a:p>
        </p:txBody>
      </p:sp>
      <p:pic>
        <p:nvPicPr>
          <p:cNvPr id="17" name="Graphic 16" descr="Information with solid fill">
            <a:extLst>
              <a:ext uri="{FF2B5EF4-FFF2-40B4-BE49-F238E27FC236}">
                <a16:creationId xmlns:a16="http://schemas.microsoft.com/office/drawing/2014/main" id="{38EFD268-5CF1-D6D5-D709-48498AB330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2064" y="365760"/>
            <a:ext cx="457200" cy="457200"/>
          </a:xfrm>
          <a:prstGeom prst="rect">
            <a:avLst/>
          </a:prstGeom>
        </p:spPr>
      </p:pic>
      <p:pic>
        <p:nvPicPr>
          <p:cNvPr id="19" name="Picture 18">
            <a:extLst>
              <a:ext uri="{FF2B5EF4-FFF2-40B4-BE49-F238E27FC236}">
                <a16:creationId xmlns:a16="http://schemas.microsoft.com/office/drawing/2014/main" id="{C7E94ECF-4E46-AD3F-9610-87A9143B2205}"/>
              </a:ext>
            </a:extLst>
          </p:cNvPr>
          <p:cNvPicPr>
            <a:picLocks noChangeAspect="1"/>
          </p:cNvPicPr>
          <p:nvPr/>
        </p:nvPicPr>
        <p:blipFill>
          <a:blip r:embed="rId4"/>
          <a:stretch>
            <a:fillRect/>
          </a:stretch>
        </p:blipFill>
        <p:spPr>
          <a:xfrm>
            <a:off x="335126" y="1312460"/>
            <a:ext cx="8473747" cy="3244299"/>
          </a:xfrm>
          <a:prstGeom prst="rect">
            <a:avLst/>
          </a:prstGeom>
        </p:spPr>
      </p:pic>
    </p:spTree>
    <p:extLst>
      <p:ext uri="{BB962C8B-B14F-4D97-AF65-F5344CB8AC3E}">
        <p14:creationId xmlns:p14="http://schemas.microsoft.com/office/powerpoint/2010/main" val="1117086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E93B4B3F-E0F8-6BA3-A614-BD64FF1748E3}"/>
              </a:ext>
            </a:extLst>
          </p:cNvPr>
          <p:cNvSpPr/>
          <p:nvPr/>
        </p:nvSpPr>
        <p:spPr>
          <a:xfrm>
            <a:off x="308113" y="3886200"/>
            <a:ext cx="8451839" cy="941832"/>
          </a:xfrm>
          <a:prstGeom prst="roundRect">
            <a:avLst/>
          </a:prstGeom>
          <a:solidFill>
            <a:srgbClr val="EAB4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 1"/>
          <p:cNvSpPr/>
          <p:nvPr/>
        </p:nvSpPr>
        <p:spPr>
          <a:xfrm>
            <a:off x="1170432" y="274320"/>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Information Units</a:t>
            </a:r>
            <a:endParaRPr lang="en-US" sz="2700" dirty="0"/>
          </a:p>
        </p:txBody>
      </p:sp>
      <p:sp>
        <p:nvSpPr>
          <p:cNvPr id="5" name="Text 2"/>
          <p:cNvSpPr/>
          <p:nvPr/>
        </p:nvSpPr>
        <p:spPr>
          <a:xfrm>
            <a:off x="1170432" y="896112"/>
            <a:ext cx="7589520" cy="292608"/>
          </a:xfrm>
          <a:prstGeom prst="rect">
            <a:avLst/>
          </a:prstGeom>
          <a:noFill/>
          <a:ln/>
        </p:spPr>
        <p:txBody>
          <a:bodyPr wrap="square" lIns="0" tIns="0" rIns="0" bIns="0" rtlCol="0" anchor="t"/>
          <a:lstStyle/>
          <a:p>
            <a:pPr marL="0" indent="0">
              <a:buNone/>
            </a:pPr>
            <a:r>
              <a:rPr lang="en-US" sz="1250" i="1" dirty="0">
                <a:solidFill>
                  <a:srgbClr val="0E5E5C"/>
                </a:solidFill>
                <a:latin typeface="Calibri" pitchFamily="34" charset="0"/>
                <a:cs typeface="Calibri" pitchFamily="34" charset="-120"/>
              </a:rPr>
              <a:t>Defining core terms which need to be included in an answer</a:t>
            </a:r>
            <a:endParaRPr lang="en-US" sz="1250" dirty="0"/>
          </a:p>
        </p:txBody>
      </p:sp>
      <p:sp>
        <p:nvSpPr>
          <p:cNvPr id="6" name="Text 3"/>
          <p:cNvSpPr/>
          <p:nvPr/>
        </p:nvSpPr>
        <p:spPr>
          <a:xfrm>
            <a:off x="457200" y="1471488"/>
            <a:ext cx="8229600" cy="310896"/>
          </a:xfrm>
          <a:prstGeom prst="rect">
            <a:avLst/>
          </a:prstGeom>
          <a:noFill/>
          <a:ln/>
        </p:spPr>
        <p:txBody>
          <a:bodyPr wrap="square" lIns="0" tIns="0" rIns="0" bIns="0" rtlCol="0" anchor="ctr"/>
          <a:lstStyle/>
          <a:p>
            <a:pPr marL="0" indent="0">
              <a:buNone/>
            </a:pPr>
            <a:r>
              <a:rPr lang="en-US" sz="1350" b="1" dirty="0">
                <a:solidFill>
                  <a:srgbClr val="0E5E5C"/>
                </a:solidFill>
                <a:latin typeface="Calibri" pitchFamily="34" charset="0"/>
                <a:ea typeface="Calibri" pitchFamily="34" charset="-122"/>
                <a:cs typeface="Calibri" pitchFamily="34" charset="-120"/>
              </a:rPr>
              <a:t>Q:  </a:t>
            </a:r>
            <a:r>
              <a:rPr lang="en-US" sz="1350" b="1" i="1" dirty="0">
                <a:solidFill>
                  <a:srgbClr val="0A2E36"/>
                </a:solidFill>
                <a:latin typeface="Calibri" pitchFamily="34" charset="0"/>
                <a:ea typeface="Calibri" pitchFamily="34" charset="-122"/>
                <a:cs typeface="Calibri" pitchFamily="34" charset="-120"/>
              </a:rPr>
              <a:t>“What is the sample size of the training data?”</a:t>
            </a:r>
            <a:endParaRPr lang="en-US" sz="1350" dirty="0"/>
          </a:p>
        </p:txBody>
      </p:sp>
      <p:grpSp>
        <p:nvGrpSpPr>
          <p:cNvPr id="17" name="Group 16">
            <a:extLst>
              <a:ext uri="{FF2B5EF4-FFF2-40B4-BE49-F238E27FC236}">
                <a16:creationId xmlns:a16="http://schemas.microsoft.com/office/drawing/2014/main" id="{9A3C6FD8-0F6F-3B13-7739-F1E87D16C3A4}"/>
              </a:ext>
            </a:extLst>
          </p:cNvPr>
          <p:cNvGrpSpPr/>
          <p:nvPr/>
        </p:nvGrpSpPr>
        <p:grpSpPr>
          <a:xfrm>
            <a:off x="457200" y="1897529"/>
            <a:ext cx="4432851" cy="1640798"/>
            <a:chOff x="457200" y="1783080"/>
            <a:chExt cx="6788426" cy="1337807"/>
          </a:xfrm>
        </p:grpSpPr>
        <p:sp>
          <p:nvSpPr>
            <p:cNvPr id="7" name="Shape 4"/>
            <p:cNvSpPr/>
            <p:nvPr/>
          </p:nvSpPr>
          <p:spPr>
            <a:xfrm>
              <a:off x="457200" y="1783080"/>
              <a:ext cx="6788426" cy="1337807"/>
            </a:xfrm>
            <a:prstGeom prst="roundRect">
              <a:avLst>
                <a:gd name="adj" fmla="val 3200"/>
              </a:avLst>
            </a:prstGeom>
            <a:solidFill>
              <a:srgbClr val="F1F7F7"/>
            </a:solidFill>
            <a:ln/>
            <a:effectLst>
              <a:outerShdw blurRad="88900" dist="25400" dir="5400000" algn="bl" rotWithShape="0">
                <a:srgbClr val="0A2E36">
                  <a:alpha val="10000"/>
                </a:srgbClr>
              </a:outerShdw>
            </a:effectLst>
          </p:spPr>
          <p:txBody>
            <a:bodyPr/>
            <a:lstStyle/>
            <a:p>
              <a:endParaRPr lang="en-DE"/>
            </a:p>
          </p:txBody>
        </p:sp>
        <p:sp>
          <p:nvSpPr>
            <p:cNvPr id="8" name="Text 5"/>
            <p:cNvSpPr/>
            <p:nvPr/>
          </p:nvSpPr>
          <p:spPr>
            <a:xfrm>
              <a:off x="557784" y="1901952"/>
              <a:ext cx="3657600" cy="274320"/>
            </a:xfrm>
            <a:prstGeom prst="rect">
              <a:avLst/>
            </a:prstGeom>
            <a:noFill/>
            <a:ln/>
          </p:spPr>
          <p:txBody>
            <a:bodyPr wrap="square" lIns="0" tIns="0" rIns="0" bIns="0" rtlCol="0" anchor="ctr"/>
            <a:lstStyle/>
            <a:p>
              <a:pPr marL="0" indent="0">
                <a:buNone/>
              </a:pPr>
              <a:r>
                <a:rPr lang="en-US" sz="1250" b="1" dirty="0">
                  <a:solidFill>
                    <a:srgbClr val="0E5E5C"/>
                  </a:solidFill>
                  <a:latin typeface="Calibri" pitchFamily="34" charset="0"/>
                  <a:ea typeface="Calibri" pitchFamily="34" charset="-122"/>
                  <a:cs typeface="Calibri" pitchFamily="34" charset="-120"/>
                </a:rPr>
                <a:t>Human Answer</a:t>
              </a:r>
              <a:endParaRPr lang="en-US" sz="1250" dirty="0"/>
            </a:p>
          </p:txBody>
        </p:sp>
        <p:sp>
          <p:nvSpPr>
            <p:cNvPr id="9" name="Text 6"/>
            <p:cNvSpPr/>
            <p:nvPr/>
          </p:nvSpPr>
          <p:spPr>
            <a:xfrm>
              <a:off x="557784" y="2188597"/>
              <a:ext cx="6687842" cy="683812"/>
            </a:xfrm>
            <a:prstGeom prst="rect">
              <a:avLst/>
            </a:prstGeom>
            <a:noFill/>
            <a:ln/>
          </p:spPr>
          <p:txBody>
            <a:bodyPr wrap="square" lIns="0" tIns="0" rIns="0" bIns="0" rtlCol="0" anchor="ctr"/>
            <a:lstStyle/>
            <a:p>
              <a:r>
                <a:rPr lang="en-DE" sz="1250" dirty="0"/>
                <a:t>There are a total of 26,707 observations with 37 features. This was split into training and testing data using an 80:20 split. Training data is 21,365 rows, testing data is 5,342 rows.</a:t>
              </a:r>
            </a:p>
          </p:txBody>
        </p:sp>
      </p:grpSp>
      <p:grpSp>
        <p:nvGrpSpPr>
          <p:cNvPr id="16" name="Group 15">
            <a:extLst>
              <a:ext uri="{FF2B5EF4-FFF2-40B4-BE49-F238E27FC236}">
                <a16:creationId xmlns:a16="http://schemas.microsoft.com/office/drawing/2014/main" id="{E9A75A28-585B-5AE9-9888-3A348D401AF4}"/>
              </a:ext>
            </a:extLst>
          </p:cNvPr>
          <p:cNvGrpSpPr/>
          <p:nvPr/>
        </p:nvGrpSpPr>
        <p:grpSpPr>
          <a:xfrm>
            <a:off x="5953539" y="2517681"/>
            <a:ext cx="2504661" cy="566928"/>
            <a:chOff x="457200" y="4187952"/>
            <a:chExt cx="2504661" cy="566928"/>
          </a:xfrm>
        </p:grpSpPr>
        <p:sp>
          <p:nvSpPr>
            <p:cNvPr id="13" name="Shape 10"/>
            <p:cNvSpPr/>
            <p:nvPr/>
          </p:nvSpPr>
          <p:spPr>
            <a:xfrm>
              <a:off x="457200" y="4187952"/>
              <a:ext cx="2504661" cy="566928"/>
            </a:xfrm>
            <a:prstGeom prst="roundRect">
              <a:avLst>
                <a:gd name="adj" fmla="val 12903"/>
              </a:avLst>
            </a:prstGeom>
            <a:solidFill>
              <a:srgbClr val="0A2D36"/>
            </a:solidFill>
            <a:ln/>
            <a:effectLst>
              <a:outerShdw blurRad="88900" dist="25400" dir="5400000" algn="bl" rotWithShape="0">
                <a:srgbClr val="0A2E36">
                  <a:alpha val="10000"/>
                </a:srgbClr>
              </a:outerShdw>
            </a:effectLst>
          </p:spPr>
          <p:txBody>
            <a:bodyPr/>
            <a:lstStyle/>
            <a:p>
              <a:endParaRPr lang="en-DE" dirty="0"/>
            </a:p>
          </p:txBody>
        </p:sp>
        <p:sp>
          <p:nvSpPr>
            <p:cNvPr id="14" name="Text 11"/>
            <p:cNvSpPr/>
            <p:nvPr/>
          </p:nvSpPr>
          <p:spPr>
            <a:xfrm>
              <a:off x="604601" y="4187952"/>
              <a:ext cx="2357260" cy="566928"/>
            </a:xfrm>
            <a:prstGeom prst="rect">
              <a:avLst/>
            </a:prstGeom>
            <a:noFill/>
            <a:ln/>
          </p:spPr>
          <p:txBody>
            <a:bodyPr wrap="square" lIns="0" tIns="0" rIns="0" bIns="0" rtlCol="0" anchor="ctr"/>
            <a:lstStyle/>
            <a:p>
              <a:pPr marL="0" indent="0">
                <a:buNone/>
              </a:pPr>
              <a:r>
                <a:rPr lang="en-US" sz="1150" b="1" dirty="0">
                  <a:solidFill>
                    <a:schemeClr val="bg1"/>
                  </a:solidFill>
                  <a:latin typeface="Calibri" pitchFamily="34" charset="0"/>
                  <a:ea typeface="Calibri" pitchFamily="34" charset="-122"/>
                  <a:cs typeface="Calibri" pitchFamily="34" charset="-120"/>
                </a:rPr>
                <a:t>Information units:  </a:t>
              </a:r>
              <a:r>
                <a:rPr lang="en-US" sz="1150" dirty="0">
                  <a:solidFill>
                    <a:schemeClr val="bg1"/>
                  </a:solidFill>
                  <a:latin typeface="Calibri" pitchFamily="34" charset="0"/>
                  <a:ea typeface="Calibri" pitchFamily="34" charset="-122"/>
                  <a:cs typeface="Calibri" pitchFamily="34" charset="-120"/>
                </a:rPr>
                <a:t>[“21,365”, “37”]</a:t>
              </a:r>
              <a:endParaRPr lang="en-US" sz="1150" dirty="0">
                <a:solidFill>
                  <a:schemeClr val="bg1"/>
                </a:solidFill>
              </a:endParaRPr>
            </a:p>
          </p:txBody>
        </p:sp>
      </p:grpSp>
      <p:sp>
        <p:nvSpPr>
          <p:cNvPr id="15" name="Text 12"/>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dirty="0">
                <a:solidFill>
                  <a:srgbClr val="8AA0A3"/>
                </a:solidFill>
                <a:latin typeface="Calibri" pitchFamily="34" charset="0"/>
                <a:ea typeface="Calibri" pitchFamily="34" charset="-122"/>
                <a:cs typeface="Calibri" pitchFamily="34" charset="-120"/>
              </a:rPr>
              <a:t>26</a:t>
            </a:r>
            <a:endParaRPr lang="en-US" sz="900" dirty="0"/>
          </a:p>
        </p:txBody>
      </p:sp>
      <p:cxnSp>
        <p:nvCxnSpPr>
          <p:cNvPr id="19" name="Straight Arrow Connector 18">
            <a:extLst>
              <a:ext uri="{FF2B5EF4-FFF2-40B4-BE49-F238E27FC236}">
                <a16:creationId xmlns:a16="http://schemas.microsoft.com/office/drawing/2014/main" id="{26B5EDCD-EA7E-85F1-E777-A514180C829F}"/>
              </a:ext>
            </a:extLst>
          </p:cNvPr>
          <p:cNvCxnSpPr>
            <a:cxnSpLocks/>
          </p:cNvCxnSpPr>
          <p:nvPr/>
        </p:nvCxnSpPr>
        <p:spPr>
          <a:xfrm>
            <a:off x="5054644" y="2801145"/>
            <a:ext cx="745435" cy="0"/>
          </a:xfrm>
          <a:prstGeom prst="straightConnector1">
            <a:avLst/>
          </a:prstGeom>
          <a:ln w="63500">
            <a:solidFill>
              <a:srgbClr val="0A2D36"/>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9023003-8D2F-80EF-41BB-3BEA9C96662A}"/>
              </a:ext>
            </a:extLst>
          </p:cNvPr>
          <p:cNvSpPr txBox="1"/>
          <p:nvPr/>
        </p:nvSpPr>
        <p:spPr>
          <a:xfrm>
            <a:off x="522881" y="4053666"/>
            <a:ext cx="8163919" cy="584775"/>
          </a:xfrm>
          <a:prstGeom prst="rect">
            <a:avLst/>
          </a:prstGeom>
          <a:noFill/>
        </p:spPr>
        <p:txBody>
          <a:bodyPr wrap="square" rtlCol="0">
            <a:spAutoFit/>
          </a:bodyPr>
          <a:lstStyle/>
          <a:p>
            <a:r>
              <a:rPr lang="en-DE" sz="1600" dirty="0"/>
              <a:t>As validation, information units need to have a ROUGE-L ≥ 0.8 when measuring against its reference human answer.</a:t>
            </a:r>
          </a:p>
        </p:txBody>
      </p:sp>
      <p:sp>
        <p:nvSpPr>
          <p:cNvPr id="23" name="Shape 0">
            <a:extLst>
              <a:ext uri="{FF2B5EF4-FFF2-40B4-BE49-F238E27FC236}">
                <a16:creationId xmlns:a16="http://schemas.microsoft.com/office/drawing/2014/main" id="{0E010ABE-A4EA-B734-E5FA-5A8F3D901795}"/>
              </a:ext>
            </a:extLst>
          </p:cNvPr>
          <p:cNvSpPr/>
          <p:nvPr/>
        </p:nvSpPr>
        <p:spPr>
          <a:xfrm>
            <a:off x="457200" y="310896"/>
            <a:ext cx="566928" cy="566928"/>
          </a:xfrm>
          <a:prstGeom prst="ellipse">
            <a:avLst/>
          </a:prstGeom>
          <a:solidFill>
            <a:srgbClr val="127475"/>
          </a:solidFill>
          <a:ln/>
        </p:spPr>
        <p:txBody>
          <a:bodyPr/>
          <a:lstStyle/>
          <a:p>
            <a:endParaRPr lang="en-DE"/>
          </a:p>
        </p:txBody>
      </p:sp>
      <p:pic>
        <p:nvPicPr>
          <p:cNvPr id="24" name="Graphic 23" descr="Information with solid fill">
            <a:extLst>
              <a:ext uri="{FF2B5EF4-FFF2-40B4-BE49-F238E27FC236}">
                <a16:creationId xmlns:a16="http://schemas.microsoft.com/office/drawing/2014/main" id="{615A1E8A-998B-47F3-F6EB-DB79F3EFD3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2064" y="365760"/>
            <a:ext cx="457200" cy="457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15" name="Text 12"/>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26</a:t>
            </a:r>
            <a:endParaRPr lang="en-US" sz="900"/>
          </a:p>
        </p:txBody>
      </p:sp>
      <p:pic>
        <p:nvPicPr>
          <p:cNvPr id="17" name="Picture 16">
            <a:extLst>
              <a:ext uri="{FF2B5EF4-FFF2-40B4-BE49-F238E27FC236}">
                <a16:creationId xmlns:a16="http://schemas.microsoft.com/office/drawing/2014/main" id="{80B95309-CD59-3FA5-5FC9-52DF3758FD41}"/>
              </a:ext>
            </a:extLst>
          </p:cNvPr>
          <p:cNvPicPr>
            <a:picLocks noChangeAspect="1"/>
          </p:cNvPicPr>
          <p:nvPr/>
        </p:nvPicPr>
        <p:blipFill>
          <a:blip r:embed="rId3"/>
          <a:stretch>
            <a:fillRect/>
          </a:stretch>
        </p:blipFill>
        <p:spPr>
          <a:xfrm>
            <a:off x="1580618" y="-1980"/>
            <a:ext cx="7106182" cy="5127007"/>
          </a:xfrm>
          <a:prstGeom prst="rect">
            <a:avLst/>
          </a:prstGeom>
        </p:spPr>
      </p:pic>
      <p:sp>
        <p:nvSpPr>
          <p:cNvPr id="18" name="Shape 0">
            <a:extLst>
              <a:ext uri="{FF2B5EF4-FFF2-40B4-BE49-F238E27FC236}">
                <a16:creationId xmlns:a16="http://schemas.microsoft.com/office/drawing/2014/main" id="{23EEE3F7-2BF7-6B80-DE3E-38D16B78A87F}"/>
              </a:ext>
            </a:extLst>
          </p:cNvPr>
          <p:cNvSpPr/>
          <p:nvPr/>
        </p:nvSpPr>
        <p:spPr>
          <a:xfrm>
            <a:off x="457200" y="310896"/>
            <a:ext cx="566928" cy="566928"/>
          </a:xfrm>
          <a:prstGeom prst="ellipse">
            <a:avLst/>
          </a:prstGeom>
          <a:solidFill>
            <a:srgbClr val="127475"/>
          </a:solidFill>
          <a:ln/>
        </p:spPr>
        <p:txBody>
          <a:bodyPr/>
          <a:lstStyle/>
          <a:p>
            <a:endParaRPr lang="en-DE"/>
          </a:p>
        </p:txBody>
      </p:sp>
      <p:sp>
        <p:nvSpPr>
          <p:cNvPr id="20" name="Text 1">
            <a:extLst>
              <a:ext uri="{FF2B5EF4-FFF2-40B4-BE49-F238E27FC236}">
                <a16:creationId xmlns:a16="http://schemas.microsoft.com/office/drawing/2014/main" id="{21D1A074-4027-6DEA-53B9-AC6DE199CADD}"/>
              </a:ext>
            </a:extLst>
          </p:cNvPr>
          <p:cNvSpPr/>
          <p:nvPr/>
        </p:nvSpPr>
        <p:spPr>
          <a:xfrm rot="16200000">
            <a:off x="-3054097" y="410382"/>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Highest ACF</a:t>
            </a:r>
            <a:endParaRPr lang="en-US" sz="2700" dirty="0"/>
          </a:p>
        </p:txBody>
      </p:sp>
      <p:pic>
        <p:nvPicPr>
          <p:cNvPr id="22" name="Graphic 21" descr="Thumbs up sign with solid fill">
            <a:extLst>
              <a:ext uri="{FF2B5EF4-FFF2-40B4-BE49-F238E27FC236}">
                <a16:creationId xmlns:a16="http://schemas.microsoft.com/office/drawing/2014/main" id="{27D2AEB8-F80C-DC9B-55D7-9875BB3D89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382" y="350011"/>
            <a:ext cx="432309" cy="43230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CEE94-5F2F-84EB-7765-A70E706D4DE9}"/>
            </a:ext>
          </a:extLst>
        </p:cNvPr>
        <p:cNvGrpSpPr/>
        <p:nvPr/>
      </p:nvGrpSpPr>
      <p:grpSpPr>
        <a:xfrm>
          <a:off x="0" y="0"/>
          <a:ext cx="0" cy="0"/>
          <a:chOff x="0" y="0"/>
          <a:chExt cx="0" cy="0"/>
        </a:xfrm>
      </p:grpSpPr>
      <p:sp>
        <p:nvSpPr>
          <p:cNvPr id="15" name="Text 12">
            <a:extLst>
              <a:ext uri="{FF2B5EF4-FFF2-40B4-BE49-F238E27FC236}">
                <a16:creationId xmlns:a16="http://schemas.microsoft.com/office/drawing/2014/main" id="{F065E30E-2906-A115-E64B-39187718ACEF}"/>
              </a:ext>
            </a:extLst>
          </p:cNvPr>
          <p:cNvSpPr/>
          <p:nvPr/>
        </p:nvSpPr>
        <p:spPr>
          <a:xfrm>
            <a:off x="8458200" y="4828032"/>
            <a:ext cx="502920" cy="228600"/>
          </a:xfrm>
          <a:prstGeom prst="rect">
            <a:avLst/>
          </a:prstGeom>
          <a:noFill/>
          <a:ln/>
        </p:spPr>
        <p:txBody>
          <a:bodyPr wrap="square" lIns="0" tIns="0" rIns="0" bIns="0" rtlCol="0" anchor="ctr"/>
          <a:lstStyle/>
          <a:p>
            <a:pPr marL="0" indent="0" algn="r">
              <a:buNone/>
            </a:pPr>
            <a:r>
              <a:rPr lang="en-US" sz="900">
                <a:solidFill>
                  <a:srgbClr val="8AA0A3"/>
                </a:solidFill>
                <a:latin typeface="Calibri" pitchFamily="34" charset="0"/>
                <a:ea typeface="Calibri" pitchFamily="34" charset="-122"/>
                <a:cs typeface="Calibri" pitchFamily="34" charset="-120"/>
              </a:rPr>
              <a:t>26</a:t>
            </a:r>
            <a:endParaRPr lang="en-US" sz="900"/>
          </a:p>
        </p:txBody>
      </p:sp>
      <p:sp>
        <p:nvSpPr>
          <p:cNvPr id="18" name="Shape 0">
            <a:extLst>
              <a:ext uri="{FF2B5EF4-FFF2-40B4-BE49-F238E27FC236}">
                <a16:creationId xmlns:a16="http://schemas.microsoft.com/office/drawing/2014/main" id="{C2F659F2-A317-3441-BB92-682BDE0B1AAD}"/>
              </a:ext>
            </a:extLst>
          </p:cNvPr>
          <p:cNvSpPr/>
          <p:nvPr/>
        </p:nvSpPr>
        <p:spPr>
          <a:xfrm>
            <a:off x="457200" y="310896"/>
            <a:ext cx="566928" cy="566928"/>
          </a:xfrm>
          <a:prstGeom prst="ellipse">
            <a:avLst/>
          </a:prstGeom>
          <a:solidFill>
            <a:srgbClr val="127475"/>
          </a:solidFill>
          <a:ln/>
        </p:spPr>
        <p:txBody>
          <a:bodyPr/>
          <a:lstStyle/>
          <a:p>
            <a:endParaRPr lang="en-DE"/>
          </a:p>
        </p:txBody>
      </p:sp>
      <p:sp>
        <p:nvSpPr>
          <p:cNvPr id="20" name="Text 1">
            <a:extLst>
              <a:ext uri="{FF2B5EF4-FFF2-40B4-BE49-F238E27FC236}">
                <a16:creationId xmlns:a16="http://schemas.microsoft.com/office/drawing/2014/main" id="{3B4E6854-23E2-503B-31C1-9BDBBE5CF5F7}"/>
              </a:ext>
            </a:extLst>
          </p:cNvPr>
          <p:cNvSpPr/>
          <p:nvPr/>
        </p:nvSpPr>
        <p:spPr>
          <a:xfrm rot="16200000">
            <a:off x="-3054097" y="410382"/>
            <a:ext cx="7589520" cy="640080"/>
          </a:xfrm>
          <a:prstGeom prst="rect">
            <a:avLst/>
          </a:prstGeom>
          <a:noFill/>
          <a:ln/>
        </p:spPr>
        <p:txBody>
          <a:bodyPr wrap="square" lIns="0" tIns="0" rIns="0" bIns="0" rtlCol="0" anchor="ctr"/>
          <a:lstStyle/>
          <a:p>
            <a:pPr marL="0" indent="0">
              <a:buNone/>
            </a:pPr>
            <a:r>
              <a:rPr lang="en-US" sz="2700" b="1" dirty="0">
                <a:solidFill>
                  <a:srgbClr val="0A2E36"/>
                </a:solidFill>
                <a:latin typeface="Cambria" pitchFamily="34" charset="0"/>
                <a:ea typeface="Cambria" pitchFamily="34" charset="-122"/>
                <a:cs typeface="Cambria" pitchFamily="34" charset="-120"/>
              </a:rPr>
              <a:t>Backup – Lowest ACF</a:t>
            </a:r>
            <a:endParaRPr lang="en-US" sz="2700" dirty="0"/>
          </a:p>
        </p:txBody>
      </p:sp>
      <p:pic>
        <p:nvPicPr>
          <p:cNvPr id="3" name="Graphic 2" descr="Thumbs Down with solid fill">
            <a:extLst>
              <a:ext uri="{FF2B5EF4-FFF2-40B4-BE49-F238E27FC236}">
                <a16:creationId xmlns:a16="http://schemas.microsoft.com/office/drawing/2014/main" id="{FCCD8CF2-EEA7-78AA-A952-8A1ACC54BE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024" y="386079"/>
            <a:ext cx="441239" cy="441239"/>
          </a:xfrm>
          <a:prstGeom prst="rect">
            <a:avLst/>
          </a:prstGeom>
        </p:spPr>
      </p:pic>
      <p:pic>
        <p:nvPicPr>
          <p:cNvPr id="5" name="Picture 4">
            <a:extLst>
              <a:ext uri="{FF2B5EF4-FFF2-40B4-BE49-F238E27FC236}">
                <a16:creationId xmlns:a16="http://schemas.microsoft.com/office/drawing/2014/main" id="{A1332898-E1DD-C84A-00B4-84955AD53BFD}"/>
              </a:ext>
            </a:extLst>
          </p:cNvPr>
          <p:cNvPicPr>
            <a:picLocks noChangeAspect="1"/>
          </p:cNvPicPr>
          <p:nvPr/>
        </p:nvPicPr>
        <p:blipFill>
          <a:blip r:embed="rId4"/>
          <a:stretch>
            <a:fillRect/>
          </a:stretch>
        </p:blipFill>
        <p:spPr>
          <a:xfrm>
            <a:off x="1807745" y="0"/>
            <a:ext cx="6650455" cy="5143500"/>
          </a:xfrm>
          <a:prstGeom prst="rect">
            <a:avLst/>
          </a:prstGeom>
        </p:spPr>
      </p:pic>
    </p:spTree>
    <p:extLst>
      <p:ext uri="{BB962C8B-B14F-4D97-AF65-F5344CB8AC3E}">
        <p14:creationId xmlns:p14="http://schemas.microsoft.com/office/powerpoint/2010/main" val="675281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1142</TotalTime>
  <Words>3347</Words>
  <Application>Microsoft Macintosh PowerPoint</Application>
  <PresentationFormat>On-screen Show (16:9)</PresentationFormat>
  <Paragraphs>503</Paragraphs>
  <Slides>34</Slides>
  <Notes>34</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Conversational Explanations using LLMs on top of the XAI Question Bank</dc:title>
  <dc:subject>PptxGenJS Presentation</dc:subject>
  <dc:creator>Henry Khalil El-Jawhari</dc:creator>
  <cp:lastModifiedBy>Henry El-Jawhari</cp:lastModifiedBy>
  <cp:revision>57</cp:revision>
  <dcterms:created xsi:type="dcterms:W3CDTF">2026-06-08T21:50:30Z</dcterms:created>
  <dcterms:modified xsi:type="dcterms:W3CDTF">2026-06-11T09:13:06Z</dcterms:modified>
</cp:coreProperties>
</file>